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ontserrat Bold" charset="1" panose="00000800000000000000"/>
      <p:regular r:id="rId26"/>
    </p:embeddedFont>
    <p:embeddedFont>
      <p:font typeface="Calibri (MS) Light" charset="1" panose="020F0302020204030204"/>
      <p:regular r:id="rId27"/>
    </p:embeddedFont>
    <p:embeddedFont>
      <p:font typeface="Calibri (MS)" charset="1" panose="020F0502020204030204"/>
      <p:regular r:id="rId28"/>
    </p:embeddedFont>
    <p:embeddedFont>
      <p:font typeface="Montserrat" charset="1" panose="00000500000000000000"/>
      <p:regular r:id="rId36"/>
    </p:embeddedFont>
    <p:embeddedFont>
      <p:font typeface="Calibri (MS) Bold" charset="1" panose="020F070203040403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fonts/font36.fntdata" Type="http://schemas.openxmlformats.org/officeDocument/2006/relationships/font"/><Relationship Id="rId37" Target="notesSlides/notesSlide9.xml" Type="http://schemas.openxmlformats.org/officeDocument/2006/relationships/notesSlide"/><Relationship Id="rId38" Target="fonts/font38.fntdata" Type="http://schemas.openxmlformats.org/officeDocument/2006/relationships/font"/><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notesSlides/notesSlide13.xml" Type="http://schemas.openxmlformats.org/officeDocument/2006/relationships/notesSlide"/><Relationship Id="rId43" Target="notesSlides/notesSlide14.xml" Type="http://schemas.openxmlformats.org/officeDocument/2006/relationships/notesSlide"/><Relationship Id="rId44" Target="notesSlides/notesSlide15.xml" Type="http://schemas.openxmlformats.org/officeDocument/2006/relationships/notesSlide"/><Relationship Id="rId45" Target="notesSlides/notesSlide16.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Kính thưa thầy cô, đề tài của em là Machine Learning-based Visual Tool for News Reliability Assessment. Mục tiêu là xây dựng công cụ web hỗ trợ đánh giá nhanh độ tin cậy tin tức tiếng Việt bằng NLP và Machine Learning. Hệ thống là công cụ hỗ trợ sàng lọc ban đầu, không thay thế fact-checking chuyên nghiệp.</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này dùng để định hình câu chuyện bảo vệ. Em trình bày theo thứ tự: bài toán, dataset, preprocessing, training, metrics, kiến trúc, demo app, hạn chế và hướng phát triển. Điều quan trọng là làm rõ đây là hệ thống ML/NLP hoàn chỉnh, không phải một ô nhập text rồi trả điểm.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Bài toán xuất phát từ tin giả, clickbait và nội dung thiếu nguồn rõ ràng. Em nhấn mạnh hệ thống không xác minh sự thật tuyệt đối mà hỗ trợ sàng lọc ban đầu. Đây là cách nói chuyên nghiệp, tránh bị hỏi xoáy rằng model có chắc đúng 100% không.</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Đồ án có 4 mục tiêu: web app, mô hình ML, trực quan hóa kết quả và feedback loop. Đóng góp chính không chỉ là model mà là workflow hoàn chỉnh từ dữ liệu đến giao diện, lưu trữ và phản hồi người dùng.</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Nguồn dữ liệu chính là VFND. Em chuẩn hóa nhãn thành 0 là reliable/real và 1 là unreliable/fake/clickbait. Sau xử lý, dữ liệu chia train 350, validation 75, test 75, phân bố nhãn khá cân bằng 251 và 249. Nếu thầy hỏi dataset nhỏ, em nói đây là hạn chế và hệ thống là công cụ hỗ trợ sàng lọc ban đầu.</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Ở bước chuẩn bị dữ liệu, em loại bỏ missing labels, văn bản quá ngắn và duplicate. Duplicate ratio bị loại bỏ khoảng 31.32%. Việc chia train, validation, test rõ ràng giúp tránh leakage và làm cho metrics có ý nghĩa.</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Pipeline bắt đầu từ dataset, sau đó làm sạch, chuẩn hóa nhãn, tách train/validation/test, trích xuất TF-IDF, train các mô hình, đánh giá bằng metrics và export best model để tích hợp vào Streamlit.</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 dùng TF-IDF vì phù hợp với baseline text classification, nhanh, dễ tái lập và giải thích được token contribution. Em train 4 baseline: Logistic Regression, Linear SVM, Random Forest và Naive Bayes để có cơ sở so sánh.</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Best model được chọn bằng validation F1 macro. Linear SVM có validation F1 macro cao nhất là 0.9466. Sau khi refit, best model đạt accuracy khoảng 0.92, F1 macro khoảng 0.9199 và ROC-AUC khoảng 0.9915 trên test set.</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Đây là confusion matrix của Linear SVM. Em dùng nó để nhìn rõ model đúng/sai trên từng lớp, thay vì chỉ báo accuracy. Nếu thầy hỏi vì sao chọn SVM, em trả lời TF-IDF tạo vector thưa nhiều chiều và SVM thường mạnh trong không gian này.</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Hệ thống được thiết kế theo layered architecture: Streamlit UI, core engine xử lý NLP/ML, data layer Supabase/PostgreSQL, model artifacts. Cách tách lớp giúp dễ bảo trì và có thể thay model sau này mà không viết lại toàn bộ UI.</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Workflow bắt đầu khi người dùng nhập văn bản hoặc URL. Hệ thống validate, preprocess, chạy model, tạo explanation, lưu prediction và cho phép feedback. Đây là điểm giúp em trả lời câu hỏi: khác gì một ô nhập text rồi trả điểm.</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Ở trang kết quả, người dùng thấy Assessment Summary, risk score, ML risk, lexical risk, highlighted input và token-level explanation. Điểm quan trọng là hệ thống giải thích vì sao cảnh báo, không chỉ trả nhãn.</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Supabase/PostgreSQL lưu prediction history và feedback. Prediction lưu input, output, risk score và explanation. Feedback lưu đánh giá đúng, sai hoặc không chắc của người dùng. Đây là nền tảng cho reviewer workflow và retraining sau này.</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Hạn chế hiện tại là dataset còn nhỏ, chưa có evidence retrieval và source credibility đầy đủ. Hướng phát triển là mở rộng dataset, fine-tune PhoBERT, thêm source credibility và dùng feedback cho retraining.</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Tóm lại, đồ án đã xây dựng pipeline hoàn chỉnh từ dataset, preprocessing, training, evaluation, inference, visualization, database storage đến feedback loop. Hệ thống phù hợp vai trò decision-support tool cho đánh giá độ tin cậy tin tức tiếng Việt.</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0" y="-27108"/>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sp>
        <p:nvSpPr>
          <p:cNvPr name="TextBox 4" id="4"/>
          <p:cNvSpPr txBox="true"/>
          <p:nvPr/>
        </p:nvSpPr>
        <p:spPr>
          <a:xfrm rot="0">
            <a:off x="1029500" y="892235"/>
            <a:ext cx="5490686" cy="220989"/>
          </a:xfrm>
          <a:prstGeom prst="rect">
            <a:avLst/>
          </a:prstGeom>
        </p:spPr>
        <p:txBody>
          <a:bodyPr anchor="t" rtlCol="false" tIns="0" lIns="0" bIns="0" rIns="0">
            <a:spAutoFit/>
          </a:bodyPr>
          <a:lstStyle/>
          <a:p>
            <a:pPr algn="l">
              <a:lnSpc>
                <a:spcPts val="1711"/>
              </a:lnSpc>
            </a:pPr>
            <a:r>
              <a:rPr lang="en-US" b="true" sz="1501">
                <a:solidFill>
                  <a:srgbClr val="1E293B"/>
                </a:solidFill>
                <a:latin typeface="Montserrat Bold"/>
                <a:ea typeface="Montserrat Bold"/>
                <a:cs typeface="Montserrat Bold"/>
                <a:sym typeface="Montserrat Bold"/>
              </a:rPr>
              <a:t>Major Project 1</a:t>
            </a:r>
          </a:p>
        </p:txBody>
      </p:sp>
      <p:sp>
        <p:nvSpPr>
          <p:cNvPr name="TextBox 5" id="5"/>
          <p:cNvSpPr txBox="true"/>
          <p:nvPr/>
        </p:nvSpPr>
        <p:spPr>
          <a:xfrm rot="0">
            <a:off x="1029500" y="1801568"/>
            <a:ext cx="12079519" cy="2453716"/>
          </a:xfrm>
          <a:prstGeom prst="rect">
            <a:avLst/>
          </a:prstGeom>
        </p:spPr>
        <p:txBody>
          <a:bodyPr anchor="t" rtlCol="false" tIns="0" lIns="0" bIns="0" rIns="0">
            <a:spAutoFit/>
          </a:bodyPr>
          <a:lstStyle/>
          <a:p>
            <a:pPr algn="l">
              <a:lnSpc>
                <a:spcPts val="4539"/>
              </a:lnSpc>
            </a:pPr>
            <a:r>
              <a:rPr lang="en-US" sz="4503" b="true">
                <a:solidFill>
                  <a:srgbClr val="1E293B"/>
                </a:solidFill>
                <a:latin typeface="Montserrat Bold"/>
                <a:ea typeface="Montserrat Bold"/>
                <a:cs typeface="Montserrat Bold"/>
                <a:sym typeface="Montserrat Bold"/>
              </a:rPr>
              <a:t>Machine Learning-based</a:t>
            </a:r>
          </a:p>
          <a:p>
            <a:pPr algn="l">
              <a:lnSpc>
                <a:spcPts val="4539"/>
              </a:lnSpc>
            </a:pPr>
            <a:r>
              <a:rPr lang="en-US" sz="4503" b="true">
                <a:solidFill>
                  <a:srgbClr val="1E293B"/>
                </a:solidFill>
                <a:latin typeface="Montserrat Bold"/>
                <a:ea typeface="Montserrat Bold"/>
                <a:cs typeface="Montserrat Bold"/>
                <a:sym typeface="Montserrat Bold"/>
              </a:rPr>
              <a:t>Visual Tool for News Reliability Assessment</a:t>
            </a:r>
          </a:p>
        </p:txBody>
      </p:sp>
      <p:sp>
        <p:nvSpPr>
          <p:cNvPr name="TextBox 6" id="6"/>
          <p:cNvSpPr txBox="true"/>
          <p:nvPr/>
        </p:nvSpPr>
        <p:spPr>
          <a:xfrm rot="0">
            <a:off x="1070686" y="4317473"/>
            <a:ext cx="9196902" cy="638175"/>
          </a:xfrm>
          <a:prstGeom prst="rect">
            <a:avLst/>
          </a:prstGeom>
        </p:spPr>
        <p:txBody>
          <a:bodyPr anchor="t" rtlCol="false" tIns="0" lIns="0" bIns="0" rIns="0">
            <a:spAutoFit/>
          </a:bodyPr>
          <a:lstStyle/>
          <a:p>
            <a:pPr algn="l">
              <a:lnSpc>
                <a:spcPts val="2341"/>
              </a:lnSpc>
            </a:pPr>
            <a:r>
              <a:rPr lang="en-US" sz="1951">
                <a:solidFill>
                  <a:srgbClr val="64748B"/>
                </a:solidFill>
                <a:latin typeface="Calibri (MS) Light"/>
                <a:ea typeface="Calibri (MS) Light"/>
                <a:cs typeface="Calibri (MS) Light"/>
                <a:sym typeface="Calibri (MS) Light"/>
              </a:rPr>
              <a:t>A Vietnamese NLP/ML web application for reliability screening, visual explanation, history, and feedback collection.</a:t>
            </a:r>
          </a:p>
        </p:txBody>
      </p:sp>
      <p:grpSp>
        <p:nvGrpSpPr>
          <p:cNvPr name="Group 7" id="7"/>
          <p:cNvGrpSpPr/>
          <p:nvPr/>
        </p:nvGrpSpPr>
        <p:grpSpPr>
          <a:xfrm rot="0">
            <a:off x="1028700" y="5570972"/>
            <a:ext cx="4875057" cy="3609184"/>
            <a:chOff x="0" y="0"/>
            <a:chExt cx="6500076" cy="4812246"/>
          </a:xfrm>
        </p:grpSpPr>
        <p:sp>
          <p:nvSpPr>
            <p:cNvPr name="Freeform 8" id="8"/>
            <p:cNvSpPr/>
            <p:nvPr/>
          </p:nvSpPr>
          <p:spPr>
            <a:xfrm flipH="false" flipV="false" rot="0">
              <a:off x="0" y="0"/>
              <a:ext cx="6500076" cy="4812297"/>
            </a:xfrm>
            <a:custGeom>
              <a:avLst/>
              <a:gdLst/>
              <a:ahLst/>
              <a:cxnLst/>
              <a:rect r="r" b="b" t="t" l="l"/>
              <a:pathLst>
                <a:path h="4812297" w="6500076">
                  <a:moveTo>
                    <a:pt x="0" y="60825"/>
                  </a:moveTo>
                  <a:cubicBezTo>
                    <a:pt x="0" y="27220"/>
                    <a:pt x="44761" y="0"/>
                    <a:pt x="100021" y="0"/>
                  </a:cubicBezTo>
                  <a:lnTo>
                    <a:pt x="6400055" y="0"/>
                  </a:lnTo>
                  <a:cubicBezTo>
                    <a:pt x="6455315" y="0"/>
                    <a:pt x="6500076" y="27220"/>
                    <a:pt x="6500076" y="60825"/>
                  </a:cubicBezTo>
                  <a:lnTo>
                    <a:pt x="6500076" y="4751448"/>
                  </a:lnTo>
                  <a:cubicBezTo>
                    <a:pt x="6500076" y="4785053"/>
                    <a:pt x="6455315" y="4812297"/>
                    <a:pt x="6400055" y="4812297"/>
                  </a:cubicBezTo>
                  <a:lnTo>
                    <a:pt x="100021" y="4812297"/>
                  </a:lnTo>
                  <a:cubicBezTo>
                    <a:pt x="44761" y="4812297"/>
                    <a:pt x="0" y="4785053"/>
                    <a:pt x="0" y="4751448"/>
                  </a:cubicBezTo>
                  <a:close/>
                </a:path>
              </a:pathLst>
            </a:custGeom>
            <a:solidFill>
              <a:srgbClr val="FCFBF8"/>
            </a:solidFill>
            <a:ln w="13345" cap="sq">
              <a:solidFill>
                <a:srgbClr val="D6D0C8"/>
              </a:solidFill>
              <a:prstDash val="solid"/>
              <a:miter/>
            </a:ln>
          </p:spPr>
        </p:sp>
      </p:grpSp>
      <p:grpSp>
        <p:nvGrpSpPr>
          <p:cNvPr name="Group 9" id="9"/>
          <p:cNvGrpSpPr/>
          <p:nvPr/>
        </p:nvGrpSpPr>
        <p:grpSpPr>
          <a:xfrm rot="0">
            <a:off x="1439551" y="5555723"/>
            <a:ext cx="3996004" cy="15250"/>
            <a:chOff x="0" y="0"/>
            <a:chExt cx="5328006" cy="20333"/>
          </a:xfrm>
        </p:grpSpPr>
        <p:sp>
          <p:nvSpPr>
            <p:cNvPr name="Freeform 10" id="10"/>
            <p:cNvSpPr/>
            <p:nvPr/>
          </p:nvSpPr>
          <p:spPr>
            <a:xfrm flipH="false" flipV="false" rot="0">
              <a:off x="0" y="0"/>
              <a:ext cx="5328031" cy="20320"/>
            </a:xfrm>
            <a:custGeom>
              <a:avLst/>
              <a:gdLst/>
              <a:ahLst/>
              <a:cxnLst/>
              <a:rect r="r" b="b" t="t" l="l"/>
              <a:pathLst>
                <a:path h="20320" w="5328031">
                  <a:moveTo>
                    <a:pt x="0" y="0"/>
                  </a:moveTo>
                  <a:lnTo>
                    <a:pt x="5328031" y="20320"/>
                  </a:lnTo>
                </a:path>
              </a:pathLst>
            </a:custGeom>
            <a:blipFill>
              <a:blip r:embed="rId3">
                <a:alphaModFix amt="0"/>
              </a:blip>
              <a:stretch>
                <a:fillRect l="0" t="-5059043" r="0" b="-5059105"/>
              </a:stretch>
            </a:blipFill>
            <a:ln w="15252" cap="sq">
              <a:solidFill>
                <a:srgbClr val="D6D0C8"/>
              </a:solidFill>
              <a:prstDash val="solid"/>
              <a:miter/>
            </a:ln>
          </p:spPr>
        </p:sp>
      </p:grpSp>
      <p:sp>
        <p:nvSpPr>
          <p:cNvPr name="TextBox 11" id="11"/>
          <p:cNvSpPr txBox="true"/>
          <p:nvPr/>
        </p:nvSpPr>
        <p:spPr>
          <a:xfrm rot="0">
            <a:off x="1447171" y="5957221"/>
            <a:ext cx="1647206" cy="210102"/>
          </a:xfrm>
          <a:prstGeom prst="rect">
            <a:avLst/>
          </a:prstGeom>
        </p:spPr>
        <p:txBody>
          <a:bodyPr anchor="t" rtlCol="false" tIns="0" lIns="0" bIns="0" rIns="0">
            <a:spAutoFit/>
          </a:bodyPr>
          <a:lstStyle/>
          <a:p>
            <a:pPr algn="l">
              <a:lnSpc>
                <a:spcPts val="1197"/>
              </a:lnSpc>
            </a:pPr>
            <a:r>
              <a:rPr lang="en-US" sz="1050" b="true">
                <a:solidFill>
                  <a:srgbClr val="64748B"/>
                </a:solidFill>
                <a:latin typeface="Montserrat Bold"/>
                <a:ea typeface="Montserrat Bold"/>
                <a:cs typeface="Montserrat Bold"/>
                <a:sym typeface="Montserrat Bold"/>
              </a:rPr>
              <a:t>Student</a:t>
            </a:r>
          </a:p>
        </p:txBody>
      </p:sp>
      <p:sp>
        <p:nvSpPr>
          <p:cNvPr name="TextBox 12" id="12"/>
          <p:cNvSpPr txBox="true"/>
          <p:nvPr/>
        </p:nvSpPr>
        <p:spPr>
          <a:xfrm rot="0">
            <a:off x="1447171" y="6248562"/>
            <a:ext cx="3706216" cy="478736"/>
          </a:xfrm>
          <a:prstGeom prst="rect">
            <a:avLst/>
          </a:prstGeom>
        </p:spPr>
        <p:txBody>
          <a:bodyPr anchor="t" rtlCol="false" tIns="0" lIns="0" bIns="0" rIns="0">
            <a:spAutoFit/>
          </a:bodyPr>
          <a:lstStyle/>
          <a:p>
            <a:pPr algn="l">
              <a:lnSpc>
                <a:spcPts val="1796"/>
              </a:lnSpc>
            </a:pPr>
            <a:r>
              <a:rPr lang="en-US" sz="1576">
                <a:solidFill>
                  <a:srgbClr val="1E293B"/>
                </a:solidFill>
                <a:latin typeface="Calibri (MS)"/>
                <a:ea typeface="Calibri (MS)"/>
                <a:cs typeface="Calibri (MS)"/>
                <a:sym typeface="Calibri (MS)"/>
              </a:rPr>
              <a:t>Pham Ngoc Huy Hoan</a:t>
            </a:r>
          </a:p>
          <a:p>
            <a:pPr algn="l">
              <a:lnSpc>
                <a:spcPts val="1796"/>
              </a:lnSpc>
            </a:pPr>
            <a:r>
              <a:rPr lang="en-US" sz="1576">
                <a:solidFill>
                  <a:srgbClr val="1E293B"/>
                </a:solidFill>
                <a:latin typeface="Calibri (MS)"/>
                <a:ea typeface="Calibri (MS)"/>
                <a:cs typeface="Calibri (MS)"/>
                <a:sym typeface="Calibri (MS)"/>
              </a:rPr>
              <a:t>Trinh Xuan Hoa</a:t>
            </a:r>
          </a:p>
        </p:txBody>
      </p:sp>
      <p:sp>
        <p:nvSpPr>
          <p:cNvPr name="TextBox 13" id="13"/>
          <p:cNvSpPr txBox="true"/>
          <p:nvPr/>
        </p:nvSpPr>
        <p:spPr>
          <a:xfrm rot="0">
            <a:off x="1447171" y="7288711"/>
            <a:ext cx="1647206" cy="210102"/>
          </a:xfrm>
          <a:prstGeom prst="rect">
            <a:avLst/>
          </a:prstGeom>
        </p:spPr>
        <p:txBody>
          <a:bodyPr anchor="t" rtlCol="false" tIns="0" lIns="0" bIns="0" rIns="0">
            <a:spAutoFit/>
          </a:bodyPr>
          <a:lstStyle/>
          <a:p>
            <a:pPr algn="l">
              <a:lnSpc>
                <a:spcPts val="1197"/>
              </a:lnSpc>
            </a:pPr>
            <a:r>
              <a:rPr lang="en-US" sz="1050" b="true">
                <a:solidFill>
                  <a:srgbClr val="64748B"/>
                </a:solidFill>
                <a:latin typeface="Montserrat Bold"/>
                <a:ea typeface="Montserrat Bold"/>
                <a:cs typeface="Montserrat Bold"/>
                <a:sym typeface="Montserrat Bold"/>
              </a:rPr>
              <a:t>Supervisor</a:t>
            </a:r>
          </a:p>
        </p:txBody>
      </p:sp>
      <p:sp>
        <p:nvSpPr>
          <p:cNvPr name="TextBox 14" id="14"/>
          <p:cNvSpPr txBox="true"/>
          <p:nvPr/>
        </p:nvSpPr>
        <p:spPr>
          <a:xfrm rot="0">
            <a:off x="1447171" y="7566327"/>
            <a:ext cx="3980755" cy="259661"/>
          </a:xfrm>
          <a:prstGeom prst="rect">
            <a:avLst/>
          </a:prstGeom>
        </p:spPr>
        <p:txBody>
          <a:bodyPr anchor="t" rtlCol="false" tIns="0" lIns="0" bIns="0" rIns="0">
            <a:spAutoFit/>
          </a:bodyPr>
          <a:lstStyle/>
          <a:p>
            <a:pPr algn="l">
              <a:lnSpc>
                <a:spcPts val="1796"/>
              </a:lnSpc>
            </a:pPr>
            <a:r>
              <a:rPr lang="en-US" sz="1576">
                <a:solidFill>
                  <a:srgbClr val="1E293B"/>
                </a:solidFill>
                <a:latin typeface="Calibri (MS)"/>
                <a:ea typeface="Calibri (MS)"/>
                <a:cs typeface="Calibri (MS)"/>
                <a:sym typeface="Calibri (MS)"/>
              </a:rPr>
              <a:t>Nguyen Ngoc Huyen Tran, M.Sc.</a:t>
            </a:r>
          </a:p>
        </p:txBody>
      </p:sp>
      <p:sp>
        <p:nvSpPr>
          <p:cNvPr name="TextBox 15" id="15"/>
          <p:cNvSpPr txBox="true"/>
          <p:nvPr/>
        </p:nvSpPr>
        <p:spPr>
          <a:xfrm rot="0">
            <a:off x="1447171" y="8428034"/>
            <a:ext cx="3019882" cy="237554"/>
          </a:xfrm>
          <a:prstGeom prst="rect">
            <a:avLst/>
          </a:prstGeom>
        </p:spPr>
        <p:txBody>
          <a:bodyPr anchor="t" rtlCol="false" tIns="0" lIns="0" bIns="0" rIns="0">
            <a:spAutoFit/>
          </a:bodyPr>
          <a:lstStyle/>
          <a:p>
            <a:pPr algn="l">
              <a:lnSpc>
                <a:spcPts val="1369"/>
              </a:lnSpc>
            </a:pPr>
            <a:r>
              <a:rPr lang="en-US" sz="1200" b="true">
                <a:solidFill>
                  <a:srgbClr val="64748B"/>
                </a:solidFill>
                <a:latin typeface="Montserrat Bold"/>
                <a:ea typeface="Montserrat Bold"/>
                <a:cs typeface="Montserrat Bold"/>
                <a:sym typeface="Montserrat Bold"/>
              </a:rPr>
              <a:t>04 / 06 /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02</a:t>
            </a:r>
          </a:p>
        </p:txBody>
      </p:sp>
      <p:sp>
        <p:nvSpPr>
          <p:cNvPr name="TextBox 8" id="8"/>
          <p:cNvSpPr txBox="true"/>
          <p:nvPr/>
        </p:nvSpPr>
        <p:spPr>
          <a:xfrm rot="0">
            <a:off x="988324" y="1028671"/>
            <a:ext cx="10706843" cy="520761"/>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Table of contents</a:t>
            </a:r>
          </a:p>
        </p:txBody>
      </p:sp>
      <p:grpSp>
        <p:nvGrpSpPr>
          <p:cNvPr name="Group 9" id="9"/>
          <p:cNvGrpSpPr/>
          <p:nvPr/>
        </p:nvGrpSpPr>
        <p:grpSpPr>
          <a:xfrm rot="0">
            <a:off x="1173823" y="3068117"/>
            <a:ext cx="2978315" cy="3472482"/>
            <a:chOff x="0" y="0"/>
            <a:chExt cx="3971087" cy="4629976"/>
          </a:xfrm>
        </p:grpSpPr>
        <p:sp>
          <p:nvSpPr>
            <p:cNvPr name="Freeform 10" id="10"/>
            <p:cNvSpPr/>
            <p:nvPr/>
          </p:nvSpPr>
          <p:spPr>
            <a:xfrm flipH="false" flipV="false" rot="0">
              <a:off x="0" y="0"/>
              <a:ext cx="3971163" cy="4630039"/>
            </a:xfrm>
            <a:custGeom>
              <a:avLst/>
              <a:gdLst/>
              <a:ahLst/>
              <a:cxnLst/>
              <a:rect r="r" b="b" t="t" l="l"/>
              <a:pathLst>
                <a:path h="4630039" w="3971163">
                  <a:moveTo>
                    <a:pt x="0" y="110363"/>
                  </a:moveTo>
                  <a:cubicBezTo>
                    <a:pt x="0" y="49403"/>
                    <a:pt x="49403" y="0"/>
                    <a:pt x="110363" y="0"/>
                  </a:cubicBezTo>
                  <a:lnTo>
                    <a:pt x="3860800" y="0"/>
                  </a:lnTo>
                  <a:cubicBezTo>
                    <a:pt x="3921760" y="0"/>
                    <a:pt x="3971163" y="49403"/>
                    <a:pt x="3971163" y="110363"/>
                  </a:cubicBezTo>
                  <a:lnTo>
                    <a:pt x="3971163" y="4519676"/>
                  </a:lnTo>
                  <a:cubicBezTo>
                    <a:pt x="3971163" y="4580636"/>
                    <a:pt x="3921760" y="4630039"/>
                    <a:pt x="3860800" y="4630039"/>
                  </a:cubicBezTo>
                  <a:lnTo>
                    <a:pt x="110363" y="4630039"/>
                  </a:lnTo>
                  <a:cubicBezTo>
                    <a:pt x="49403" y="4630039"/>
                    <a:pt x="0" y="4580636"/>
                    <a:pt x="0" y="4519676"/>
                  </a:cubicBezTo>
                  <a:close/>
                </a:path>
              </a:pathLst>
            </a:custGeom>
            <a:solidFill>
              <a:srgbClr val="FFFFFF"/>
            </a:solidFill>
            <a:ln w="13345" cap="sq">
              <a:solidFill>
                <a:srgbClr val="D6D0C8"/>
              </a:solidFill>
              <a:prstDash val="solid"/>
              <a:miter/>
            </a:ln>
          </p:spPr>
        </p:sp>
      </p:grpSp>
      <p:sp>
        <p:nvSpPr>
          <p:cNvPr name="TextBox 11" id="11"/>
          <p:cNvSpPr txBox="true"/>
          <p:nvPr/>
        </p:nvSpPr>
        <p:spPr>
          <a:xfrm rot="0">
            <a:off x="1427578" y="3386299"/>
            <a:ext cx="892235" cy="292465"/>
          </a:xfrm>
          <a:prstGeom prst="rect">
            <a:avLst/>
          </a:prstGeom>
        </p:spPr>
        <p:txBody>
          <a:bodyPr anchor="t" rtlCol="false" tIns="0" lIns="0" bIns="0" rIns="0">
            <a:spAutoFit/>
          </a:bodyPr>
          <a:lstStyle/>
          <a:p>
            <a:pPr algn="l">
              <a:lnSpc>
                <a:spcPts val="1540"/>
              </a:lnSpc>
            </a:pPr>
            <a:r>
              <a:rPr lang="en-US" sz="1351" b="true">
                <a:solidFill>
                  <a:srgbClr val="B45309"/>
                </a:solidFill>
                <a:latin typeface="Montserrat Bold"/>
                <a:ea typeface="Montserrat Bold"/>
                <a:cs typeface="Montserrat Bold"/>
                <a:sym typeface="Montserrat Bold"/>
              </a:rPr>
              <a:t>01</a:t>
            </a:r>
          </a:p>
        </p:txBody>
      </p:sp>
      <p:sp>
        <p:nvSpPr>
          <p:cNvPr name="TextBox 12" id="12"/>
          <p:cNvSpPr txBox="true"/>
          <p:nvPr/>
        </p:nvSpPr>
        <p:spPr>
          <a:xfrm rot="0">
            <a:off x="1427578" y="4017731"/>
            <a:ext cx="2196274" cy="347367"/>
          </a:xfrm>
          <a:prstGeom prst="rect">
            <a:avLst/>
          </a:prstGeom>
        </p:spPr>
        <p:txBody>
          <a:bodyPr anchor="t" rtlCol="false" tIns="0" lIns="0" bIns="0" rIns="0">
            <a:spAutoFit/>
          </a:bodyPr>
          <a:lstStyle/>
          <a:p>
            <a:pPr algn="l">
              <a:lnSpc>
                <a:spcPts val="2567"/>
              </a:lnSpc>
            </a:pPr>
            <a:r>
              <a:rPr lang="en-US" sz="2251" b="true">
                <a:solidFill>
                  <a:srgbClr val="1E293B"/>
                </a:solidFill>
                <a:latin typeface="Montserrat Bold"/>
                <a:ea typeface="Montserrat Bold"/>
                <a:cs typeface="Montserrat Bold"/>
                <a:sym typeface="Montserrat Bold"/>
              </a:rPr>
              <a:t>Problem</a:t>
            </a:r>
          </a:p>
        </p:txBody>
      </p:sp>
      <p:sp>
        <p:nvSpPr>
          <p:cNvPr name="TextBox 13" id="13"/>
          <p:cNvSpPr txBox="true"/>
          <p:nvPr/>
        </p:nvSpPr>
        <p:spPr>
          <a:xfrm rot="0">
            <a:off x="1427578" y="4611062"/>
            <a:ext cx="2443353" cy="1183767"/>
          </a:xfrm>
          <a:prstGeom prst="rect">
            <a:avLst/>
          </a:prstGeom>
        </p:spPr>
        <p:txBody>
          <a:bodyPr anchor="t" rtlCol="false" tIns="0" lIns="0" bIns="0" rIns="0">
            <a:spAutoFit/>
          </a:bodyPr>
          <a:lstStyle/>
          <a:p>
            <a:pPr algn="l">
              <a:lnSpc>
                <a:spcPts val="2304"/>
              </a:lnSpc>
            </a:pPr>
            <a:r>
              <a:rPr lang="en-US" sz="2000">
                <a:solidFill>
                  <a:srgbClr val="64748B"/>
                </a:solidFill>
                <a:latin typeface="Calibri (MS)"/>
                <a:ea typeface="Calibri (MS)"/>
                <a:cs typeface="Calibri (MS)"/>
                <a:sym typeface="Calibri (MS)"/>
              </a:rPr>
              <a:t>Vietnamese misinformation and clickbait need screening support.</a:t>
            </a:r>
          </a:p>
        </p:txBody>
      </p:sp>
      <p:grpSp>
        <p:nvGrpSpPr>
          <p:cNvPr name="Group 14" id="14"/>
          <p:cNvGrpSpPr/>
          <p:nvPr/>
        </p:nvGrpSpPr>
        <p:grpSpPr>
          <a:xfrm rot="0">
            <a:off x="4137841" y="4796723"/>
            <a:ext cx="427053" cy="15250"/>
            <a:chOff x="0" y="0"/>
            <a:chExt cx="569404" cy="20333"/>
          </a:xfrm>
        </p:grpSpPr>
        <p:sp>
          <p:nvSpPr>
            <p:cNvPr name="Freeform 15" id="15"/>
            <p:cNvSpPr/>
            <p:nvPr/>
          </p:nvSpPr>
          <p:spPr>
            <a:xfrm flipH="false" flipV="false" rot="0">
              <a:off x="0" y="0"/>
              <a:ext cx="569468" cy="20320"/>
            </a:xfrm>
            <a:custGeom>
              <a:avLst/>
              <a:gdLst/>
              <a:ahLst/>
              <a:cxnLst/>
              <a:rect r="r" b="b" t="t" l="l"/>
              <a:pathLst>
                <a:path h="20320" w="569468">
                  <a:moveTo>
                    <a:pt x="0" y="0"/>
                  </a:moveTo>
                  <a:lnTo>
                    <a:pt x="569468" y="20320"/>
                  </a:lnTo>
                </a:path>
              </a:pathLst>
            </a:custGeom>
            <a:blipFill>
              <a:blip r:embed="rId3">
                <a:alphaModFix amt="0"/>
              </a:blip>
              <a:stretch>
                <a:fillRect l="0" t="-495976" r="11" b="-496038"/>
              </a:stretch>
            </a:blipFill>
            <a:ln w="15252" cap="sq">
              <a:solidFill>
                <a:srgbClr val="D6D0C8"/>
              </a:solidFill>
              <a:prstDash val="solid"/>
              <a:miter/>
            </a:ln>
          </p:spPr>
        </p:sp>
      </p:grpSp>
      <p:grpSp>
        <p:nvGrpSpPr>
          <p:cNvPr name="Group 16" id="16"/>
          <p:cNvGrpSpPr/>
          <p:nvPr/>
        </p:nvGrpSpPr>
        <p:grpSpPr>
          <a:xfrm rot="0">
            <a:off x="4550597" y="3068117"/>
            <a:ext cx="2978315" cy="3472482"/>
            <a:chOff x="0" y="0"/>
            <a:chExt cx="3971087" cy="4629976"/>
          </a:xfrm>
        </p:grpSpPr>
        <p:sp>
          <p:nvSpPr>
            <p:cNvPr name="Freeform 17" id="17"/>
            <p:cNvSpPr/>
            <p:nvPr/>
          </p:nvSpPr>
          <p:spPr>
            <a:xfrm flipH="false" flipV="false" rot="0">
              <a:off x="0" y="0"/>
              <a:ext cx="3971163" cy="4630039"/>
            </a:xfrm>
            <a:custGeom>
              <a:avLst/>
              <a:gdLst/>
              <a:ahLst/>
              <a:cxnLst/>
              <a:rect r="r" b="b" t="t" l="l"/>
              <a:pathLst>
                <a:path h="4630039" w="3971163">
                  <a:moveTo>
                    <a:pt x="0" y="110363"/>
                  </a:moveTo>
                  <a:cubicBezTo>
                    <a:pt x="0" y="49403"/>
                    <a:pt x="49403" y="0"/>
                    <a:pt x="110363" y="0"/>
                  </a:cubicBezTo>
                  <a:lnTo>
                    <a:pt x="3860800" y="0"/>
                  </a:lnTo>
                  <a:cubicBezTo>
                    <a:pt x="3921760" y="0"/>
                    <a:pt x="3971163" y="49403"/>
                    <a:pt x="3971163" y="110363"/>
                  </a:cubicBezTo>
                  <a:lnTo>
                    <a:pt x="3971163" y="4519676"/>
                  </a:lnTo>
                  <a:cubicBezTo>
                    <a:pt x="3971163" y="4580636"/>
                    <a:pt x="3921760" y="4630039"/>
                    <a:pt x="3860800" y="4630039"/>
                  </a:cubicBezTo>
                  <a:lnTo>
                    <a:pt x="110363" y="4630039"/>
                  </a:lnTo>
                  <a:cubicBezTo>
                    <a:pt x="49403" y="4630039"/>
                    <a:pt x="0" y="4580636"/>
                    <a:pt x="0" y="4519676"/>
                  </a:cubicBezTo>
                  <a:close/>
                </a:path>
              </a:pathLst>
            </a:custGeom>
            <a:solidFill>
              <a:srgbClr val="FFFFFF"/>
            </a:solidFill>
            <a:ln w="13345" cap="sq">
              <a:solidFill>
                <a:srgbClr val="D6D0C8"/>
              </a:solidFill>
              <a:prstDash val="solid"/>
              <a:miter/>
            </a:ln>
          </p:spPr>
        </p:sp>
      </p:grpSp>
      <p:sp>
        <p:nvSpPr>
          <p:cNvPr name="TextBox 18" id="18"/>
          <p:cNvSpPr txBox="true"/>
          <p:nvPr/>
        </p:nvSpPr>
        <p:spPr>
          <a:xfrm rot="0">
            <a:off x="4804353" y="3386299"/>
            <a:ext cx="892235" cy="292465"/>
          </a:xfrm>
          <a:prstGeom prst="rect">
            <a:avLst/>
          </a:prstGeom>
        </p:spPr>
        <p:txBody>
          <a:bodyPr anchor="t" rtlCol="false" tIns="0" lIns="0" bIns="0" rIns="0">
            <a:spAutoFit/>
          </a:bodyPr>
          <a:lstStyle/>
          <a:p>
            <a:pPr algn="l">
              <a:lnSpc>
                <a:spcPts val="1540"/>
              </a:lnSpc>
            </a:pPr>
            <a:r>
              <a:rPr lang="en-US" sz="1351" b="true">
                <a:solidFill>
                  <a:srgbClr val="B45309"/>
                </a:solidFill>
                <a:latin typeface="Montserrat Bold"/>
                <a:ea typeface="Montserrat Bold"/>
                <a:cs typeface="Montserrat Bold"/>
                <a:sym typeface="Montserrat Bold"/>
              </a:rPr>
              <a:t>02</a:t>
            </a:r>
          </a:p>
        </p:txBody>
      </p:sp>
      <p:sp>
        <p:nvSpPr>
          <p:cNvPr name="TextBox 19" id="19"/>
          <p:cNvSpPr txBox="true"/>
          <p:nvPr/>
        </p:nvSpPr>
        <p:spPr>
          <a:xfrm rot="0">
            <a:off x="4804353" y="4017731"/>
            <a:ext cx="2196274" cy="347367"/>
          </a:xfrm>
          <a:prstGeom prst="rect">
            <a:avLst/>
          </a:prstGeom>
        </p:spPr>
        <p:txBody>
          <a:bodyPr anchor="t" rtlCol="false" tIns="0" lIns="0" bIns="0" rIns="0">
            <a:spAutoFit/>
          </a:bodyPr>
          <a:lstStyle/>
          <a:p>
            <a:pPr algn="l">
              <a:lnSpc>
                <a:spcPts val="2567"/>
              </a:lnSpc>
            </a:pPr>
            <a:r>
              <a:rPr lang="en-US" sz="2251" b="true">
                <a:solidFill>
                  <a:srgbClr val="1E293B"/>
                </a:solidFill>
                <a:latin typeface="Montserrat Bold"/>
                <a:ea typeface="Montserrat Bold"/>
                <a:cs typeface="Montserrat Bold"/>
                <a:sym typeface="Montserrat Bold"/>
              </a:rPr>
              <a:t>Dataset</a:t>
            </a:r>
          </a:p>
        </p:txBody>
      </p:sp>
      <p:sp>
        <p:nvSpPr>
          <p:cNvPr name="TextBox 20" id="20"/>
          <p:cNvSpPr txBox="true"/>
          <p:nvPr/>
        </p:nvSpPr>
        <p:spPr>
          <a:xfrm rot="0">
            <a:off x="4804353" y="4611062"/>
            <a:ext cx="2443353" cy="898017"/>
          </a:xfrm>
          <a:prstGeom prst="rect">
            <a:avLst/>
          </a:prstGeom>
        </p:spPr>
        <p:txBody>
          <a:bodyPr anchor="t" rtlCol="false" tIns="0" lIns="0" bIns="0" rIns="0">
            <a:spAutoFit/>
          </a:bodyPr>
          <a:lstStyle/>
          <a:p>
            <a:pPr algn="l">
              <a:lnSpc>
                <a:spcPts val="2304"/>
              </a:lnSpc>
            </a:pPr>
            <a:r>
              <a:rPr lang="en-US" sz="2000">
                <a:solidFill>
                  <a:srgbClr val="64748B"/>
                </a:solidFill>
                <a:latin typeface="Calibri (MS)"/>
                <a:ea typeface="Calibri (MS)"/>
                <a:cs typeface="Calibri (MS)"/>
                <a:sym typeface="Calibri (MS)"/>
              </a:rPr>
              <a:t>VFND labels are cleaned, normalized, split, and documented.</a:t>
            </a:r>
          </a:p>
        </p:txBody>
      </p:sp>
      <p:grpSp>
        <p:nvGrpSpPr>
          <p:cNvPr name="Group 21" id="21"/>
          <p:cNvGrpSpPr/>
          <p:nvPr/>
        </p:nvGrpSpPr>
        <p:grpSpPr>
          <a:xfrm rot="0">
            <a:off x="7514615" y="4796723"/>
            <a:ext cx="427053" cy="15250"/>
            <a:chOff x="0" y="0"/>
            <a:chExt cx="569404" cy="20333"/>
          </a:xfrm>
        </p:grpSpPr>
        <p:sp>
          <p:nvSpPr>
            <p:cNvPr name="Freeform 22" id="22"/>
            <p:cNvSpPr/>
            <p:nvPr/>
          </p:nvSpPr>
          <p:spPr>
            <a:xfrm flipH="false" flipV="false" rot="0">
              <a:off x="0" y="0"/>
              <a:ext cx="569468" cy="20320"/>
            </a:xfrm>
            <a:custGeom>
              <a:avLst/>
              <a:gdLst/>
              <a:ahLst/>
              <a:cxnLst/>
              <a:rect r="r" b="b" t="t" l="l"/>
              <a:pathLst>
                <a:path h="20320" w="569468">
                  <a:moveTo>
                    <a:pt x="0" y="0"/>
                  </a:moveTo>
                  <a:lnTo>
                    <a:pt x="569468" y="20320"/>
                  </a:lnTo>
                </a:path>
              </a:pathLst>
            </a:custGeom>
            <a:blipFill>
              <a:blip r:embed="rId3">
                <a:alphaModFix amt="0"/>
              </a:blip>
              <a:stretch>
                <a:fillRect l="0" t="-495976" r="11" b="-496038"/>
              </a:stretch>
            </a:blipFill>
            <a:ln w="15252" cap="sq">
              <a:solidFill>
                <a:srgbClr val="D6D0C8"/>
              </a:solidFill>
              <a:prstDash val="solid"/>
              <a:miter/>
            </a:ln>
          </p:spPr>
        </p:sp>
      </p:grpSp>
      <p:grpSp>
        <p:nvGrpSpPr>
          <p:cNvPr name="Group 23" id="23"/>
          <p:cNvGrpSpPr/>
          <p:nvPr/>
        </p:nvGrpSpPr>
        <p:grpSpPr>
          <a:xfrm rot="0">
            <a:off x="7927372" y="3068117"/>
            <a:ext cx="2978315" cy="3472482"/>
            <a:chOff x="0" y="0"/>
            <a:chExt cx="3971087" cy="4629976"/>
          </a:xfrm>
        </p:grpSpPr>
        <p:sp>
          <p:nvSpPr>
            <p:cNvPr name="Freeform 24" id="24"/>
            <p:cNvSpPr/>
            <p:nvPr/>
          </p:nvSpPr>
          <p:spPr>
            <a:xfrm flipH="false" flipV="false" rot="0">
              <a:off x="0" y="0"/>
              <a:ext cx="3971163" cy="4630039"/>
            </a:xfrm>
            <a:custGeom>
              <a:avLst/>
              <a:gdLst/>
              <a:ahLst/>
              <a:cxnLst/>
              <a:rect r="r" b="b" t="t" l="l"/>
              <a:pathLst>
                <a:path h="4630039" w="3971163">
                  <a:moveTo>
                    <a:pt x="0" y="110363"/>
                  </a:moveTo>
                  <a:cubicBezTo>
                    <a:pt x="0" y="49403"/>
                    <a:pt x="49403" y="0"/>
                    <a:pt x="110363" y="0"/>
                  </a:cubicBezTo>
                  <a:lnTo>
                    <a:pt x="3860800" y="0"/>
                  </a:lnTo>
                  <a:cubicBezTo>
                    <a:pt x="3921760" y="0"/>
                    <a:pt x="3971163" y="49403"/>
                    <a:pt x="3971163" y="110363"/>
                  </a:cubicBezTo>
                  <a:lnTo>
                    <a:pt x="3971163" y="4519676"/>
                  </a:lnTo>
                  <a:cubicBezTo>
                    <a:pt x="3971163" y="4580636"/>
                    <a:pt x="3921760" y="4630039"/>
                    <a:pt x="3860800" y="4630039"/>
                  </a:cubicBezTo>
                  <a:lnTo>
                    <a:pt x="110363" y="4630039"/>
                  </a:lnTo>
                  <a:cubicBezTo>
                    <a:pt x="49403" y="4630039"/>
                    <a:pt x="0" y="4580636"/>
                    <a:pt x="0" y="4519676"/>
                  </a:cubicBezTo>
                  <a:close/>
                </a:path>
              </a:pathLst>
            </a:custGeom>
            <a:solidFill>
              <a:srgbClr val="FFFFFF"/>
            </a:solidFill>
            <a:ln w="13345" cap="sq">
              <a:solidFill>
                <a:srgbClr val="D6D0C8"/>
              </a:solidFill>
              <a:prstDash val="solid"/>
              <a:miter/>
            </a:ln>
          </p:spPr>
        </p:sp>
      </p:grpSp>
      <p:sp>
        <p:nvSpPr>
          <p:cNvPr name="TextBox 25" id="25"/>
          <p:cNvSpPr txBox="true"/>
          <p:nvPr/>
        </p:nvSpPr>
        <p:spPr>
          <a:xfrm rot="0">
            <a:off x="8181127" y="3386299"/>
            <a:ext cx="892235" cy="292465"/>
          </a:xfrm>
          <a:prstGeom prst="rect">
            <a:avLst/>
          </a:prstGeom>
        </p:spPr>
        <p:txBody>
          <a:bodyPr anchor="t" rtlCol="false" tIns="0" lIns="0" bIns="0" rIns="0">
            <a:spAutoFit/>
          </a:bodyPr>
          <a:lstStyle/>
          <a:p>
            <a:pPr algn="l">
              <a:lnSpc>
                <a:spcPts val="1540"/>
              </a:lnSpc>
            </a:pPr>
            <a:r>
              <a:rPr lang="en-US" sz="1351" b="true">
                <a:solidFill>
                  <a:srgbClr val="B45309"/>
                </a:solidFill>
                <a:latin typeface="Montserrat Bold"/>
                <a:ea typeface="Montserrat Bold"/>
                <a:cs typeface="Montserrat Bold"/>
                <a:sym typeface="Montserrat Bold"/>
              </a:rPr>
              <a:t>03</a:t>
            </a:r>
          </a:p>
        </p:txBody>
      </p:sp>
      <p:sp>
        <p:nvSpPr>
          <p:cNvPr name="TextBox 26" id="26"/>
          <p:cNvSpPr txBox="true"/>
          <p:nvPr/>
        </p:nvSpPr>
        <p:spPr>
          <a:xfrm rot="0">
            <a:off x="8181127" y="4017731"/>
            <a:ext cx="2196274" cy="347367"/>
          </a:xfrm>
          <a:prstGeom prst="rect">
            <a:avLst/>
          </a:prstGeom>
        </p:spPr>
        <p:txBody>
          <a:bodyPr anchor="t" rtlCol="false" tIns="0" lIns="0" bIns="0" rIns="0">
            <a:spAutoFit/>
          </a:bodyPr>
          <a:lstStyle/>
          <a:p>
            <a:pPr algn="l">
              <a:lnSpc>
                <a:spcPts val="2567"/>
              </a:lnSpc>
            </a:pPr>
            <a:r>
              <a:rPr lang="en-US" sz="2251" b="true">
                <a:solidFill>
                  <a:srgbClr val="1E293B"/>
                </a:solidFill>
                <a:latin typeface="Montserrat Bold"/>
                <a:ea typeface="Montserrat Bold"/>
                <a:cs typeface="Montserrat Bold"/>
                <a:sym typeface="Montserrat Bold"/>
              </a:rPr>
              <a:t>Model</a:t>
            </a:r>
          </a:p>
        </p:txBody>
      </p:sp>
      <p:sp>
        <p:nvSpPr>
          <p:cNvPr name="TextBox 27" id="27"/>
          <p:cNvSpPr txBox="true"/>
          <p:nvPr/>
        </p:nvSpPr>
        <p:spPr>
          <a:xfrm rot="0">
            <a:off x="8181127" y="4611062"/>
            <a:ext cx="2443353" cy="1183767"/>
          </a:xfrm>
          <a:prstGeom prst="rect">
            <a:avLst/>
          </a:prstGeom>
        </p:spPr>
        <p:txBody>
          <a:bodyPr anchor="t" rtlCol="false" tIns="0" lIns="0" bIns="0" rIns="0">
            <a:spAutoFit/>
          </a:bodyPr>
          <a:lstStyle/>
          <a:p>
            <a:pPr algn="l">
              <a:lnSpc>
                <a:spcPts val="2304"/>
              </a:lnSpc>
            </a:pPr>
            <a:r>
              <a:rPr lang="en-US" sz="2000">
                <a:solidFill>
                  <a:srgbClr val="64748B"/>
                </a:solidFill>
                <a:latin typeface="Calibri (MS)"/>
                <a:ea typeface="Calibri (MS)"/>
                <a:cs typeface="Calibri (MS)"/>
                <a:sym typeface="Calibri (MS)"/>
              </a:rPr>
              <a:t>Four ML baselines are benchmarked; Linear SVM is selected by metrics.</a:t>
            </a:r>
          </a:p>
        </p:txBody>
      </p:sp>
      <p:grpSp>
        <p:nvGrpSpPr>
          <p:cNvPr name="Group 28" id="28"/>
          <p:cNvGrpSpPr/>
          <p:nvPr/>
        </p:nvGrpSpPr>
        <p:grpSpPr>
          <a:xfrm rot="0">
            <a:off x="10891390" y="4796723"/>
            <a:ext cx="427053" cy="15250"/>
            <a:chOff x="0" y="0"/>
            <a:chExt cx="569404" cy="20333"/>
          </a:xfrm>
        </p:grpSpPr>
        <p:sp>
          <p:nvSpPr>
            <p:cNvPr name="Freeform 29" id="29"/>
            <p:cNvSpPr/>
            <p:nvPr/>
          </p:nvSpPr>
          <p:spPr>
            <a:xfrm flipH="false" flipV="false" rot="0">
              <a:off x="0" y="0"/>
              <a:ext cx="569468" cy="20320"/>
            </a:xfrm>
            <a:custGeom>
              <a:avLst/>
              <a:gdLst/>
              <a:ahLst/>
              <a:cxnLst/>
              <a:rect r="r" b="b" t="t" l="l"/>
              <a:pathLst>
                <a:path h="20320" w="569468">
                  <a:moveTo>
                    <a:pt x="0" y="0"/>
                  </a:moveTo>
                  <a:lnTo>
                    <a:pt x="569468" y="20320"/>
                  </a:lnTo>
                </a:path>
              </a:pathLst>
            </a:custGeom>
            <a:blipFill>
              <a:blip r:embed="rId3">
                <a:alphaModFix amt="0"/>
              </a:blip>
              <a:stretch>
                <a:fillRect l="0" t="-495976" r="11" b="-496038"/>
              </a:stretch>
            </a:blipFill>
            <a:ln w="15252" cap="sq">
              <a:solidFill>
                <a:srgbClr val="D6D0C8"/>
              </a:solidFill>
              <a:prstDash val="solid"/>
              <a:miter/>
            </a:ln>
          </p:spPr>
        </p:sp>
      </p:grpSp>
      <p:grpSp>
        <p:nvGrpSpPr>
          <p:cNvPr name="Group 30" id="30"/>
          <p:cNvGrpSpPr/>
          <p:nvPr/>
        </p:nvGrpSpPr>
        <p:grpSpPr>
          <a:xfrm rot="0">
            <a:off x="11304146" y="3068117"/>
            <a:ext cx="2978315" cy="3472482"/>
            <a:chOff x="0" y="0"/>
            <a:chExt cx="3971087" cy="4629976"/>
          </a:xfrm>
        </p:grpSpPr>
        <p:sp>
          <p:nvSpPr>
            <p:cNvPr name="Freeform 31" id="31"/>
            <p:cNvSpPr/>
            <p:nvPr/>
          </p:nvSpPr>
          <p:spPr>
            <a:xfrm flipH="false" flipV="false" rot="0">
              <a:off x="0" y="0"/>
              <a:ext cx="3971163" cy="4630039"/>
            </a:xfrm>
            <a:custGeom>
              <a:avLst/>
              <a:gdLst/>
              <a:ahLst/>
              <a:cxnLst/>
              <a:rect r="r" b="b" t="t" l="l"/>
              <a:pathLst>
                <a:path h="4630039" w="3971163">
                  <a:moveTo>
                    <a:pt x="0" y="110363"/>
                  </a:moveTo>
                  <a:cubicBezTo>
                    <a:pt x="0" y="49403"/>
                    <a:pt x="49403" y="0"/>
                    <a:pt x="110363" y="0"/>
                  </a:cubicBezTo>
                  <a:lnTo>
                    <a:pt x="3860800" y="0"/>
                  </a:lnTo>
                  <a:cubicBezTo>
                    <a:pt x="3921760" y="0"/>
                    <a:pt x="3971163" y="49403"/>
                    <a:pt x="3971163" y="110363"/>
                  </a:cubicBezTo>
                  <a:lnTo>
                    <a:pt x="3971163" y="4519676"/>
                  </a:lnTo>
                  <a:cubicBezTo>
                    <a:pt x="3971163" y="4580636"/>
                    <a:pt x="3921760" y="4630039"/>
                    <a:pt x="3860800" y="4630039"/>
                  </a:cubicBezTo>
                  <a:lnTo>
                    <a:pt x="110363" y="4630039"/>
                  </a:lnTo>
                  <a:cubicBezTo>
                    <a:pt x="49403" y="4630039"/>
                    <a:pt x="0" y="4580636"/>
                    <a:pt x="0" y="4519676"/>
                  </a:cubicBezTo>
                  <a:close/>
                </a:path>
              </a:pathLst>
            </a:custGeom>
            <a:solidFill>
              <a:srgbClr val="FFFFFF"/>
            </a:solidFill>
            <a:ln w="13345" cap="sq">
              <a:solidFill>
                <a:srgbClr val="D6D0C8"/>
              </a:solidFill>
              <a:prstDash val="solid"/>
              <a:miter/>
            </a:ln>
          </p:spPr>
        </p:sp>
      </p:grpSp>
      <p:sp>
        <p:nvSpPr>
          <p:cNvPr name="TextBox 32" id="32"/>
          <p:cNvSpPr txBox="true"/>
          <p:nvPr/>
        </p:nvSpPr>
        <p:spPr>
          <a:xfrm rot="0">
            <a:off x="11557902" y="3386299"/>
            <a:ext cx="892235" cy="292465"/>
          </a:xfrm>
          <a:prstGeom prst="rect">
            <a:avLst/>
          </a:prstGeom>
        </p:spPr>
        <p:txBody>
          <a:bodyPr anchor="t" rtlCol="false" tIns="0" lIns="0" bIns="0" rIns="0">
            <a:spAutoFit/>
          </a:bodyPr>
          <a:lstStyle/>
          <a:p>
            <a:pPr algn="l">
              <a:lnSpc>
                <a:spcPts val="1540"/>
              </a:lnSpc>
            </a:pPr>
            <a:r>
              <a:rPr lang="en-US" sz="1351" b="true">
                <a:solidFill>
                  <a:srgbClr val="B45309"/>
                </a:solidFill>
                <a:latin typeface="Montserrat Bold"/>
                <a:ea typeface="Montserrat Bold"/>
                <a:cs typeface="Montserrat Bold"/>
                <a:sym typeface="Montserrat Bold"/>
              </a:rPr>
              <a:t>04</a:t>
            </a:r>
          </a:p>
        </p:txBody>
      </p:sp>
      <p:sp>
        <p:nvSpPr>
          <p:cNvPr name="TextBox 33" id="33"/>
          <p:cNvSpPr txBox="true"/>
          <p:nvPr/>
        </p:nvSpPr>
        <p:spPr>
          <a:xfrm rot="0">
            <a:off x="11557902" y="4017731"/>
            <a:ext cx="2196274" cy="347367"/>
          </a:xfrm>
          <a:prstGeom prst="rect">
            <a:avLst/>
          </a:prstGeom>
        </p:spPr>
        <p:txBody>
          <a:bodyPr anchor="t" rtlCol="false" tIns="0" lIns="0" bIns="0" rIns="0">
            <a:spAutoFit/>
          </a:bodyPr>
          <a:lstStyle/>
          <a:p>
            <a:pPr algn="l">
              <a:lnSpc>
                <a:spcPts val="2567"/>
              </a:lnSpc>
            </a:pPr>
            <a:r>
              <a:rPr lang="en-US" sz="2251" b="true">
                <a:solidFill>
                  <a:srgbClr val="1E293B"/>
                </a:solidFill>
                <a:latin typeface="Montserrat Bold"/>
                <a:ea typeface="Montserrat Bold"/>
                <a:cs typeface="Montserrat Bold"/>
                <a:sym typeface="Montserrat Bold"/>
              </a:rPr>
              <a:t>System</a:t>
            </a:r>
          </a:p>
        </p:txBody>
      </p:sp>
      <p:sp>
        <p:nvSpPr>
          <p:cNvPr name="TextBox 34" id="34"/>
          <p:cNvSpPr txBox="true"/>
          <p:nvPr/>
        </p:nvSpPr>
        <p:spPr>
          <a:xfrm rot="0">
            <a:off x="11557902" y="4611062"/>
            <a:ext cx="2443353" cy="1183767"/>
          </a:xfrm>
          <a:prstGeom prst="rect">
            <a:avLst/>
          </a:prstGeom>
        </p:spPr>
        <p:txBody>
          <a:bodyPr anchor="t" rtlCol="false" tIns="0" lIns="0" bIns="0" rIns="0">
            <a:spAutoFit/>
          </a:bodyPr>
          <a:lstStyle/>
          <a:p>
            <a:pPr algn="l">
              <a:lnSpc>
                <a:spcPts val="2304"/>
              </a:lnSpc>
            </a:pPr>
            <a:r>
              <a:rPr lang="en-US" sz="2000">
                <a:solidFill>
                  <a:srgbClr val="64748B"/>
                </a:solidFill>
                <a:latin typeface="Calibri (MS)"/>
                <a:ea typeface="Calibri (MS)"/>
                <a:cs typeface="Calibri (MS)"/>
                <a:sym typeface="Calibri (MS)"/>
              </a:rPr>
              <a:t>Streamlit app integrates inference, explanations, storage, and feedback.</a:t>
            </a:r>
          </a:p>
        </p:txBody>
      </p:sp>
      <p:grpSp>
        <p:nvGrpSpPr>
          <p:cNvPr name="Group 35" id="35"/>
          <p:cNvGrpSpPr/>
          <p:nvPr/>
        </p:nvGrpSpPr>
        <p:grpSpPr>
          <a:xfrm rot="0">
            <a:off x="14268164" y="4796723"/>
            <a:ext cx="427053" cy="15250"/>
            <a:chOff x="0" y="0"/>
            <a:chExt cx="569404" cy="20333"/>
          </a:xfrm>
        </p:grpSpPr>
        <p:sp>
          <p:nvSpPr>
            <p:cNvPr name="Freeform 36" id="36"/>
            <p:cNvSpPr/>
            <p:nvPr/>
          </p:nvSpPr>
          <p:spPr>
            <a:xfrm flipH="false" flipV="false" rot="0">
              <a:off x="0" y="0"/>
              <a:ext cx="569468" cy="20320"/>
            </a:xfrm>
            <a:custGeom>
              <a:avLst/>
              <a:gdLst/>
              <a:ahLst/>
              <a:cxnLst/>
              <a:rect r="r" b="b" t="t" l="l"/>
              <a:pathLst>
                <a:path h="20320" w="569468">
                  <a:moveTo>
                    <a:pt x="0" y="0"/>
                  </a:moveTo>
                  <a:lnTo>
                    <a:pt x="569468" y="20320"/>
                  </a:lnTo>
                </a:path>
              </a:pathLst>
            </a:custGeom>
            <a:blipFill>
              <a:blip r:embed="rId3">
                <a:alphaModFix amt="0"/>
              </a:blip>
              <a:stretch>
                <a:fillRect l="0" t="-495976" r="11" b="-496038"/>
              </a:stretch>
            </a:blipFill>
            <a:ln w="15252" cap="sq">
              <a:solidFill>
                <a:srgbClr val="D6D0C8"/>
              </a:solidFill>
              <a:prstDash val="solid"/>
              <a:miter/>
            </a:ln>
          </p:spPr>
        </p:sp>
      </p:grpSp>
      <p:grpSp>
        <p:nvGrpSpPr>
          <p:cNvPr name="Group 37" id="37"/>
          <p:cNvGrpSpPr/>
          <p:nvPr/>
        </p:nvGrpSpPr>
        <p:grpSpPr>
          <a:xfrm rot="0">
            <a:off x="14680921" y="3068117"/>
            <a:ext cx="2978315" cy="3472482"/>
            <a:chOff x="0" y="0"/>
            <a:chExt cx="3971087" cy="4629976"/>
          </a:xfrm>
        </p:grpSpPr>
        <p:sp>
          <p:nvSpPr>
            <p:cNvPr name="Freeform 38" id="38"/>
            <p:cNvSpPr/>
            <p:nvPr/>
          </p:nvSpPr>
          <p:spPr>
            <a:xfrm flipH="false" flipV="false" rot="0">
              <a:off x="0" y="0"/>
              <a:ext cx="3971163" cy="4630039"/>
            </a:xfrm>
            <a:custGeom>
              <a:avLst/>
              <a:gdLst/>
              <a:ahLst/>
              <a:cxnLst/>
              <a:rect r="r" b="b" t="t" l="l"/>
              <a:pathLst>
                <a:path h="4630039" w="3971163">
                  <a:moveTo>
                    <a:pt x="0" y="110363"/>
                  </a:moveTo>
                  <a:cubicBezTo>
                    <a:pt x="0" y="49403"/>
                    <a:pt x="49403" y="0"/>
                    <a:pt x="110363" y="0"/>
                  </a:cubicBezTo>
                  <a:lnTo>
                    <a:pt x="3860800" y="0"/>
                  </a:lnTo>
                  <a:cubicBezTo>
                    <a:pt x="3921760" y="0"/>
                    <a:pt x="3971163" y="49403"/>
                    <a:pt x="3971163" y="110363"/>
                  </a:cubicBezTo>
                  <a:lnTo>
                    <a:pt x="3971163" y="4519676"/>
                  </a:lnTo>
                  <a:cubicBezTo>
                    <a:pt x="3971163" y="4580636"/>
                    <a:pt x="3921760" y="4630039"/>
                    <a:pt x="3860800" y="4630039"/>
                  </a:cubicBezTo>
                  <a:lnTo>
                    <a:pt x="110363" y="4630039"/>
                  </a:lnTo>
                  <a:cubicBezTo>
                    <a:pt x="49403" y="4630039"/>
                    <a:pt x="0" y="4580636"/>
                    <a:pt x="0" y="4519676"/>
                  </a:cubicBezTo>
                  <a:close/>
                </a:path>
              </a:pathLst>
            </a:custGeom>
            <a:solidFill>
              <a:srgbClr val="FFFFFF"/>
            </a:solidFill>
            <a:ln w="13345" cap="sq">
              <a:solidFill>
                <a:srgbClr val="D6D0C8"/>
              </a:solidFill>
              <a:prstDash val="solid"/>
              <a:miter/>
            </a:ln>
          </p:spPr>
        </p:sp>
      </p:grpSp>
      <p:sp>
        <p:nvSpPr>
          <p:cNvPr name="TextBox 39" id="39"/>
          <p:cNvSpPr txBox="true"/>
          <p:nvPr/>
        </p:nvSpPr>
        <p:spPr>
          <a:xfrm rot="0">
            <a:off x="14934676" y="3386299"/>
            <a:ext cx="892235" cy="292465"/>
          </a:xfrm>
          <a:prstGeom prst="rect">
            <a:avLst/>
          </a:prstGeom>
        </p:spPr>
        <p:txBody>
          <a:bodyPr anchor="t" rtlCol="false" tIns="0" lIns="0" bIns="0" rIns="0">
            <a:spAutoFit/>
          </a:bodyPr>
          <a:lstStyle/>
          <a:p>
            <a:pPr algn="l">
              <a:lnSpc>
                <a:spcPts val="1540"/>
              </a:lnSpc>
            </a:pPr>
            <a:r>
              <a:rPr lang="en-US" sz="1351" b="true">
                <a:solidFill>
                  <a:srgbClr val="B45309"/>
                </a:solidFill>
                <a:latin typeface="Montserrat Bold"/>
                <a:ea typeface="Montserrat Bold"/>
                <a:cs typeface="Montserrat Bold"/>
                <a:sym typeface="Montserrat Bold"/>
              </a:rPr>
              <a:t>05</a:t>
            </a:r>
          </a:p>
        </p:txBody>
      </p:sp>
      <p:sp>
        <p:nvSpPr>
          <p:cNvPr name="TextBox 40" id="40"/>
          <p:cNvSpPr txBox="true"/>
          <p:nvPr/>
        </p:nvSpPr>
        <p:spPr>
          <a:xfrm rot="0">
            <a:off x="14934676" y="4017731"/>
            <a:ext cx="2196274" cy="347367"/>
          </a:xfrm>
          <a:prstGeom prst="rect">
            <a:avLst/>
          </a:prstGeom>
        </p:spPr>
        <p:txBody>
          <a:bodyPr anchor="t" rtlCol="false" tIns="0" lIns="0" bIns="0" rIns="0">
            <a:spAutoFit/>
          </a:bodyPr>
          <a:lstStyle/>
          <a:p>
            <a:pPr algn="l">
              <a:lnSpc>
                <a:spcPts val="2567"/>
              </a:lnSpc>
            </a:pPr>
            <a:r>
              <a:rPr lang="en-US" sz="2251" b="true">
                <a:solidFill>
                  <a:srgbClr val="1E293B"/>
                </a:solidFill>
                <a:latin typeface="Montserrat Bold"/>
                <a:ea typeface="Montserrat Bold"/>
                <a:cs typeface="Montserrat Bold"/>
                <a:sym typeface="Montserrat Bold"/>
              </a:rPr>
              <a:t>Demo</a:t>
            </a:r>
          </a:p>
        </p:txBody>
      </p:sp>
      <p:sp>
        <p:nvSpPr>
          <p:cNvPr name="TextBox 41" id="41"/>
          <p:cNvSpPr txBox="true"/>
          <p:nvPr/>
        </p:nvSpPr>
        <p:spPr>
          <a:xfrm rot="0">
            <a:off x="14934676" y="4611062"/>
            <a:ext cx="2443353" cy="1183767"/>
          </a:xfrm>
          <a:prstGeom prst="rect">
            <a:avLst/>
          </a:prstGeom>
        </p:spPr>
        <p:txBody>
          <a:bodyPr anchor="t" rtlCol="false" tIns="0" lIns="0" bIns="0" rIns="0">
            <a:spAutoFit/>
          </a:bodyPr>
          <a:lstStyle/>
          <a:p>
            <a:pPr algn="l">
              <a:lnSpc>
                <a:spcPts val="2304"/>
              </a:lnSpc>
            </a:pPr>
            <a:r>
              <a:rPr lang="en-US" sz="2000">
                <a:solidFill>
                  <a:srgbClr val="64748B"/>
                </a:solidFill>
                <a:latin typeface="Calibri (MS)"/>
                <a:ea typeface="Calibri (MS)"/>
                <a:cs typeface="Calibri (MS)"/>
                <a:sym typeface="Calibri (MS)"/>
              </a:rPr>
              <a:t>Two prepared cases prove reliable vs suspicious behavior and history.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03</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Problem and project boundary</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The project screens linguistic reliability signals in Vietnamese news.</a:t>
            </a:r>
          </a:p>
        </p:txBody>
      </p:sp>
      <p:grpSp>
        <p:nvGrpSpPr>
          <p:cNvPr name="Group 10" id="10"/>
          <p:cNvGrpSpPr/>
          <p:nvPr/>
        </p:nvGrpSpPr>
        <p:grpSpPr>
          <a:xfrm rot="0">
            <a:off x="1064009" y="2807303"/>
            <a:ext cx="7865031" cy="4611795"/>
            <a:chOff x="0" y="0"/>
            <a:chExt cx="10486708" cy="6149061"/>
          </a:xfrm>
        </p:grpSpPr>
        <p:sp>
          <p:nvSpPr>
            <p:cNvPr name="Freeform 11" id="11"/>
            <p:cNvSpPr/>
            <p:nvPr/>
          </p:nvSpPr>
          <p:spPr>
            <a:xfrm flipH="false" flipV="false" rot="0">
              <a:off x="0" y="0"/>
              <a:ext cx="10486644" cy="6149086"/>
            </a:xfrm>
            <a:custGeom>
              <a:avLst/>
              <a:gdLst/>
              <a:ahLst/>
              <a:cxnLst/>
              <a:rect r="r" b="b" t="t" l="l"/>
              <a:pathLst>
                <a:path h="6149086" w="10486644">
                  <a:moveTo>
                    <a:pt x="0" y="110109"/>
                  </a:moveTo>
                  <a:cubicBezTo>
                    <a:pt x="0" y="49276"/>
                    <a:pt x="49276" y="0"/>
                    <a:pt x="110109" y="0"/>
                  </a:cubicBezTo>
                  <a:lnTo>
                    <a:pt x="10376535" y="0"/>
                  </a:lnTo>
                  <a:cubicBezTo>
                    <a:pt x="10437368" y="0"/>
                    <a:pt x="10486644" y="49276"/>
                    <a:pt x="10486644" y="110109"/>
                  </a:cubicBezTo>
                  <a:lnTo>
                    <a:pt x="10486644" y="6038977"/>
                  </a:lnTo>
                  <a:cubicBezTo>
                    <a:pt x="10486644" y="6099810"/>
                    <a:pt x="10437368" y="6149086"/>
                    <a:pt x="10376535" y="6149086"/>
                  </a:cubicBezTo>
                  <a:lnTo>
                    <a:pt x="110109" y="6149086"/>
                  </a:lnTo>
                  <a:cubicBezTo>
                    <a:pt x="49276" y="6149086"/>
                    <a:pt x="0" y="6099810"/>
                    <a:pt x="0" y="6038977"/>
                  </a:cubicBezTo>
                  <a:close/>
                </a:path>
              </a:pathLst>
            </a:custGeom>
            <a:solidFill>
              <a:srgbClr val="FFFFFF"/>
            </a:solidFill>
            <a:ln w="13345" cap="sq">
              <a:solidFill>
                <a:srgbClr val="D6D0C8"/>
              </a:solidFill>
              <a:prstDash val="solid"/>
              <a:miter/>
            </a:ln>
          </p:spPr>
        </p:sp>
      </p:grpSp>
      <p:sp>
        <p:nvSpPr>
          <p:cNvPr name="TextBox 12" id="12"/>
          <p:cNvSpPr txBox="true"/>
          <p:nvPr/>
        </p:nvSpPr>
        <p:spPr>
          <a:xfrm rot="0">
            <a:off x="1441304" y="3212049"/>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PROBLEM</a:t>
            </a:r>
          </a:p>
        </p:txBody>
      </p:sp>
      <p:sp>
        <p:nvSpPr>
          <p:cNvPr name="TextBox 13" id="13"/>
          <p:cNvSpPr txBox="true"/>
          <p:nvPr/>
        </p:nvSpPr>
        <p:spPr>
          <a:xfrm rot="0">
            <a:off x="1441304" y="3793903"/>
            <a:ext cx="6794725" cy="639832"/>
          </a:xfrm>
          <a:prstGeom prst="rect">
            <a:avLst/>
          </a:prstGeom>
        </p:spPr>
        <p:txBody>
          <a:bodyPr anchor="t" rtlCol="false" tIns="0" lIns="0" bIns="0" rIns="0">
            <a:spAutoFit/>
          </a:bodyPr>
          <a:lstStyle/>
          <a:p>
            <a:pPr algn="l">
              <a:lnSpc>
                <a:spcPts val="2512"/>
              </a:lnSpc>
            </a:pPr>
            <a:r>
              <a:rPr lang="en-US" sz="2326" b="true">
                <a:solidFill>
                  <a:srgbClr val="1E293B"/>
                </a:solidFill>
                <a:latin typeface="Montserrat Bold"/>
                <a:ea typeface="Montserrat Bold"/>
                <a:cs typeface="Montserrat Bold"/>
                <a:sym typeface="Montserrat Bold"/>
              </a:rPr>
              <a:t>Vietnamese users face unreliable news, clickbait headlines, and posts without clear sources.</a:t>
            </a:r>
          </a:p>
        </p:txBody>
      </p:sp>
      <p:sp>
        <p:nvSpPr>
          <p:cNvPr name="TextBox 14" id="14"/>
          <p:cNvSpPr txBox="true"/>
          <p:nvPr/>
        </p:nvSpPr>
        <p:spPr>
          <a:xfrm rot="0">
            <a:off x="1537649" y="4854188"/>
            <a:ext cx="6451054" cy="872109"/>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A binary fake/real label alone is hard to trust.</a:t>
            </a:r>
          </a:p>
          <a:p>
            <a:pPr algn="l">
              <a:lnSpc>
                <a:spcPts val="2208"/>
              </a:lnSpc>
            </a:pPr>
            <a:r>
              <a:rPr lang="en-US" sz="2000">
                <a:solidFill>
                  <a:srgbClr val="1E293B"/>
                </a:solidFill>
                <a:latin typeface="Calibri (MS)"/>
                <a:ea typeface="Calibri (MS)"/>
                <a:cs typeface="Calibri (MS)"/>
                <a:sym typeface="Calibri (MS)"/>
              </a:rPr>
              <a:t>Users need risk, signals, and limitations.</a:t>
            </a:r>
          </a:p>
          <a:p>
            <a:pPr algn="l">
              <a:lnSpc>
                <a:spcPts val="2208"/>
              </a:lnSpc>
            </a:pPr>
            <a:r>
              <a:rPr lang="en-US" sz="2000">
                <a:solidFill>
                  <a:srgbClr val="1E293B"/>
                </a:solidFill>
                <a:latin typeface="Calibri (MS)"/>
                <a:ea typeface="Calibri (MS)"/>
                <a:cs typeface="Calibri (MS)"/>
                <a:sym typeface="Calibri (MS)"/>
              </a:rPr>
              <a:t>Reviewers need history and feedback for later inspection.</a:t>
            </a:r>
          </a:p>
        </p:txBody>
      </p:sp>
      <p:grpSp>
        <p:nvGrpSpPr>
          <p:cNvPr name="Group 15" id="15"/>
          <p:cNvGrpSpPr/>
          <p:nvPr/>
        </p:nvGrpSpPr>
        <p:grpSpPr>
          <a:xfrm rot="0">
            <a:off x="9396136" y="2807303"/>
            <a:ext cx="7865031" cy="4611795"/>
            <a:chOff x="0" y="0"/>
            <a:chExt cx="10486708" cy="6149061"/>
          </a:xfrm>
        </p:grpSpPr>
        <p:sp>
          <p:nvSpPr>
            <p:cNvPr name="Freeform 16" id="16"/>
            <p:cNvSpPr/>
            <p:nvPr/>
          </p:nvSpPr>
          <p:spPr>
            <a:xfrm flipH="false" flipV="false" rot="0">
              <a:off x="0" y="0"/>
              <a:ext cx="10486644" cy="6149086"/>
            </a:xfrm>
            <a:custGeom>
              <a:avLst/>
              <a:gdLst/>
              <a:ahLst/>
              <a:cxnLst/>
              <a:rect r="r" b="b" t="t" l="l"/>
              <a:pathLst>
                <a:path h="6149086" w="10486644">
                  <a:moveTo>
                    <a:pt x="0" y="110109"/>
                  </a:moveTo>
                  <a:cubicBezTo>
                    <a:pt x="0" y="49276"/>
                    <a:pt x="49276" y="0"/>
                    <a:pt x="110109" y="0"/>
                  </a:cubicBezTo>
                  <a:lnTo>
                    <a:pt x="10376535" y="0"/>
                  </a:lnTo>
                  <a:cubicBezTo>
                    <a:pt x="10437368" y="0"/>
                    <a:pt x="10486644" y="49276"/>
                    <a:pt x="10486644" y="110109"/>
                  </a:cubicBezTo>
                  <a:lnTo>
                    <a:pt x="10486644" y="6038977"/>
                  </a:lnTo>
                  <a:cubicBezTo>
                    <a:pt x="10486644" y="6099810"/>
                    <a:pt x="10437368" y="6149086"/>
                    <a:pt x="10376535" y="6149086"/>
                  </a:cubicBezTo>
                  <a:lnTo>
                    <a:pt x="110109" y="6149086"/>
                  </a:lnTo>
                  <a:cubicBezTo>
                    <a:pt x="49276" y="6149086"/>
                    <a:pt x="0" y="6099810"/>
                    <a:pt x="0" y="6038977"/>
                  </a:cubicBezTo>
                  <a:close/>
                </a:path>
              </a:pathLst>
            </a:custGeom>
            <a:solidFill>
              <a:srgbClr val="FFFFFF"/>
            </a:solidFill>
            <a:ln w="13345" cap="sq">
              <a:solidFill>
                <a:srgbClr val="D6D0C8"/>
              </a:solidFill>
              <a:prstDash val="solid"/>
              <a:miter/>
            </a:ln>
          </p:spPr>
        </p:sp>
      </p:grpSp>
      <p:sp>
        <p:nvSpPr>
          <p:cNvPr name="TextBox 17" id="17"/>
          <p:cNvSpPr txBox="true"/>
          <p:nvPr/>
        </p:nvSpPr>
        <p:spPr>
          <a:xfrm rot="0">
            <a:off x="9773431" y="3212049"/>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BOUNDARY</a:t>
            </a:r>
          </a:p>
        </p:txBody>
      </p:sp>
      <p:sp>
        <p:nvSpPr>
          <p:cNvPr name="TextBox 18" id="18"/>
          <p:cNvSpPr txBox="true"/>
          <p:nvPr/>
        </p:nvSpPr>
        <p:spPr>
          <a:xfrm rot="0">
            <a:off x="9773431" y="3793903"/>
            <a:ext cx="6794725" cy="914371"/>
          </a:xfrm>
          <a:prstGeom prst="rect">
            <a:avLst/>
          </a:prstGeom>
        </p:spPr>
        <p:txBody>
          <a:bodyPr anchor="t" rtlCol="false" tIns="0" lIns="0" bIns="0" rIns="0">
            <a:spAutoFit/>
          </a:bodyPr>
          <a:lstStyle/>
          <a:p>
            <a:pPr algn="l">
              <a:lnSpc>
                <a:spcPts val="2512"/>
              </a:lnSpc>
            </a:pPr>
            <a:r>
              <a:rPr lang="en-US" sz="2326" b="true">
                <a:solidFill>
                  <a:srgbClr val="1E293B"/>
                </a:solidFill>
                <a:latin typeface="Montserrat Bold"/>
                <a:ea typeface="Montserrat Bold"/>
                <a:cs typeface="Montserrat Bold"/>
                <a:sym typeface="Montserrat Bold"/>
              </a:rPr>
              <a:t>Decision support for initial screening — not a claim-level truth verification system.</a:t>
            </a:r>
          </a:p>
        </p:txBody>
      </p:sp>
      <p:sp>
        <p:nvSpPr>
          <p:cNvPr name="TextBox 19" id="19"/>
          <p:cNvSpPr txBox="true"/>
          <p:nvPr/>
        </p:nvSpPr>
        <p:spPr>
          <a:xfrm rot="0">
            <a:off x="9883492" y="4991462"/>
            <a:ext cx="6451054" cy="872109"/>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Focus: Vietnamese text reliability patterns.</a:t>
            </a:r>
          </a:p>
          <a:p>
            <a:pPr algn="l">
              <a:lnSpc>
                <a:spcPts val="2208"/>
              </a:lnSpc>
            </a:pPr>
            <a:r>
              <a:rPr lang="en-US" sz="2000">
                <a:solidFill>
                  <a:srgbClr val="1E293B"/>
                </a:solidFill>
                <a:latin typeface="Calibri (MS)"/>
                <a:ea typeface="Calibri (MS)"/>
                <a:cs typeface="Calibri (MS)"/>
                <a:sym typeface="Calibri (MS)"/>
              </a:rPr>
              <a:t>ML/NLP baselines with measurable evaluation.</a:t>
            </a:r>
          </a:p>
          <a:p>
            <a:pPr algn="l">
              <a:lnSpc>
                <a:spcPts val="2208"/>
              </a:lnSpc>
            </a:pPr>
            <a:r>
              <a:rPr lang="en-US" sz="2000">
                <a:solidFill>
                  <a:srgbClr val="1E293B"/>
                </a:solidFill>
                <a:latin typeface="Calibri (MS)"/>
                <a:ea typeface="Calibri (MS)"/>
                <a:cs typeface="Calibri (MS)"/>
                <a:sym typeface="Calibri (MS)"/>
              </a:rPr>
              <a:t>Explanation, prediction history, feedback, and report export.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04</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Objectives and contributions</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Built around reproducibility, explainability, and feedback.</a:t>
            </a:r>
          </a:p>
        </p:txBody>
      </p:sp>
      <p:grpSp>
        <p:nvGrpSpPr>
          <p:cNvPr name="Group 10" id="10"/>
          <p:cNvGrpSpPr/>
          <p:nvPr/>
        </p:nvGrpSpPr>
        <p:grpSpPr>
          <a:xfrm rot="0">
            <a:off x="1201283" y="2670038"/>
            <a:ext cx="7768942" cy="5778570"/>
            <a:chOff x="0" y="0"/>
            <a:chExt cx="10358590" cy="7704760"/>
          </a:xfrm>
        </p:grpSpPr>
        <p:sp>
          <p:nvSpPr>
            <p:cNvPr name="Freeform 11" id="11"/>
            <p:cNvSpPr/>
            <p:nvPr/>
          </p:nvSpPr>
          <p:spPr>
            <a:xfrm flipH="false" flipV="false" rot="0">
              <a:off x="0" y="0"/>
              <a:ext cx="10358628" cy="7704709"/>
            </a:xfrm>
            <a:custGeom>
              <a:avLst/>
              <a:gdLst/>
              <a:ahLst/>
              <a:cxnLst/>
              <a:rect r="r" b="b" t="t" l="l"/>
              <a:pathLst>
                <a:path h="7704709" w="10358628">
                  <a:moveTo>
                    <a:pt x="0" y="110109"/>
                  </a:moveTo>
                  <a:cubicBezTo>
                    <a:pt x="0" y="49276"/>
                    <a:pt x="49276" y="0"/>
                    <a:pt x="110109" y="0"/>
                  </a:cubicBezTo>
                  <a:lnTo>
                    <a:pt x="10248519" y="0"/>
                  </a:lnTo>
                  <a:cubicBezTo>
                    <a:pt x="10309352" y="0"/>
                    <a:pt x="10358628" y="49276"/>
                    <a:pt x="10358628" y="110109"/>
                  </a:cubicBezTo>
                  <a:lnTo>
                    <a:pt x="10358628" y="7594600"/>
                  </a:lnTo>
                  <a:cubicBezTo>
                    <a:pt x="10358628" y="7655433"/>
                    <a:pt x="10309352" y="7704709"/>
                    <a:pt x="10248519" y="7704709"/>
                  </a:cubicBezTo>
                  <a:lnTo>
                    <a:pt x="110109" y="7704709"/>
                  </a:lnTo>
                  <a:cubicBezTo>
                    <a:pt x="49276" y="7704709"/>
                    <a:pt x="0" y="7655433"/>
                    <a:pt x="0" y="7594600"/>
                  </a:cubicBezTo>
                  <a:close/>
                </a:path>
              </a:pathLst>
            </a:custGeom>
            <a:solidFill>
              <a:srgbClr val="FFFFFF"/>
            </a:solidFill>
            <a:ln w="13345" cap="sq">
              <a:solidFill>
                <a:srgbClr val="D6D0C8"/>
              </a:solidFill>
              <a:prstDash val="solid"/>
              <a:miter/>
            </a:ln>
          </p:spPr>
        </p:sp>
      </p:grpSp>
      <p:sp>
        <p:nvSpPr>
          <p:cNvPr name="TextBox 12" id="12"/>
          <p:cNvSpPr txBox="true"/>
          <p:nvPr/>
        </p:nvSpPr>
        <p:spPr>
          <a:xfrm rot="0">
            <a:off x="1647206" y="3088510"/>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OBJECTIVES</a:t>
            </a:r>
          </a:p>
        </p:txBody>
      </p:sp>
      <p:sp>
        <p:nvSpPr>
          <p:cNvPr name="TextBox 13" id="13"/>
          <p:cNvSpPr txBox="true"/>
          <p:nvPr/>
        </p:nvSpPr>
        <p:spPr>
          <a:xfrm rot="0">
            <a:off x="1674914" y="3695824"/>
            <a:ext cx="6451054" cy="1719789"/>
          </a:xfrm>
          <a:prstGeom prst="rect">
            <a:avLst/>
          </a:prstGeom>
        </p:spPr>
        <p:txBody>
          <a:bodyPr anchor="t" rtlCol="false" tIns="0" lIns="0" bIns="0" rIns="0">
            <a:spAutoFit/>
          </a:bodyPr>
          <a:lstStyle/>
          <a:p>
            <a:pPr algn="l">
              <a:lnSpc>
                <a:spcPts val="2203"/>
              </a:lnSpc>
            </a:pPr>
            <a:r>
              <a:rPr lang="en-US" sz="1996">
                <a:solidFill>
                  <a:srgbClr val="1E293B"/>
                </a:solidFill>
                <a:latin typeface="Calibri (MS)"/>
                <a:ea typeface="Calibri (MS)"/>
                <a:cs typeface="Calibri (MS)"/>
                <a:sym typeface="Calibri (MS)"/>
              </a:rPr>
              <a:t>Build a web-based Vietnamese news reliability screening tool.</a:t>
            </a:r>
          </a:p>
          <a:p>
            <a:pPr algn="l">
              <a:lnSpc>
                <a:spcPts val="2203"/>
              </a:lnSpc>
            </a:pPr>
            <a:r>
              <a:rPr lang="en-US" sz="1996">
                <a:solidFill>
                  <a:srgbClr val="1E293B"/>
                </a:solidFill>
                <a:latin typeface="Calibri (MS)"/>
                <a:ea typeface="Calibri (MS)"/>
                <a:cs typeface="Calibri (MS)"/>
                <a:sym typeface="Calibri (MS)"/>
              </a:rPr>
              <a:t>Train and compare supervised ML baselines for fake/clickbait detection.</a:t>
            </a:r>
          </a:p>
          <a:p>
            <a:pPr algn="l">
              <a:lnSpc>
                <a:spcPts val="2203"/>
              </a:lnSpc>
            </a:pPr>
            <a:r>
              <a:rPr lang="en-US" sz="1996">
                <a:solidFill>
                  <a:srgbClr val="1E293B"/>
                </a:solidFill>
                <a:latin typeface="Calibri (MS)"/>
                <a:ea typeface="Calibri (MS)"/>
                <a:cs typeface="Calibri (MS)"/>
                <a:sym typeface="Calibri (MS)"/>
              </a:rPr>
              <a:t>Visualize risk, model signals, suspicious terms, and prediction history.</a:t>
            </a:r>
          </a:p>
          <a:p>
            <a:pPr algn="l">
              <a:lnSpc>
                <a:spcPts val="2203"/>
              </a:lnSpc>
            </a:pPr>
            <a:r>
              <a:rPr lang="en-US" sz="1996">
                <a:solidFill>
                  <a:srgbClr val="1E293B"/>
                </a:solidFill>
                <a:latin typeface="Calibri (MS)"/>
                <a:ea typeface="Calibri (MS)"/>
                <a:cs typeface="Calibri (MS)"/>
                <a:sym typeface="Calibri (MS)"/>
              </a:rPr>
              <a:t>Collect feedback as a future retraining source.</a:t>
            </a:r>
          </a:p>
        </p:txBody>
      </p:sp>
      <p:grpSp>
        <p:nvGrpSpPr>
          <p:cNvPr name="Group 14" id="14"/>
          <p:cNvGrpSpPr/>
          <p:nvPr/>
        </p:nvGrpSpPr>
        <p:grpSpPr>
          <a:xfrm rot="0">
            <a:off x="9396136" y="2670038"/>
            <a:ext cx="7768942" cy="5778570"/>
            <a:chOff x="0" y="0"/>
            <a:chExt cx="10358590" cy="7704760"/>
          </a:xfrm>
        </p:grpSpPr>
        <p:sp>
          <p:nvSpPr>
            <p:cNvPr name="Freeform 15" id="15"/>
            <p:cNvSpPr/>
            <p:nvPr/>
          </p:nvSpPr>
          <p:spPr>
            <a:xfrm flipH="false" flipV="false" rot="0">
              <a:off x="0" y="0"/>
              <a:ext cx="10358628" cy="7704709"/>
            </a:xfrm>
            <a:custGeom>
              <a:avLst/>
              <a:gdLst/>
              <a:ahLst/>
              <a:cxnLst/>
              <a:rect r="r" b="b" t="t" l="l"/>
              <a:pathLst>
                <a:path h="7704709" w="10358628">
                  <a:moveTo>
                    <a:pt x="0" y="110109"/>
                  </a:moveTo>
                  <a:cubicBezTo>
                    <a:pt x="0" y="49276"/>
                    <a:pt x="49276" y="0"/>
                    <a:pt x="110109" y="0"/>
                  </a:cubicBezTo>
                  <a:lnTo>
                    <a:pt x="10248519" y="0"/>
                  </a:lnTo>
                  <a:cubicBezTo>
                    <a:pt x="10309352" y="0"/>
                    <a:pt x="10358628" y="49276"/>
                    <a:pt x="10358628" y="110109"/>
                  </a:cubicBezTo>
                  <a:lnTo>
                    <a:pt x="10358628" y="7594600"/>
                  </a:lnTo>
                  <a:cubicBezTo>
                    <a:pt x="10358628" y="7655433"/>
                    <a:pt x="10309352" y="7704709"/>
                    <a:pt x="10248519" y="7704709"/>
                  </a:cubicBezTo>
                  <a:lnTo>
                    <a:pt x="110109" y="7704709"/>
                  </a:lnTo>
                  <a:cubicBezTo>
                    <a:pt x="49276" y="7704709"/>
                    <a:pt x="0" y="7655433"/>
                    <a:pt x="0" y="7594600"/>
                  </a:cubicBezTo>
                  <a:close/>
                </a:path>
              </a:pathLst>
            </a:custGeom>
            <a:solidFill>
              <a:srgbClr val="FFFFFF"/>
            </a:solidFill>
            <a:ln w="13345" cap="sq">
              <a:solidFill>
                <a:srgbClr val="D6D0C8"/>
              </a:solidFill>
              <a:prstDash val="solid"/>
              <a:miter/>
            </a:ln>
          </p:spPr>
        </p:sp>
      </p:grpSp>
      <p:sp>
        <p:nvSpPr>
          <p:cNvPr name="TextBox 16" id="16"/>
          <p:cNvSpPr txBox="true"/>
          <p:nvPr/>
        </p:nvSpPr>
        <p:spPr>
          <a:xfrm rot="0">
            <a:off x="9842059" y="3088510"/>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CONTRIBUTIONS</a:t>
            </a:r>
          </a:p>
        </p:txBody>
      </p:sp>
      <p:sp>
        <p:nvSpPr>
          <p:cNvPr name="TextBox 17" id="17"/>
          <p:cNvSpPr txBox="true"/>
          <p:nvPr/>
        </p:nvSpPr>
        <p:spPr>
          <a:xfrm rot="0">
            <a:off x="9869767" y="3714874"/>
            <a:ext cx="6451054" cy="2253234"/>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Reproducible data pipeline: download, clean, split, train, evaluate.</a:t>
            </a:r>
          </a:p>
          <a:p>
            <a:pPr algn="l">
              <a:lnSpc>
                <a:spcPts val="2208"/>
              </a:lnSpc>
            </a:pPr>
            <a:r>
              <a:rPr lang="en-US" sz="2000">
                <a:solidFill>
                  <a:srgbClr val="1E293B"/>
                </a:solidFill>
                <a:latin typeface="Calibri (MS)"/>
                <a:ea typeface="Calibri (MS)"/>
                <a:cs typeface="Calibri (MS)"/>
                <a:sym typeface="Calibri (MS)"/>
              </a:rPr>
              <a:t>Four-model benchmark with a metric-based best-model decision.</a:t>
            </a:r>
          </a:p>
          <a:p>
            <a:pPr algn="l">
              <a:lnSpc>
                <a:spcPts val="2208"/>
              </a:lnSpc>
            </a:pPr>
            <a:r>
              <a:rPr lang="en-US" sz="2000">
                <a:solidFill>
                  <a:srgbClr val="1E293B"/>
                </a:solidFill>
                <a:latin typeface="Calibri (MS)"/>
                <a:ea typeface="Calibri (MS)"/>
                <a:cs typeface="Calibri (MS)"/>
                <a:sym typeface="Calibri (MS)"/>
              </a:rPr>
              <a:t>Explainable assessment: ML risk, lexical risk, highlights, token contribution.</a:t>
            </a:r>
          </a:p>
          <a:p>
            <a:pPr algn="l">
              <a:lnSpc>
                <a:spcPts val="2208"/>
              </a:lnSpc>
            </a:pPr>
            <a:r>
              <a:rPr lang="en-US" sz="2000">
                <a:solidFill>
                  <a:srgbClr val="1E293B"/>
                </a:solidFill>
                <a:latin typeface="Calibri (MS)"/>
                <a:ea typeface="Calibri (MS)"/>
                <a:cs typeface="Calibri (MS)"/>
                <a:sym typeface="Calibri (MS)"/>
              </a:rPr>
              <a:t>Layered architecture: Streamlit, NLP/ML core, Supabase/PostgreSQL.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05</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Dataset and label convention</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VFND is normalized into a binary reliability screening task.</a:t>
            </a:r>
          </a:p>
        </p:txBody>
      </p:sp>
      <p:grpSp>
        <p:nvGrpSpPr>
          <p:cNvPr name="Group 10" id="10"/>
          <p:cNvGrpSpPr/>
          <p:nvPr/>
        </p:nvGrpSpPr>
        <p:grpSpPr>
          <a:xfrm rot="0">
            <a:off x="1118921" y="2807303"/>
            <a:ext cx="6327638" cy="5160864"/>
            <a:chOff x="0" y="0"/>
            <a:chExt cx="8436851" cy="6881152"/>
          </a:xfrm>
        </p:grpSpPr>
        <p:sp>
          <p:nvSpPr>
            <p:cNvPr name="Freeform 11" id="11"/>
            <p:cNvSpPr/>
            <p:nvPr/>
          </p:nvSpPr>
          <p:spPr>
            <a:xfrm flipH="false" flipV="false" rot="0">
              <a:off x="0" y="0"/>
              <a:ext cx="8436864" cy="6881114"/>
            </a:xfrm>
            <a:custGeom>
              <a:avLst/>
              <a:gdLst/>
              <a:ahLst/>
              <a:cxnLst/>
              <a:rect r="r" b="b" t="t" l="l"/>
              <a:pathLst>
                <a:path h="6881114" w="8436864">
                  <a:moveTo>
                    <a:pt x="0" y="110109"/>
                  </a:moveTo>
                  <a:cubicBezTo>
                    <a:pt x="0" y="49276"/>
                    <a:pt x="49276" y="0"/>
                    <a:pt x="110109" y="0"/>
                  </a:cubicBezTo>
                  <a:lnTo>
                    <a:pt x="8326755" y="0"/>
                  </a:lnTo>
                  <a:cubicBezTo>
                    <a:pt x="8387588" y="0"/>
                    <a:pt x="8436864" y="49276"/>
                    <a:pt x="8436864" y="110109"/>
                  </a:cubicBezTo>
                  <a:lnTo>
                    <a:pt x="8436864" y="6771005"/>
                  </a:lnTo>
                  <a:cubicBezTo>
                    <a:pt x="8436864" y="6831838"/>
                    <a:pt x="8387588" y="6881114"/>
                    <a:pt x="8326755" y="6881114"/>
                  </a:cubicBezTo>
                  <a:lnTo>
                    <a:pt x="110109" y="6881114"/>
                  </a:lnTo>
                  <a:cubicBezTo>
                    <a:pt x="49276" y="6881114"/>
                    <a:pt x="0" y="6831838"/>
                    <a:pt x="0" y="6771005"/>
                  </a:cubicBezTo>
                  <a:close/>
                </a:path>
              </a:pathLst>
            </a:custGeom>
            <a:solidFill>
              <a:srgbClr val="FFFFFF"/>
            </a:solidFill>
            <a:ln w="13345" cap="sq">
              <a:solidFill>
                <a:srgbClr val="D6D0C8"/>
              </a:solidFill>
              <a:prstDash val="solid"/>
              <a:miter/>
            </a:ln>
          </p:spPr>
        </p:sp>
      </p:grpSp>
      <p:sp>
        <p:nvSpPr>
          <p:cNvPr name="TextBox 12" id="12"/>
          <p:cNvSpPr txBox="true"/>
          <p:nvPr/>
        </p:nvSpPr>
        <p:spPr>
          <a:xfrm rot="0">
            <a:off x="1537392" y="3225784"/>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PRIMARY SOURCE</a:t>
            </a:r>
          </a:p>
        </p:txBody>
      </p:sp>
      <p:sp>
        <p:nvSpPr>
          <p:cNvPr name="TextBox 13" id="13"/>
          <p:cNvSpPr txBox="true"/>
          <p:nvPr/>
        </p:nvSpPr>
        <p:spPr>
          <a:xfrm rot="0">
            <a:off x="1537392" y="3784378"/>
            <a:ext cx="4941618" cy="566995"/>
          </a:xfrm>
          <a:prstGeom prst="rect">
            <a:avLst/>
          </a:prstGeom>
        </p:spPr>
        <p:txBody>
          <a:bodyPr anchor="t" rtlCol="false" tIns="0" lIns="0" bIns="0" rIns="0">
            <a:spAutoFit/>
          </a:bodyPr>
          <a:lstStyle/>
          <a:p>
            <a:pPr algn="l">
              <a:lnSpc>
                <a:spcPts val="2909"/>
              </a:lnSpc>
            </a:pPr>
            <a:r>
              <a:rPr lang="en-US" sz="2551" b="true">
                <a:solidFill>
                  <a:srgbClr val="1E293B"/>
                </a:solidFill>
                <a:latin typeface="Montserrat Bold"/>
                <a:ea typeface="Montserrat Bold"/>
                <a:cs typeface="Montserrat Bold"/>
                <a:sym typeface="Montserrat Bold"/>
              </a:rPr>
              <a:t>VFND Vietnamese Fake News Dataset</a:t>
            </a:r>
          </a:p>
        </p:txBody>
      </p:sp>
      <p:sp>
        <p:nvSpPr>
          <p:cNvPr name="TextBox 14" id="14"/>
          <p:cNvSpPr txBox="true"/>
          <p:nvPr/>
        </p:nvSpPr>
        <p:spPr>
          <a:xfrm rot="0">
            <a:off x="1620012" y="4675746"/>
            <a:ext cx="5215652" cy="1700784"/>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Open research dataset for Vietnamese fake-news studies.</a:t>
            </a:r>
          </a:p>
          <a:p>
            <a:pPr algn="l">
              <a:lnSpc>
                <a:spcPts val="2208"/>
              </a:lnSpc>
            </a:pPr>
            <a:r>
              <a:rPr lang="en-US" sz="2000">
                <a:solidFill>
                  <a:srgbClr val="1E293B"/>
                </a:solidFill>
                <a:latin typeface="Calibri (MS)"/>
                <a:ea typeface="Calibri (MS)"/>
                <a:cs typeface="Calibri (MS)"/>
                <a:sym typeface="Calibri (MS)"/>
              </a:rPr>
              <a:t>Original labels normalized into reliable vs unreliable.</a:t>
            </a:r>
          </a:p>
          <a:p>
            <a:pPr algn="l">
              <a:lnSpc>
                <a:spcPts val="2208"/>
              </a:lnSpc>
            </a:pPr>
            <a:r>
              <a:rPr lang="en-US" sz="2000">
                <a:solidFill>
                  <a:srgbClr val="1E293B"/>
                </a:solidFill>
                <a:latin typeface="Calibri (MS)"/>
                <a:ea typeface="Calibri (MS)"/>
                <a:cs typeface="Calibri (MS)"/>
                <a:sym typeface="Calibri (MS)"/>
              </a:rPr>
              <a:t>Source link is opened during defense for traceability.</a:t>
            </a:r>
          </a:p>
        </p:txBody>
      </p:sp>
      <p:sp>
        <p:nvSpPr>
          <p:cNvPr name="TextBox 15" id="15"/>
          <p:cNvSpPr txBox="true"/>
          <p:nvPr/>
        </p:nvSpPr>
        <p:spPr>
          <a:xfrm rot="0">
            <a:off x="1619755" y="6735623"/>
            <a:ext cx="5147520" cy="621906"/>
          </a:xfrm>
          <a:prstGeom prst="rect">
            <a:avLst/>
          </a:prstGeom>
        </p:spPr>
        <p:txBody>
          <a:bodyPr anchor="t" rtlCol="false" tIns="0" lIns="0" bIns="0" rIns="0">
            <a:spAutoFit/>
          </a:bodyPr>
          <a:lstStyle/>
          <a:p>
            <a:pPr algn="l">
              <a:lnSpc>
                <a:spcPts val="2139"/>
              </a:lnSpc>
            </a:pPr>
            <a:r>
              <a:rPr lang="en-US" sz="1876" b="true">
                <a:solidFill>
                  <a:srgbClr val="1E293B"/>
                </a:solidFill>
                <a:latin typeface="Montserrat Bold"/>
                <a:ea typeface="Montserrat Bold"/>
                <a:cs typeface="Montserrat Bold"/>
                <a:sym typeface="Montserrat Bold"/>
              </a:rPr>
              <a:t>0 = reliable / real news</a:t>
            </a:r>
          </a:p>
          <a:p>
            <a:pPr algn="l">
              <a:lnSpc>
                <a:spcPts val="2139"/>
              </a:lnSpc>
            </a:pPr>
            <a:r>
              <a:rPr lang="en-US" sz="1876" b="true">
                <a:solidFill>
                  <a:srgbClr val="1E293B"/>
                </a:solidFill>
                <a:latin typeface="Montserrat Bold"/>
                <a:ea typeface="Montserrat Bold"/>
                <a:cs typeface="Montserrat Bold"/>
                <a:sym typeface="Montserrat Bold"/>
              </a:rPr>
              <a:t>1 = unreliable / fake / clickbait</a:t>
            </a:r>
          </a:p>
        </p:txBody>
      </p:sp>
      <p:grpSp>
        <p:nvGrpSpPr>
          <p:cNvPr name="Group 16" id="16"/>
          <p:cNvGrpSpPr/>
          <p:nvPr/>
        </p:nvGrpSpPr>
        <p:grpSpPr>
          <a:xfrm rot="0">
            <a:off x="8435264" y="2848489"/>
            <a:ext cx="2415521" cy="1454648"/>
            <a:chOff x="0" y="0"/>
            <a:chExt cx="3220695" cy="1939531"/>
          </a:xfrm>
        </p:grpSpPr>
        <p:sp>
          <p:nvSpPr>
            <p:cNvPr name="Freeform 17" id="17"/>
            <p:cNvSpPr/>
            <p:nvPr/>
          </p:nvSpPr>
          <p:spPr>
            <a:xfrm flipH="false" flipV="false" rot="0">
              <a:off x="0" y="0"/>
              <a:ext cx="3220720" cy="1939544"/>
            </a:xfrm>
            <a:custGeom>
              <a:avLst/>
              <a:gdLst/>
              <a:ahLst/>
              <a:cxnLst/>
              <a:rect r="r" b="b" t="t" l="l"/>
              <a:pathLst>
                <a:path h="1939544" w="3220720">
                  <a:moveTo>
                    <a:pt x="0" y="110871"/>
                  </a:moveTo>
                  <a:cubicBezTo>
                    <a:pt x="0" y="49657"/>
                    <a:pt x="49657" y="0"/>
                    <a:pt x="110871" y="0"/>
                  </a:cubicBezTo>
                  <a:lnTo>
                    <a:pt x="3109849" y="0"/>
                  </a:lnTo>
                  <a:cubicBezTo>
                    <a:pt x="3171063" y="0"/>
                    <a:pt x="3220720" y="49657"/>
                    <a:pt x="3220720" y="110871"/>
                  </a:cubicBezTo>
                  <a:lnTo>
                    <a:pt x="3220720" y="1828673"/>
                  </a:lnTo>
                  <a:cubicBezTo>
                    <a:pt x="3220720" y="1889887"/>
                    <a:pt x="3171063" y="1939544"/>
                    <a:pt x="3109849" y="1939544"/>
                  </a:cubicBezTo>
                  <a:lnTo>
                    <a:pt x="110871" y="1939544"/>
                  </a:lnTo>
                  <a:cubicBezTo>
                    <a:pt x="49657" y="1939544"/>
                    <a:pt x="0" y="1889887"/>
                    <a:pt x="0" y="1828673"/>
                  </a:cubicBezTo>
                  <a:close/>
                </a:path>
              </a:pathLst>
            </a:custGeom>
            <a:solidFill>
              <a:srgbClr val="FFFFFF"/>
            </a:solidFill>
            <a:ln w="13345" cap="sq">
              <a:solidFill>
                <a:srgbClr val="D6D0C8"/>
              </a:solidFill>
              <a:prstDash val="solid"/>
              <a:miter/>
            </a:ln>
          </p:spPr>
        </p:sp>
      </p:grpSp>
      <p:sp>
        <p:nvSpPr>
          <p:cNvPr name="TextBox 18" id="18"/>
          <p:cNvSpPr txBox="true"/>
          <p:nvPr/>
        </p:nvSpPr>
        <p:spPr>
          <a:xfrm rot="0">
            <a:off x="8689019" y="3121285"/>
            <a:ext cx="1908010" cy="420205"/>
          </a:xfrm>
          <a:prstGeom prst="rect">
            <a:avLst/>
          </a:prstGeom>
        </p:spPr>
        <p:txBody>
          <a:bodyPr anchor="t" rtlCol="false" tIns="0" lIns="0" bIns="0" rIns="0">
            <a:spAutoFit/>
          </a:bodyPr>
          <a:lstStyle/>
          <a:p>
            <a:pPr algn="l">
              <a:lnSpc>
                <a:spcPts val="4107"/>
              </a:lnSpc>
            </a:pPr>
            <a:r>
              <a:rPr lang="en-US" b="true" sz="3602">
                <a:solidFill>
                  <a:srgbClr val="1E293B"/>
                </a:solidFill>
                <a:latin typeface="Montserrat Bold"/>
                <a:ea typeface="Montserrat Bold"/>
                <a:cs typeface="Montserrat Bold"/>
                <a:sym typeface="Montserrat Bold"/>
              </a:rPr>
              <a:t>350</a:t>
            </a:r>
          </a:p>
        </p:txBody>
      </p:sp>
      <p:sp>
        <p:nvSpPr>
          <p:cNvPr name="TextBox 19" id="19"/>
          <p:cNvSpPr txBox="true"/>
          <p:nvPr/>
        </p:nvSpPr>
        <p:spPr>
          <a:xfrm rot="0">
            <a:off x="8716470" y="3687166"/>
            <a:ext cx="1853108" cy="199049"/>
          </a:xfrm>
          <a:prstGeom prst="rect">
            <a:avLst/>
          </a:prstGeom>
        </p:spPr>
        <p:txBody>
          <a:bodyPr anchor="t" rtlCol="false" tIns="0" lIns="0" bIns="0" rIns="0">
            <a:spAutoFit/>
          </a:bodyPr>
          <a:lstStyle/>
          <a:p>
            <a:pPr algn="l">
              <a:lnSpc>
                <a:spcPts val="1280"/>
              </a:lnSpc>
            </a:pPr>
            <a:r>
              <a:rPr lang="en-US" sz="1185">
                <a:solidFill>
                  <a:srgbClr val="64748B"/>
                </a:solidFill>
                <a:latin typeface="Calibri (MS)"/>
                <a:ea typeface="Calibri (MS)"/>
                <a:cs typeface="Calibri (MS)"/>
                <a:sym typeface="Calibri (MS)"/>
              </a:rPr>
              <a:t>train samples</a:t>
            </a:r>
          </a:p>
        </p:txBody>
      </p:sp>
      <p:grpSp>
        <p:nvGrpSpPr>
          <p:cNvPr name="Group 20" id="20"/>
          <p:cNvGrpSpPr/>
          <p:nvPr/>
        </p:nvGrpSpPr>
        <p:grpSpPr>
          <a:xfrm rot="0">
            <a:off x="11180607" y="2848489"/>
            <a:ext cx="2415521" cy="1454648"/>
            <a:chOff x="0" y="0"/>
            <a:chExt cx="3220695" cy="1939531"/>
          </a:xfrm>
        </p:grpSpPr>
        <p:sp>
          <p:nvSpPr>
            <p:cNvPr name="Freeform 21" id="21"/>
            <p:cNvSpPr/>
            <p:nvPr/>
          </p:nvSpPr>
          <p:spPr>
            <a:xfrm flipH="false" flipV="false" rot="0">
              <a:off x="0" y="0"/>
              <a:ext cx="3220720" cy="1939544"/>
            </a:xfrm>
            <a:custGeom>
              <a:avLst/>
              <a:gdLst/>
              <a:ahLst/>
              <a:cxnLst/>
              <a:rect r="r" b="b" t="t" l="l"/>
              <a:pathLst>
                <a:path h="1939544" w="3220720">
                  <a:moveTo>
                    <a:pt x="0" y="110871"/>
                  </a:moveTo>
                  <a:cubicBezTo>
                    <a:pt x="0" y="49657"/>
                    <a:pt x="49657" y="0"/>
                    <a:pt x="110871" y="0"/>
                  </a:cubicBezTo>
                  <a:lnTo>
                    <a:pt x="3109849" y="0"/>
                  </a:lnTo>
                  <a:cubicBezTo>
                    <a:pt x="3171063" y="0"/>
                    <a:pt x="3220720" y="49657"/>
                    <a:pt x="3220720" y="110871"/>
                  </a:cubicBezTo>
                  <a:lnTo>
                    <a:pt x="3220720" y="1828673"/>
                  </a:lnTo>
                  <a:cubicBezTo>
                    <a:pt x="3220720" y="1889887"/>
                    <a:pt x="3171063" y="1939544"/>
                    <a:pt x="3109849" y="1939544"/>
                  </a:cubicBezTo>
                  <a:lnTo>
                    <a:pt x="110871" y="1939544"/>
                  </a:lnTo>
                  <a:cubicBezTo>
                    <a:pt x="49657" y="1939544"/>
                    <a:pt x="0" y="1889887"/>
                    <a:pt x="0" y="1828673"/>
                  </a:cubicBezTo>
                  <a:close/>
                </a:path>
              </a:pathLst>
            </a:custGeom>
            <a:solidFill>
              <a:srgbClr val="FFFFFF"/>
            </a:solidFill>
            <a:ln w="13345" cap="sq">
              <a:solidFill>
                <a:srgbClr val="D6D0C8"/>
              </a:solidFill>
              <a:prstDash val="solid"/>
              <a:miter/>
            </a:ln>
          </p:spPr>
        </p:sp>
      </p:grpSp>
      <p:sp>
        <p:nvSpPr>
          <p:cNvPr name="TextBox 22" id="22"/>
          <p:cNvSpPr txBox="true"/>
          <p:nvPr/>
        </p:nvSpPr>
        <p:spPr>
          <a:xfrm rot="0">
            <a:off x="11434362" y="3121285"/>
            <a:ext cx="1908010" cy="420205"/>
          </a:xfrm>
          <a:prstGeom prst="rect">
            <a:avLst/>
          </a:prstGeom>
        </p:spPr>
        <p:txBody>
          <a:bodyPr anchor="t" rtlCol="false" tIns="0" lIns="0" bIns="0" rIns="0">
            <a:spAutoFit/>
          </a:bodyPr>
          <a:lstStyle/>
          <a:p>
            <a:pPr algn="l">
              <a:lnSpc>
                <a:spcPts val="4107"/>
              </a:lnSpc>
            </a:pPr>
            <a:r>
              <a:rPr lang="en-US" b="true" sz="3602">
                <a:solidFill>
                  <a:srgbClr val="1E293B"/>
                </a:solidFill>
                <a:latin typeface="Montserrat Bold"/>
                <a:ea typeface="Montserrat Bold"/>
                <a:cs typeface="Montserrat Bold"/>
                <a:sym typeface="Montserrat Bold"/>
              </a:rPr>
              <a:t>75</a:t>
            </a:r>
          </a:p>
        </p:txBody>
      </p:sp>
      <p:sp>
        <p:nvSpPr>
          <p:cNvPr name="TextBox 23" id="23"/>
          <p:cNvSpPr txBox="true"/>
          <p:nvPr/>
        </p:nvSpPr>
        <p:spPr>
          <a:xfrm rot="0">
            <a:off x="11461813" y="3687166"/>
            <a:ext cx="1853108" cy="199049"/>
          </a:xfrm>
          <a:prstGeom prst="rect">
            <a:avLst/>
          </a:prstGeom>
        </p:spPr>
        <p:txBody>
          <a:bodyPr anchor="t" rtlCol="false" tIns="0" lIns="0" bIns="0" rIns="0">
            <a:spAutoFit/>
          </a:bodyPr>
          <a:lstStyle/>
          <a:p>
            <a:pPr algn="l">
              <a:lnSpc>
                <a:spcPts val="1280"/>
              </a:lnSpc>
            </a:pPr>
            <a:r>
              <a:rPr lang="en-US" sz="1185">
                <a:solidFill>
                  <a:srgbClr val="64748B"/>
                </a:solidFill>
                <a:latin typeface="Calibri (MS)"/>
                <a:ea typeface="Calibri (MS)"/>
                <a:cs typeface="Calibri (MS)"/>
                <a:sym typeface="Calibri (MS)"/>
              </a:rPr>
              <a:t>validation samples</a:t>
            </a:r>
          </a:p>
        </p:txBody>
      </p:sp>
      <p:grpSp>
        <p:nvGrpSpPr>
          <p:cNvPr name="Group 24" id="24"/>
          <p:cNvGrpSpPr/>
          <p:nvPr/>
        </p:nvGrpSpPr>
        <p:grpSpPr>
          <a:xfrm rot="0">
            <a:off x="13925950" y="2848489"/>
            <a:ext cx="2415521" cy="1454648"/>
            <a:chOff x="0" y="0"/>
            <a:chExt cx="3220695" cy="1939531"/>
          </a:xfrm>
        </p:grpSpPr>
        <p:sp>
          <p:nvSpPr>
            <p:cNvPr name="Freeform 25" id="25"/>
            <p:cNvSpPr/>
            <p:nvPr/>
          </p:nvSpPr>
          <p:spPr>
            <a:xfrm flipH="false" flipV="false" rot="0">
              <a:off x="0" y="0"/>
              <a:ext cx="3220720" cy="1939544"/>
            </a:xfrm>
            <a:custGeom>
              <a:avLst/>
              <a:gdLst/>
              <a:ahLst/>
              <a:cxnLst/>
              <a:rect r="r" b="b" t="t" l="l"/>
              <a:pathLst>
                <a:path h="1939544" w="3220720">
                  <a:moveTo>
                    <a:pt x="0" y="110871"/>
                  </a:moveTo>
                  <a:cubicBezTo>
                    <a:pt x="0" y="49657"/>
                    <a:pt x="49657" y="0"/>
                    <a:pt x="110871" y="0"/>
                  </a:cubicBezTo>
                  <a:lnTo>
                    <a:pt x="3109849" y="0"/>
                  </a:lnTo>
                  <a:cubicBezTo>
                    <a:pt x="3171063" y="0"/>
                    <a:pt x="3220720" y="49657"/>
                    <a:pt x="3220720" y="110871"/>
                  </a:cubicBezTo>
                  <a:lnTo>
                    <a:pt x="3220720" y="1828673"/>
                  </a:lnTo>
                  <a:cubicBezTo>
                    <a:pt x="3220720" y="1889887"/>
                    <a:pt x="3171063" y="1939544"/>
                    <a:pt x="3109849" y="1939544"/>
                  </a:cubicBezTo>
                  <a:lnTo>
                    <a:pt x="110871" y="1939544"/>
                  </a:lnTo>
                  <a:cubicBezTo>
                    <a:pt x="49657" y="1939544"/>
                    <a:pt x="0" y="1889887"/>
                    <a:pt x="0" y="1828673"/>
                  </a:cubicBezTo>
                  <a:close/>
                </a:path>
              </a:pathLst>
            </a:custGeom>
            <a:solidFill>
              <a:srgbClr val="FFFFFF"/>
            </a:solidFill>
            <a:ln w="13345" cap="sq">
              <a:solidFill>
                <a:srgbClr val="D6D0C8"/>
              </a:solidFill>
              <a:prstDash val="solid"/>
              <a:miter/>
            </a:ln>
          </p:spPr>
        </p:sp>
      </p:grpSp>
      <p:sp>
        <p:nvSpPr>
          <p:cNvPr name="TextBox 26" id="26"/>
          <p:cNvSpPr txBox="true"/>
          <p:nvPr/>
        </p:nvSpPr>
        <p:spPr>
          <a:xfrm rot="0">
            <a:off x="14179706" y="3121285"/>
            <a:ext cx="1908010" cy="420205"/>
          </a:xfrm>
          <a:prstGeom prst="rect">
            <a:avLst/>
          </a:prstGeom>
        </p:spPr>
        <p:txBody>
          <a:bodyPr anchor="t" rtlCol="false" tIns="0" lIns="0" bIns="0" rIns="0">
            <a:spAutoFit/>
          </a:bodyPr>
          <a:lstStyle/>
          <a:p>
            <a:pPr algn="l">
              <a:lnSpc>
                <a:spcPts val="4107"/>
              </a:lnSpc>
            </a:pPr>
            <a:r>
              <a:rPr lang="en-US" b="true" sz="3602">
                <a:solidFill>
                  <a:srgbClr val="1E293B"/>
                </a:solidFill>
                <a:latin typeface="Montserrat Bold"/>
                <a:ea typeface="Montserrat Bold"/>
                <a:cs typeface="Montserrat Bold"/>
                <a:sym typeface="Montserrat Bold"/>
              </a:rPr>
              <a:t>75</a:t>
            </a:r>
          </a:p>
        </p:txBody>
      </p:sp>
      <p:sp>
        <p:nvSpPr>
          <p:cNvPr name="TextBox 27" id="27"/>
          <p:cNvSpPr txBox="true"/>
          <p:nvPr/>
        </p:nvSpPr>
        <p:spPr>
          <a:xfrm rot="0">
            <a:off x="14207157" y="3687166"/>
            <a:ext cx="1853108" cy="199049"/>
          </a:xfrm>
          <a:prstGeom prst="rect">
            <a:avLst/>
          </a:prstGeom>
        </p:spPr>
        <p:txBody>
          <a:bodyPr anchor="t" rtlCol="false" tIns="0" lIns="0" bIns="0" rIns="0">
            <a:spAutoFit/>
          </a:bodyPr>
          <a:lstStyle/>
          <a:p>
            <a:pPr algn="l">
              <a:lnSpc>
                <a:spcPts val="1280"/>
              </a:lnSpc>
            </a:pPr>
            <a:r>
              <a:rPr lang="en-US" sz="1185">
                <a:solidFill>
                  <a:srgbClr val="64748B"/>
                </a:solidFill>
                <a:latin typeface="Calibri (MS)"/>
                <a:ea typeface="Calibri (MS)"/>
                <a:cs typeface="Calibri (MS)"/>
                <a:sym typeface="Calibri (MS)"/>
              </a:rPr>
              <a:t>test samples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06</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Data preparation evidence</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Cleaning is part of the contribution, not a hidden step.</a:t>
            </a:r>
          </a:p>
        </p:txBody>
      </p:sp>
      <p:sp>
        <p:nvSpPr>
          <p:cNvPr name="TextBox 10" id="10"/>
          <p:cNvSpPr txBox="true"/>
          <p:nvPr/>
        </p:nvSpPr>
        <p:spPr>
          <a:xfrm rot="0">
            <a:off x="823608" y="9795558"/>
            <a:ext cx="8236039" cy="159492"/>
          </a:xfrm>
          <a:prstGeom prst="rect">
            <a:avLst/>
          </a:prstGeom>
        </p:spPr>
        <p:txBody>
          <a:bodyPr anchor="t" rtlCol="false" tIns="0" lIns="0" bIns="0" rIns="0">
            <a:spAutoFit/>
          </a:bodyPr>
          <a:lstStyle/>
          <a:p>
            <a:pPr algn="l">
              <a:lnSpc>
                <a:spcPts val="1061"/>
              </a:lnSpc>
            </a:pPr>
            <a:r>
              <a:rPr lang="en-US" sz="930">
                <a:solidFill>
                  <a:srgbClr val="8A8178"/>
                </a:solidFill>
                <a:latin typeface="Calibri (MS)"/>
                <a:ea typeface="Calibri (MS)"/>
                <a:cs typeface="Calibri (MS)"/>
                <a:sym typeface="Calibri (MS)"/>
              </a:rPr>
              <a:t>News Reliability Assessment</a:t>
            </a:r>
          </a:p>
        </p:txBody>
      </p:sp>
      <p:grpSp>
        <p:nvGrpSpPr>
          <p:cNvPr name="Group 11" id="11"/>
          <p:cNvGrpSpPr/>
          <p:nvPr/>
        </p:nvGrpSpPr>
        <p:grpSpPr>
          <a:xfrm rot="0">
            <a:off x="1228735" y="2738676"/>
            <a:ext cx="2895962" cy="1523286"/>
            <a:chOff x="0" y="0"/>
            <a:chExt cx="3861283" cy="2031048"/>
          </a:xfrm>
        </p:grpSpPr>
        <p:sp>
          <p:nvSpPr>
            <p:cNvPr name="Freeform 12" id="12"/>
            <p:cNvSpPr/>
            <p:nvPr/>
          </p:nvSpPr>
          <p:spPr>
            <a:xfrm flipH="false" flipV="false" rot="0">
              <a:off x="0" y="0"/>
              <a:ext cx="3861181" cy="2030984"/>
            </a:xfrm>
            <a:custGeom>
              <a:avLst/>
              <a:gdLst/>
              <a:ahLst/>
              <a:cxnLst/>
              <a:rect r="r" b="b" t="t" l="l"/>
              <a:pathLst>
                <a:path h="2030984" w="3861181">
                  <a:moveTo>
                    <a:pt x="0" y="110744"/>
                  </a:moveTo>
                  <a:cubicBezTo>
                    <a:pt x="0" y="49657"/>
                    <a:pt x="49657" y="0"/>
                    <a:pt x="110744" y="0"/>
                  </a:cubicBezTo>
                  <a:lnTo>
                    <a:pt x="3750437" y="0"/>
                  </a:lnTo>
                  <a:cubicBezTo>
                    <a:pt x="3811651" y="0"/>
                    <a:pt x="3861181" y="49657"/>
                    <a:pt x="3861181" y="110744"/>
                  </a:cubicBezTo>
                  <a:lnTo>
                    <a:pt x="3861181" y="1920240"/>
                  </a:lnTo>
                  <a:cubicBezTo>
                    <a:pt x="3861181" y="1981454"/>
                    <a:pt x="3811524" y="2030984"/>
                    <a:pt x="3750437" y="2030984"/>
                  </a:cubicBezTo>
                  <a:lnTo>
                    <a:pt x="110744" y="2030984"/>
                  </a:lnTo>
                  <a:cubicBezTo>
                    <a:pt x="49530" y="2030984"/>
                    <a:pt x="0" y="1981327"/>
                    <a:pt x="0" y="1920240"/>
                  </a:cubicBezTo>
                  <a:close/>
                </a:path>
              </a:pathLst>
            </a:custGeom>
            <a:solidFill>
              <a:srgbClr val="FFFFFF"/>
            </a:solidFill>
            <a:ln w="13345" cap="sq">
              <a:solidFill>
                <a:srgbClr val="D6D0C8"/>
              </a:solidFill>
              <a:prstDash val="solid"/>
              <a:miter/>
            </a:ln>
          </p:spPr>
        </p:sp>
      </p:grpSp>
      <p:sp>
        <p:nvSpPr>
          <p:cNvPr name="TextBox 13" id="13"/>
          <p:cNvSpPr txBox="true"/>
          <p:nvPr/>
        </p:nvSpPr>
        <p:spPr>
          <a:xfrm rot="0">
            <a:off x="1482490" y="3011472"/>
            <a:ext cx="2388451" cy="420205"/>
          </a:xfrm>
          <a:prstGeom prst="rect">
            <a:avLst/>
          </a:prstGeom>
        </p:spPr>
        <p:txBody>
          <a:bodyPr anchor="t" rtlCol="false" tIns="0" lIns="0" bIns="0" rIns="0">
            <a:spAutoFit/>
          </a:bodyPr>
          <a:lstStyle/>
          <a:p>
            <a:pPr algn="l">
              <a:lnSpc>
                <a:spcPts val="4107"/>
              </a:lnSpc>
            </a:pPr>
            <a:r>
              <a:rPr lang="en-US" b="true" sz="3602">
                <a:solidFill>
                  <a:srgbClr val="1E293B"/>
                </a:solidFill>
                <a:latin typeface="Montserrat Bold"/>
                <a:ea typeface="Montserrat Bold"/>
                <a:cs typeface="Montserrat Bold"/>
                <a:sym typeface="Montserrat Bold"/>
              </a:rPr>
              <a:t>31.32%</a:t>
            </a:r>
          </a:p>
        </p:txBody>
      </p:sp>
      <p:sp>
        <p:nvSpPr>
          <p:cNvPr name="TextBox 14" id="14"/>
          <p:cNvSpPr txBox="true"/>
          <p:nvPr/>
        </p:nvSpPr>
        <p:spPr>
          <a:xfrm rot="0">
            <a:off x="1509941" y="3577352"/>
            <a:ext cx="2333539" cy="199049"/>
          </a:xfrm>
          <a:prstGeom prst="rect">
            <a:avLst/>
          </a:prstGeom>
        </p:spPr>
        <p:txBody>
          <a:bodyPr anchor="t" rtlCol="false" tIns="0" lIns="0" bIns="0" rIns="0">
            <a:spAutoFit/>
          </a:bodyPr>
          <a:lstStyle/>
          <a:p>
            <a:pPr algn="l">
              <a:lnSpc>
                <a:spcPts val="1280"/>
              </a:lnSpc>
            </a:pPr>
            <a:r>
              <a:rPr lang="en-US" sz="1185">
                <a:solidFill>
                  <a:srgbClr val="64748B"/>
                </a:solidFill>
                <a:latin typeface="Calibri (MS)"/>
                <a:ea typeface="Calibri (MS)"/>
                <a:cs typeface="Calibri (MS)"/>
                <a:sym typeface="Calibri (MS)"/>
              </a:rPr>
              <a:t>duplicate ratio removed</a:t>
            </a:r>
          </a:p>
        </p:txBody>
      </p:sp>
      <p:grpSp>
        <p:nvGrpSpPr>
          <p:cNvPr name="Group 15" id="15"/>
          <p:cNvGrpSpPr/>
          <p:nvPr/>
        </p:nvGrpSpPr>
        <p:grpSpPr>
          <a:xfrm rot="0">
            <a:off x="4454509" y="2738676"/>
            <a:ext cx="2895962" cy="1523286"/>
            <a:chOff x="0" y="0"/>
            <a:chExt cx="3861283" cy="2031048"/>
          </a:xfrm>
        </p:grpSpPr>
        <p:sp>
          <p:nvSpPr>
            <p:cNvPr name="Freeform 16" id="16"/>
            <p:cNvSpPr/>
            <p:nvPr/>
          </p:nvSpPr>
          <p:spPr>
            <a:xfrm flipH="false" flipV="false" rot="0">
              <a:off x="0" y="0"/>
              <a:ext cx="3861181" cy="2030984"/>
            </a:xfrm>
            <a:custGeom>
              <a:avLst/>
              <a:gdLst/>
              <a:ahLst/>
              <a:cxnLst/>
              <a:rect r="r" b="b" t="t" l="l"/>
              <a:pathLst>
                <a:path h="2030984" w="3861181">
                  <a:moveTo>
                    <a:pt x="0" y="110744"/>
                  </a:moveTo>
                  <a:cubicBezTo>
                    <a:pt x="0" y="49657"/>
                    <a:pt x="49657" y="0"/>
                    <a:pt x="110744" y="0"/>
                  </a:cubicBezTo>
                  <a:lnTo>
                    <a:pt x="3750437" y="0"/>
                  </a:lnTo>
                  <a:cubicBezTo>
                    <a:pt x="3811651" y="0"/>
                    <a:pt x="3861181" y="49657"/>
                    <a:pt x="3861181" y="110744"/>
                  </a:cubicBezTo>
                  <a:lnTo>
                    <a:pt x="3861181" y="1920240"/>
                  </a:lnTo>
                  <a:cubicBezTo>
                    <a:pt x="3861181" y="1981454"/>
                    <a:pt x="3811524" y="2030984"/>
                    <a:pt x="3750437" y="2030984"/>
                  </a:cubicBezTo>
                  <a:lnTo>
                    <a:pt x="110744" y="2030984"/>
                  </a:lnTo>
                  <a:cubicBezTo>
                    <a:pt x="49530" y="2030984"/>
                    <a:pt x="0" y="1981327"/>
                    <a:pt x="0" y="1920240"/>
                  </a:cubicBezTo>
                  <a:close/>
                </a:path>
              </a:pathLst>
            </a:custGeom>
            <a:solidFill>
              <a:srgbClr val="FFFFFF"/>
            </a:solidFill>
            <a:ln w="13345" cap="sq">
              <a:solidFill>
                <a:srgbClr val="D6D0C8"/>
              </a:solidFill>
              <a:prstDash val="solid"/>
              <a:miter/>
            </a:ln>
          </p:spPr>
        </p:sp>
      </p:grpSp>
      <p:sp>
        <p:nvSpPr>
          <p:cNvPr name="TextBox 17" id="17"/>
          <p:cNvSpPr txBox="true"/>
          <p:nvPr/>
        </p:nvSpPr>
        <p:spPr>
          <a:xfrm rot="0">
            <a:off x="4708265" y="3011472"/>
            <a:ext cx="2388451" cy="420205"/>
          </a:xfrm>
          <a:prstGeom prst="rect">
            <a:avLst/>
          </a:prstGeom>
        </p:spPr>
        <p:txBody>
          <a:bodyPr anchor="t" rtlCol="false" tIns="0" lIns="0" bIns="0" rIns="0">
            <a:spAutoFit/>
          </a:bodyPr>
          <a:lstStyle/>
          <a:p>
            <a:pPr algn="l">
              <a:lnSpc>
                <a:spcPts val="4107"/>
              </a:lnSpc>
            </a:pPr>
            <a:r>
              <a:rPr lang="en-US" b="true" sz="3602">
                <a:solidFill>
                  <a:srgbClr val="1E293B"/>
                </a:solidFill>
                <a:latin typeface="Montserrat Bold"/>
                <a:ea typeface="Montserrat Bold"/>
                <a:cs typeface="Montserrat Bold"/>
                <a:sym typeface="Montserrat Bold"/>
              </a:rPr>
              <a:t>20</a:t>
            </a:r>
          </a:p>
        </p:txBody>
      </p:sp>
      <p:sp>
        <p:nvSpPr>
          <p:cNvPr name="TextBox 18" id="18"/>
          <p:cNvSpPr txBox="true"/>
          <p:nvPr/>
        </p:nvSpPr>
        <p:spPr>
          <a:xfrm rot="0">
            <a:off x="4735716" y="3577352"/>
            <a:ext cx="2333539" cy="199049"/>
          </a:xfrm>
          <a:prstGeom prst="rect">
            <a:avLst/>
          </a:prstGeom>
        </p:spPr>
        <p:txBody>
          <a:bodyPr anchor="t" rtlCol="false" tIns="0" lIns="0" bIns="0" rIns="0">
            <a:spAutoFit/>
          </a:bodyPr>
          <a:lstStyle/>
          <a:p>
            <a:pPr algn="l">
              <a:lnSpc>
                <a:spcPts val="1280"/>
              </a:lnSpc>
            </a:pPr>
            <a:r>
              <a:rPr lang="en-US" sz="1185">
                <a:solidFill>
                  <a:srgbClr val="64748B"/>
                </a:solidFill>
                <a:latin typeface="Calibri (MS)"/>
                <a:ea typeface="Calibri (MS)"/>
                <a:cs typeface="Calibri (MS)"/>
                <a:sym typeface="Calibri (MS)"/>
              </a:rPr>
              <a:t>minimum length threshold</a:t>
            </a:r>
          </a:p>
        </p:txBody>
      </p:sp>
      <p:grpSp>
        <p:nvGrpSpPr>
          <p:cNvPr name="Group 19" id="19"/>
          <p:cNvGrpSpPr/>
          <p:nvPr/>
        </p:nvGrpSpPr>
        <p:grpSpPr>
          <a:xfrm rot="0">
            <a:off x="7680293" y="2738676"/>
            <a:ext cx="2895962" cy="1523286"/>
            <a:chOff x="0" y="0"/>
            <a:chExt cx="3861283" cy="2031048"/>
          </a:xfrm>
        </p:grpSpPr>
        <p:sp>
          <p:nvSpPr>
            <p:cNvPr name="Freeform 20" id="20"/>
            <p:cNvSpPr/>
            <p:nvPr/>
          </p:nvSpPr>
          <p:spPr>
            <a:xfrm flipH="false" flipV="false" rot="0">
              <a:off x="0" y="0"/>
              <a:ext cx="3861181" cy="2030984"/>
            </a:xfrm>
            <a:custGeom>
              <a:avLst/>
              <a:gdLst/>
              <a:ahLst/>
              <a:cxnLst/>
              <a:rect r="r" b="b" t="t" l="l"/>
              <a:pathLst>
                <a:path h="2030984" w="3861181">
                  <a:moveTo>
                    <a:pt x="0" y="110744"/>
                  </a:moveTo>
                  <a:cubicBezTo>
                    <a:pt x="0" y="49657"/>
                    <a:pt x="49657" y="0"/>
                    <a:pt x="110744" y="0"/>
                  </a:cubicBezTo>
                  <a:lnTo>
                    <a:pt x="3750437" y="0"/>
                  </a:lnTo>
                  <a:cubicBezTo>
                    <a:pt x="3811651" y="0"/>
                    <a:pt x="3861181" y="49657"/>
                    <a:pt x="3861181" y="110744"/>
                  </a:cubicBezTo>
                  <a:lnTo>
                    <a:pt x="3861181" y="1920240"/>
                  </a:lnTo>
                  <a:cubicBezTo>
                    <a:pt x="3861181" y="1981454"/>
                    <a:pt x="3811524" y="2030984"/>
                    <a:pt x="3750437" y="2030984"/>
                  </a:cubicBezTo>
                  <a:lnTo>
                    <a:pt x="110744" y="2030984"/>
                  </a:lnTo>
                  <a:cubicBezTo>
                    <a:pt x="49530" y="2030984"/>
                    <a:pt x="0" y="1981327"/>
                    <a:pt x="0" y="1920240"/>
                  </a:cubicBezTo>
                  <a:close/>
                </a:path>
              </a:pathLst>
            </a:custGeom>
            <a:solidFill>
              <a:srgbClr val="FFFFFF"/>
            </a:solidFill>
            <a:ln w="13345" cap="sq">
              <a:solidFill>
                <a:srgbClr val="D6D0C8"/>
              </a:solidFill>
              <a:prstDash val="solid"/>
              <a:miter/>
            </a:ln>
          </p:spPr>
        </p:sp>
      </p:grpSp>
      <p:sp>
        <p:nvSpPr>
          <p:cNvPr name="TextBox 21" id="21"/>
          <p:cNvSpPr txBox="true"/>
          <p:nvPr/>
        </p:nvSpPr>
        <p:spPr>
          <a:xfrm rot="0">
            <a:off x="7934049" y="3011472"/>
            <a:ext cx="2388451" cy="420205"/>
          </a:xfrm>
          <a:prstGeom prst="rect">
            <a:avLst/>
          </a:prstGeom>
        </p:spPr>
        <p:txBody>
          <a:bodyPr anchor="t" rtlCol="false" tIns="0" lIns="0" bIns="0" rIns="0">
            <a:spAutoFit/>
          </a:bodyPr>
          <a:lstStyle/>
          <a:p>
            <a:pPr algn="l">
              <a:lnSpc>
                <a:spcPts val="4107"/>
              </a:lnSpc>
            </a:pPr>
            <a:r>
              <a:rPr lang="en-US" b="true" sz="3602">
                <a:solidFill>
                  <a:srgbClr val="1E293B"/>
                </a:solidFill>
                <a:latin typeface="Montserrat Bold"/>
                <a:ea typeface="Montserrat Bold"/>
                <a:cs typeface="Montserrat Bold"/>
                <a:sym typeface="Montserrat Bold"/>
              </a:rPr>
              <a:t>251</a:t>
            </a:r>
          </a:p>
        </p:txBody>
      </p:sp>
      <p:sp>
        <p:nvSpPr>
          <p:cNvPr name="TextBox 22" id="22"/>
          <p:cNvSpPr txBox="true"/>
          <p:nvPr/>
        </p:nvSpPr>
        <p:spPr>
          <a:xfrm rot="0">
            <a:off x="7961500" y="3577352"/>
            <a:ext cx="2333539" cy="199049"/>
          </a:xfrm>
          <a:prstGeom prst="rect">
            <a:avLst/>
          </a:prstGeom>
        </p:spPr>
        <p:txBody>
          <a:bodyPr anchor="t" rtlCol="false" tIns="0" lIns="0" bIns="0" rIns="0">
            <a:spAutoFit/>
          </a:bodyPr>
          <a:lstStyle/>
          <a:p>
            <a:pPr algn="l">
              <a:lnSpc>
                <a:spcPts val="1280"/>
              </a:lnSpc>
            </a:pPr>
            <a:r>
              <a:rPr lang="en-US" sz="1185">
                <a:solidFill>
                  <a:srgbClr val="64748B"/>
                </a:solidFill>
                <a:latin typeface="Calibri (MS)"/>
                <a:ea typeface="Calibri (MS)"/>
                <a:cs typeface="Calibri (MS)"/>
                <a:sym typeface="Calibri (MS)"/>
              </a:rPr>
              <a:t>label 0 count</a:t>
            </a:r>
          </a:p>
        </p:txBody>
      </p:sp>
      <p:grpSp>
        <p:nvGrpSpPr>
          <p:cNvPr name="Group 23" id="23"/>
          <p:cNvGrpSpPr/>
          <p:nvPr/>
        </p:nvGrpSpPr>
        <p:grpSpPr>
          <a:xfrm rot="0">
            <a:off x="10906077" y="2738676"/>
            <a:ext cx="2895962" cy="1523286"/>
            <a:chOff x="0" y="0"/>
            <a:chExt cx="3861283" cy="2031048"/>
          </a:xfrm>
        </p:grpSpPr>
        <p:sp>
          <p:nvSpPr>
            <p:cNvPr name="Freeform 24" id="24"/>
            <p:cNvSpPr/>
            <p:nvPr/>
          </p:nvSpPr>
          <p:spPr>
            <a:xfrm flipH="false" flipV="false" rot="0">
              <a:off x="0" y="0"/>
              <a:ext cx="3861181" cy="2030984"/>
            </a:xfrm>
            <a:custGeom>
              <a:avLst/>
              <a:gdLst/>
              <a:ahLst/>
              <a:cxnLst/>
              <a:rect r="r" b="b" t="t" l="l"/>
              <a:pathLst>
                <a:path h="2030984" w="3861181">
                  <a:moveTo>
                    <a:pt x="0" y="110744"/>
                  </a:moveTo>
                  <a:cubicBezTo>
                    <a:pt x="0" y="49657"/>
                    <a:pt x="49657" y="0"/>
                    <a:pt x="110744" y="0"/>
                  </a:cubicBezTo>
                  <a:lnTo>
                    <a:pt x="3750437" y="0"/>
                  </a:lnTo>
                  <a:cubicBezTo>
                    <a:pt x="3811651" y="0"/>
                    <a:pt x="3861181" y="49657"/>
                    <a:pt x="3861181" y="110744"/>
                  </a:cubicBezTo>
                  <a:lnTo>
                    <a:pt x="3861181" y="1920240"/>
                  </a:lnTo>
                  <a:cubicBezTo>
                    <a:pt x="3861181" y="1981454"/>
                    <a:pt x="3811524" y="2030984"/>
                    <a:pt x="3750437" y="2030984"/>
                  </a:cubicBezTo>
                  <a:lnTo>
                    <a:pt x="110744" y="2030984"/>
                  </a:lnTo>
                  <a:cubicBezTo>
                    <a:pt x="49530" y="2030984"/>
                    <a:pt x="0" y="1981327"/>
                    <a:pt x="0" y="1920240"/>
                  </a:cubicBezTo>
                  <a:close/>
                </a:path>
              </a:pathLst>
            </a:custGeom>
            <a:solidFill>
              <a:srgbClr val="FFFFFF"/>
            </a:solidFill>
            <a:ln w="13345" cap="sq">
              <a:solidFill>
                <a:srgbClr val="D6D0C8"/>
              </a:solidFill>
              <a:prstDash val="solid"/>
              <a:miter/>
            </a:ln>
          </p:spPr>
        </p:sp>
      </p:grpSp>
      <p:sp>
        <p:nvSpPr>
          <p:cNvPr name="TextBox 25" id="25"/>
          <p:cNvSpPr txBox="true"/>
          <p:nvPr/>
        </p:nvSpPr>
        <p:spPr>
          <a:xfrm rot="0">
            <a:off x="11159823" y="3011472"/>
            <a:ext cx="2388451" cy="420205"/>
          </a:xfrm>
          <a:prstGeom prst="rect">
            <a:avLst/>
          </a:prstGeom>
        </p:spPr>
        <p:txBody>
          <a:bodyPr anchor="t" rtlCol="false" tIns="0" lIns="0" bIns="0" rIns="0">
            <a:spAutoFit/>
          </a:bodyPr>
          <a:lstStyle/>
          <a:p>
            <a:pPr algn="l">
              <a:lnSpc>
                <a:spcPts val="4107"/>
              </a:lnSpc>
            </a:pPr>
            <a:r>
              <a:rPr lang="en-US" b="true" sz="3602">
                <a:solidFill>
                  <a:srgbClr val="1E293B"/>
                </a:solidFill>
                <a:latin typeface="Montserrat Bold"/>
                <a:ea typeface="Montserrat Bold"/>
                <a:cs typeface="Montserrat Bold"/>
                <a:sym typeface="Montserrat Bold"/>
              </a:rPr>
              <a:t>249</a:t>
            </a:r>
          </a:p>
        </p:txBody>
      </p:sp>
      <p:sp>
        <p:nvSpPr>
          <p:cNvPr name="TextBox 26" id="26"/>
          <p:cNvSpPr txBox="true"/>
          <p:nvPr/>
        </p:nvSpPr>
        <p:spPr>
          <a:xfrm rot="0">
            <a:off x="11187284" y="3577352"/>
            <a:ext cx="2333539" cy="199049"/>
          </a:xfrm>
          <a:prstGeom prst="rect">
            <a:avLst/>
          </a:prstGeom>
        </p:spPr>
        <p:txBody>
          <a:bodyPr anchor="t" rtlCol="false" tIns="0" lIns="0" bIns="0" rIns="0">
            <a:spAutoFit/>
          </a:bodyPr>
          <a:lstStyle/>
          <a:p>
            <a:pPr algn="l">
              <a:lnSpc>
                <a:spcPts val="1280"/>
              </a:lnSpc>
            </a:pPr>
            <a:r>
              <a:rPr lang="en-US" sz="1185">
                <a:solidFill>
                  <a:srgbClr val="64748B"/>
                </a:solidFill>
                <a:latin typeface="Calibri (MS)"/>
                <a:ea typeface="Calibri (MS)"/>
                <a:cs typeface="Calibri (MS)"/>
                <a:sym typeface="Calibri (MS)"/>
              </a:rPr>
              <a:t>label 1 count</a:t>
            </a:r>
          </a:p>
        </p:txBody>
      </p:sp>
      <p:grpSp>
        <p:nvGrpSpPr>
          <p:cNvPr name="Group 27" id="27"/>
          <p:cNvGrpSpPr/>
          <p:nvPr/>
        </p:nvGrpSpPr>
        <p:grpSpPr>
          <a:xfrm rot="0">
            <a:off x="1228735" y="5140852"/>
            <a:ext cx="7700315" cy="2621423"/>
            <a:chOff x="0" y="0"/>
            <a:chExt cx="10267086" cy="3495230"/>
          </a:xfrm>
        </p:grpSpPr>
        <p:sp>
          <p:nvSpPr>
            <p:cNvPr name="Freeform 28" id="28"/>
            <p:cNvSpPr/>
            <p:nvPr/>
          </p:nvSpPr>
          <p:spPr>
            <a:xfrm flipH="false" flipV="false" rot="0">
              <a:off x="0" y="0"/>
              <a:ext cx="10267061" cy="3495167"/>
            </a:xfrm>
            <a:custGeom>
              <a:avLst/>
              <a:gdLst/>
              <a:ahLst/>
              <a:cxnLst/>
              <a:rect r="r" b="b" t="t" l="l"/>
              <a:pathLst>
                <a:path h="3495167" w="10267061">
                  <a:moveTo>
                    <a:pt x="0" y="110363"/>
                  </a:moveTo>
                  <a:cubicBezTo>
                    <a:pt x="0" y="49403"/>
                    <a:pt x="49403" y="0"/>
                    <a:pt x="110363" y="0"/>
                  </a:cubicBezTo>
                  <a:lnTo>
                    <a:pt x="10156698" y="0"/>
                  </a:lnTo>
                  <a:cubicBezTo>
                    <a:pt x="10217658" y="0"/>
                    <a:pt x="10267061" y="49403"/>
                    <a:pt x="10267061" y="110363"/>
                  </a:cubicBezTo>
                  <a:lnTo>
                    <a:pt x="10267061" y="3384804"/>
                  </a:lnTo>
                  <a:cubicBezTo>
                    <a:pt x="10267061" y="3445764"/>
                    <a:pt x="10217658" y="3495167"/>
                    <a:pt x="10156698" y="3495167"/>
                  </a:cubicBezTo>
                  <a:lnTo>
                    <a:pt x="110363" y="3495167"/>
                  </a:lnTo>
                  <a:cubicBezTo>
                    <a:pt x="49403" y="3495167"/>
                    <a:pt x="0" y="3445764"/>
                    <a:pt x="0" y="3384804"/>
                  </a:cubicBezTo>
                  <a:close/>
                </a:path>
              </a:pathLst>
            </a:custGeom>
            <a:solidFill>
              <a:srgbClr val="FFFFFF"/>
            </a:solidFill>
            <a:ln w="13345" cap="sq">
              <a:solidFill>
                <a:srgbClr val="D6D0C8"/>
              </a:solidFill>
              <a:prstDash val="solid"/>
              <a:miter/>
            </a:ln>
          </p:spPr>
        </p:sp>
      </p:grpSp>
      <p:sp>
        <p:nvSpPr>
          <p:cNvPr name="TextBox 29" id="29"/>
          <p:cNvSpPr txBox="true"/>
          <p:nvPr/>
        </p:nvSpPr>
        <p:spPr>
          <a:xfrm rot="0">
            <a:off x="1619755" y="5518147"/>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CLEANING STEPS</a:t>
            </a:r>
          </a:p>
        </p:txBody>
      </p:sp>
      <p:sp>
        <p:nvSpPr>
          <p:cNvPr name="TextBox 30" id="30"/>
          <p:cNvSpPr txBox="true"/>
          <p:nvPr/>
        </p:nvSpPr>
        <p:spPr>
          <a:xfrm rot="0">
            <a:off x="1620012" y="5993511"/>
            <a:ext cx="6588319" cy="1148334"/>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Remove missing labels and unusable text.</a:t>
            </a:r>
          </a:p>
          <a:p>
            <a:pPr algn="l">
              <a:lnSpc>
                <a:spcPts val="2208"/>
              </a:lnSpc>
            </a:pPr>
            <a:r>
              <a:rPr lang="en-US" sz="2000">
                <a:solidFill>
                  <a:srgbClr val="1E293B"/>
                </a:solidFill>
                <a:latin typeface="Calibri (MS)"/>
                <a:ea typeface="Calibri (MS)"/>
                <a:cs typeface="Calibri (MS)"/>
                <a:sym typeface="Calibri (MS)"/>
              </a:rPr>
              <a:t>Drop duplicates to reduce leakage.</a:t>
            </a:r>
          </a:p>
          <a:p>
            <a:pPr algn="l">
              <a:lnSpc>
                <a:spcPts val="2208"/>
              </a:lnSpc>
            </a:pPr>
            <a:r>
              <a:rPr lang="en-US" sz="2000">
                <a:solidFill>
                  <a:srgbClr val="1E293B"/>
                </a:solidFill>
                <a:latin typeface="Calibri (MS)"/>
                <a:ea typeface="Calibri (MS)"/>
                <a:cs typeface="Calibri (MS)"/>
                <a:sym typeface="Calibri (MS)"/>
              </a:rPr>
              <a:t>Keep only records passing minimum text length.</a:t>
            </a:r>
          </a:p>
          <a:p>
            <a:pPr algn="l">
              <a:lnSpc>
                <a:spcPts val="2208"/>
              </a:lnSpc>
            </a:pPr>
            <a:r>
              <a:rPr lang="en-US" sz="2000">
                <a:solidFill>
                  <a:srgbClr val="1E293B"/>
                </a:solidFill>
                <a:latin typeface="Calibri (MS)"/>
                <a:ea typeface="Calibri (MS)"/>
                <a:cs typeface="Calibri (MS)"/>
                <a:sym typeface="Calibri (MS)"/>
              </a:rPr>
              <a:t>Store processed train.csv, val.csv, and test.csv.</a:t>
            </a:r>
          </a:p>
        </p:txBody>
      </p:sp>
      <p:grpSp>
        <p:nvGrpSpPr>
          <p:cNvPr name="Group 31" id="31"/>
          <p:cNvGrpSpPr/>
          <p:nvPr/>
        </p:nvGrpSpPr>
        <p:grpSpPr>
          <a:xfrm rot="0">
            <a:off x="9396136" y="5140852"/>
            <a:ext cx="7700315" cy="2621423"/>
            <a:chOff x="0" y="0"/>
            <a:chExt cx="10267086" cy="3495230"/>
          </a:xfrm>
        </p:grpSpPr>
        <p:sp>
          <p:nvSpPr>
            <p:cNvPr name="Freeform 32" id="32"/>
            <p:cNvSpPr/>
            <p:nvPr/>
          </p:nvSpPr>
          <p:spPr>
            <a:xfrm flipH="false" flipV="false" rot="0">
              <a:off x="0" y="0"/>
              <a:ext cx="10267061" cy="3495167"/>
            </a:xfrm>
            <a:custGeom>
              <a:avLst/>
              <a:gdLst/>
              <a:ahLst/>
              <a:cxnLst/>
              <a:rect r="r" b="b" t="t" l="l"/>
              <a:pathLst>
                <a:path h="3495167" w="10267061">
                  <a:moveTo>
                    <a:pt x="0" y="110363"/>
                  </a:moveTo>
                  <a:cubicBezTo>
                    <a:pt x="0" y="49403"/>
                    <a:pt x="49403" y="0"/>
                    <a:pt x="110363" y="0"/>
                  </a:cubicBezTo>
                  <a:lnTo>
                    <a:pt x="10156698" y="0"/>
                  </a:lnTo>
                  <a:cubicBezTo>
                    <a:pt x="10217658" y="0"/>
                    <a:pt x="10267061" y="49403"/>
                    <a:pt x="10267061" y="110363"/>
                  </a:cubicBezTo>
                  <a:lnTo>
                    <a:pt x="10267061" y="3384804"/>
                  </a:lnTo>
                  <a:cubicBezTo>
                    <a:pt x="10267061" y="3445764"/>
                    <a:pt x="10217658" y="3495167"/>
                    <a:pt x="10156698" y="3495167"/>
                  </a:cubicBezTo>
                  <a:lnTo>
                    <a:pt x="110363" y="3495167"/>
                  </a:lnTo>
                  <a:cubicBezTo>
                    <a:pt x="49403" y="3495167"/>
                    <a:pt x="0" y="3445764"/>
                    <a:pt x="0" y="3384804"/>
                  </a:cubicBezTo>
                  <a:close/>
                </a:path>
              </a:pathLst>
            </a:custGeom>
            <a:solidFill>
              <a:srgbClr val="FFFFFF"/>
            </a:solidFill>
            <a:ln w="13345" cap="sq">
              <a:solidFill>
                <a:srgbClr val="D6D0C8"/>
              </a:solidFill>
              <a:prstDash val="solid"/>
              <a:miter/>
            </a:ln>
          </p:spPr>
        </p:sp>
      </p:grpSp>
      <p:sp>
        <p:nvSpPr>
          <p:cNvPr name="TextBox 33" id="33"/>
          <p:cNvSpPr txBox="true"/>
          <p:nvPr/>
        </p:nvSpPr>
        <p:spPr>
          <a:xfrm rot="0">
            <a:off x="9787157" y="5518147"/>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WHY IT MATTERS</a:t>
            </a:r>
          </a:p>
        </p:txBody>
      </p:sp>
      <p:sp>
        <p:nvSpPr>
          <p:cNvPr name="TextBox 34" id="34"/>
          <p:cNvSpPr txBox="true"/>
          <p:nvPr/>
        </p:nvSpPr>
        <p:spPr>
          <a:xfrm rot="0">
            <a:off x="9787404" y="5993511"/>
            <a:ext cx="6588319" cy="872109"/>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Clear split prevents training on the final test data.</a:t>
            </a:r>
          </a:p>
          <a:p>
            <a:pPr algn="l">
              <a:lnSpc>
                <a:spcPts val="2208"/>
              </a:lnSpc>
            </a:pPr>
            <a:r>
              <a:rPr lang="en-US" sz="2000">
                <a:solidFill>
                  <a:srgbClr val="1E293B"/>
                </a:solidFill>
                <a:latin typeface="Calibri (MS)"/>
                <a:ea typeface="Calibri (MS)"/>
                <a:cs typeface="Calibri (MS)"/>
                <a:sym typeface="Calibri (MS)"/>
              </a:rPr>
              <a:t>Balanced labels make F1 macro and accuracy meaningful.</a:t>
            </a:r>
          </a:p>
          <a:p>
            <a:pPr algn="l">
              <a:lnSpc>
                <a:spcPts val="2208"/>
              </a:lnSpc>
            </a:pPr>
            <a:r>
              <a:rPr lang="en-US" sz="2000">
                <a:solidFill>
                  <a:srgbClr val="1E293B"/>
                </a:solidFill>
                <a:latin typeface="Calibri (MS)"/>
                <a:ea typeface="Calibri (MS)"/>
                <a:cs typeface="Calibri (MS)"/>
                <a:sym typeface="Calibri (MS)"/>
              </a:rPr>
              <a:t>Dataset profile supports academic traceability.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07</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NLP and ML pipeline</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From raw dataset to exported model artifact.</a:t>
            </a:r>
          </a:p>
        </p:txBody>
      </p:sp>
      <p:grpSp>
        <p:nvGrpSpPr>
          <p:cNvPr name="Group 10" id="10"/>
          <p:cNvGrpSpPr/>
          <p:nvPr/>
        </p:nvGrpSpPr>
        <p:grpSpPr>
          <a:xfrm rot="0">
            <a:off x="1297362" y="2395499"/>
            <a:ext cx="7151246" cy="6327638"/>
            <a:chOff x="0" y="0"/>
            <a:chExt cx="9534995" cy="8436851"/>
          </a:xfrm>
        </p:grpSpPr>
        <p:sp>
          <p:nvSpPr>
            <p:cNvPr name="Freeform 11" id="11"/>
            <p:cNvSpPr/>
            <p:nvPr/>
          </p:nvSpPr>
          <p:spPr>
            <a:xfrm flipH="false" flipV="false" rot="0">
              <a:off x="0" y="0"/>
              <a:ext cx="9534906" cy="8436863"/>
            </a:xfrm>
            <a:custGeom>
              <a:avLst/>
              <a:gdLst/>
              <a:ahLst/>
              <a:cxnLst/>
              <a:rect r="r" b="b" t="t" l="l"/>
              <a:pathLst>
                <a:path h="8436863" w="9534906">
                  <a:moveTo>
                    <a:pt x="0" y="109982"/>
                  </a:moveTo>
                  <a:cubicBezTo>
                    <a:pt x="0" y="49276"/>
                    <a:pt x="49276" y="0"/>
                    <a:pt x="109982" y="0"/>
                  </a:cubicBezTo>
                  <a:lnTo>
                    <a:pt x="9424924" y="0"/>
                  </a:lnTo>
                  <a:cubicBezTo>
                    <a:pt x="9485630" y="0"/>
                    <a:pt x="9534906" y="49276"/>
                    <a:pt x="9534906" y="109982"/>
                  </a:cubicBezTo>
                  <a:lnTo>
                    <a:pt x="9534906" y="8326882"/>
                  </a:lnTo>
                  <a:cubicBezTo>
                    <a:pt x="9534906" y="8387588"/>
                    <a:pt x="9485630" y="8436863"/>
                    <a:pt x="9424924" y="8436863"/>
                  </a:cubicBezTo>
                  <a:lnTo>
                    <a:pt x="109982" y="8436863"/>
                  </a:lnTo>
                  <a:cubicBezTo>
                    <a:pt x="49276" y="8436863"/>
                    <a:pt x="0" y="8387588"/>
                    <a:pt x="0" y="8326882"/>
                  </a:cubicBezTo>
                  <a:close/>
                </a:path>
              </a:pathLst>
            </a:custGeom>
            <a:solidFill>
              <a:srgbClr val="FFFFFF"/>
            </a:solidFill>
            <a:ln w="13345" cap="sq">
              <a:solidFill>
                <a:srgbClr val="D6D0C8"/>
              </a:solidFill>
              <a:prstDash val="solid"/>
              <a:miter/>
            </a:ln>
          </p:spPr>
        </p:sp>
      </p:grpSp>
      <p:grpSp>
        <p:nvGrpSpPr>
          <p:cNvPr name="Group 12" id="12"/>
          <p:cNvGrpSpPr/>
          <p:nvPr/>
        </p:nvGrpSpPr>
        <p:grpSpPr>
          <a:xfrm rot="0">
            <a:off x="1304039" y="2604697"/>
            <a:ext cx="7137892" cy="5909243"/>
            <a:chOff x="0" y="0"/>
            <a:chExt cx="9517190" cy="7878991"/>
          </a:xfrm>
        </p:grpSpPr>
        <p:sp>
          <p:nvSpPr>
            <p:cNvPr name="Freeform 13" id="13" descr="/mnt/data/report1_extract/word/media/image7.png"/>
            <p:cNvSpPr/>
            <p:nvPr/>
          </p:nvSpPr>
          <p:spPr>
            <a:xfrm flipH="false" flipV="false" rot="0">
              <a:off x="0" y="0"/>
              <a:ext cx="9517253" cy="7878953"/>
            </a:xfrm>
            <a:custGeom>
              <a:avLst/>
              <a:gdLst/>
              <a:ahLst/>
              <a:cxnLst/>
              <a:rect r="r" b="b" t="t" l="l"/>
              <a:pathLst>
                <a:path h="7878953" w="9517253">
                  <a:moveTo>
                    <a:pt x="0" y="0"/>
                  </a:moveTo>
                  <a:lnTo>
                    <a:pt x="9517253" y="0"/>
                  </a:lnTo>
                  <a:lnTo>
                    <a:pt x="9517253" y="7878953"/>
                  </a:lnTo>
                  <a:lnTo>
                    <a:pt x="0" y="7878953"/>
                  </a:lnTo>
                  <a:lnTo>
                    <a:pt x="0" y="0"/>
                  </a:lnTo>
                  <a:close/>
                </a:path>
              </a:pathLst>
            </a:custGeom>
            <a:blipFill>
              <a:blip r:embed="rId4"/>
              <a:stretch>
                <a:fillRect l="0" t="0" r="0" b="0"/>
              </a:stretch>
            </a:blipFill>
          </p:spPr>
        </p:sp>
      </p:grpSp>
      <p:sp>
        <p:nvSpPr>
          <p:cNvPr name="TextBox 14" id="14"/>
          <p:cNvSpPr txBox="true"/>
          <p:nvPr/>
        </p:nvSpPr>
        <p:spPr>
          <a:xfrm rot="0">
            <a:off x="9265539" y="2470814"/>
            <a:ext cx="370618" cy="274539"/>
          </a:xfrm>
          <a:prstGeom prst="rect">
            <a:avLst/>
          </a:prstGeom>
        </p:spPr>
        <p:txBody>
          <a:bodyPr anchor="t" rtlCol="false" tIns="0" lIns="0" bIns="0" rIns="0">
            <a:spAutoFit/>
          </a:bodyPr>
          <a:lstStyle/>
          <a:p>
            <a:pPr algn="ctr">
              <a:lnSpc>
                <a:spcPts val="1625"/>
              </a:lnSpc>
            </a:pPr>
            <a:r>
              <a:rPr lang="en-US" sz="1426" b="true">
                <a:solidFill>
                  <a:srgbClr val="B45309"/>
                </a:solidFill>
                <a:latin typeface="Montserrat Bold"/>
                <a:ea typeface="Montserrat Bold"/>
                <a:cs typeface="Montserrat Bold"/>
                <a:sym typeface="Montserrat Bold"/>
              </a:rPr>
              <a:t>1</a:t>
            </a:r>
          </a:p>
        </p:txBody>
      </p:sp>
      <p:grpSp>
        <p:nvGrpSpPr>
          <p:cNvPr name="Group 15" id="15"/>
          <p:cNvGrpSpPr/>
          <p:nvPr/>
        </p:nvGrpSpPr>
        <p:grpSpPr>
          <a:xfrm rot="0">
            <a:off x="9780480" y="2601401"/>
            <a:ext cx="493786" cy="13345"/>
            <a:chOff x="0" y="0"/>
            <a:chExt cx="658381" cy="17793"/>
          </a:xfrm>
        </p:grpSpPr>
        <p:sp>
          <p:nvSpPr>
            <p:cNvPr name="Freeform 16" id="16"/>
            <p:cNvSpPr/>
            <p:nvPr/>
          </p:nvSpPr>
          <p:spPr>
            <a:xfrm flipH="false" flipV="false" rot="0">
              <a:off x="0" y="0"/>
              <a:ext cx="658368" cy="17780"/>
            </a:xfrm>
            <a:custGeom>
              <a:avLst/>
              <a:gdLst/>
              <a:ahLst/>
              <a:cxnLst/>
              <a:rect r="r" b="b" t="t" l="l"/>
              <a:pathLst>
                <a:path h="17780" w="658368">
                  <a:moveTo>
                    <a:pt x="0" y="0"/>
                  </a:moveTo>
                  <a:lnTo>
                    <a:pt x="658368" y="17780"/>
                  </a:lnTo>
                </a:path>
              </a:pathLst>
            </a:custGeom>
            <a:blipFill>
              <a:blip r:embed="rId3">
                <a:alphaModFix amt="0"/>
              </a:blip>
              <a:stretch>
                <a:fillRect l="0" t="-671481" r="-1" b="-671552"/>
              </a:stretch>
            </a:blipFill>
            <a:ln w="13345" cap="sq">
              <a:solidFill>
                <a:srgbClr val="D6D0C8"/>
              </a:solidFill>
              <a:prstDash val="solid"/>
              <a:miter/>
            </a:ln>
          </p:spPr>
        </p:sp>
      </p:grpSp>
      <p:sp>
        <p:nvSpPr>
          <p:cNvPr name="TextBox 17" id="17"/>
          <p:cNvSpPr txBox="true"/>
          <p:nvPr/>
        </p:nvSpPr>
        <p:spPr>
          <a:xfrm rot="0">
            <a:off x="10500941" y="2370525"/>
            <a:ext cx="1647206" cy="292465"/>
          </a:xfrm>
          <a:prstGeom prst="rect">
            <a:avLst/>
          </a:prstGeom>
        </p:spPr>
        <p:txBody>
          <a:bodyPr anchor="t" rtlCol="false" tIns="0" lIns="0" bIns="0" rIns="0">
            <a:spAutoFit/>
          </a:bodyPr>
          <a:lstStyle/>
          <a:p>
            <a:pPr algn="l">
              <a:lnSpc>
                <a:spcPts val="1916"/>
              </a:lnSpc>
            </a:pPr>
            <a:r>
              <a:rPr lang="en-US" sz="1681" b="true">
                <a:solidFill>
                  <a:srgbClr val="1E293B"/>
                </a:solidFill>
                <a:latin typeface="Montserrat Bold"/>
                <a:ea typeface="Montserrat Bold"/>
                <a:cs typeface="Montserrat Bold"/>
                <a:sym typeface="Montserrat Bold"/>
              </a:rPr>
              <a:t>Download</a:t>
            </a:r>
          </a:p>
        </p:txBody>
      </p:sp>
      <p:sp>
        <p:nvSpPr>
          <p:cNvPr name="TextBox 18" id="18"/>
          <p:cNvSpPr txBox="true"/>
          <p:nvPr/>
        </p:nvSpPr>
        <p:spPr>
          <a:xfrm rot="0">
            <a:off x="12010882" y="2355675"/>
            <a:ext cx="466708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VFND dataset and optional manual source.</a:t>
            </a:r>
          </a:p>
        </p:txBody>
      </p:sp>
      <p:sp>
        <p:nvSpPr>
          <p:cNvPr name="TextBox 19" id="19"/>
          <p:cNvSpPr txBox="true"/>
          <p:nvPr/>
        </p:nvSpPr>
        <p:spPr>
          <a:xfrm rot="0">
            <a:off x="9265539" y="3404225"/>
            <a:ext cx="370618" cy="274539"/>
          </a:xfrm>
          <a:prstGeom prst="rect">
            <a:avLst/>
          </a:prstGeom>
        </p:spPr>
        <p:txBody>
          <a:bodyPr anchor="t" rtlCol="false" tIns="0" lIns="0" bIns="0" rIns="0">
            <a:spAutoFit/>
          </a:bodyPr>
          <a:lstStyle/>
          <a:p>
            <a:pPr algn="ctr">
              <a:lnSpc>
                <a:spcPts val="1625"/>
              </a:lnSpc>
            </a:pPr>
            <a:r>
              <a:rPr lang="en-US" sz="1426" b="true">
                <a:solidFill>
                  <a:srgbClr val="B45309"/>
                </a:solidFill>
                <a:latin typeface="Montserrat Bold"/>
                <a:ea typeface="Montserrat Bold"/>
                <a:cs typeface="Montserrat Bold"/>
                <a:sym typeface="Montserrat Bold"/>
              </a:rPr>
              <a:t>2</a:t>
            </a:r>
          </a:p>
        </p:txBody>
      </p:sp>
      <p:grpSp>
        <p:nvGrpSpPr>
          <p:cNvPr name="Group 20" id="20"/>
          <p:cNvGrpSpPr/>
          <p:nvPr/>
        </p:nvGrpSpPr>
        <p:grpSpPr>
          <a:xfrm rot="0">
            <a:off x="9780480" y="3534823"/>
            <a:ext cx="493786" cy="13345"/>
            <a:chOff x="0" y="0"/>
            <a:chExt cx="658381" cy="17793"/>
          </a:xfrm>
        </p:grpSpPr>
        <p:sp>
          <p:nvSpPr>
            <p:cNvPr name="Freeform 21" id="21"/>
            <p:cNvSpPr/>
            <p:nvPr/>
          </p:nvSpPr>
          <p:spPr>
            <a:xfrm flipH="false" flipV="false" rot="0">
              <a:off x="0" y="0"/>
              <a:ext cx="658368" cy="17780"/>
            </a:xfrm>
            <a:custGeom>
              <a:avLst/>
              <a:gdLst/>
              <a:ahLst/>
              <a:cxnLst/>
              <a:rect r="r" b="b" t="t" l="l"/>
              <a:pathLst>
                <a:path h="17780" w="658368">
                  <a:moveTo>
                    <a:pt x="0" y="0"/>
                  </a:moveTo>
                  <a:lnTo>
                    <a:pt x="658368" y="17780"/>
                  </a:lnTo>
                </a:path>
              </a:pathLst>
            </a:custGeom>
            <a:blipFill>
              <a:blip r:embed="rId3">
                <a:alphaModFix amt="0"/>
              </a:blip>
              <a:stretch>
                <a:fillRect l="0" t="-671481" r="-1" b="-671552"/>
              </a:stretch>
            </a:blipFill>
            <a:ln w="13345" cap="sq">
              <a:solidFill>
                <a:srgbClr val="D6D0C8"/>
              </a:solidFill>
              <a:prstDash val="solid"/>
              <a:miter/>
            </a:ln>
          </p:spPr>
        </p:sp>
      </p:grpSp>
      <p:sp>
        <p:nvSpPr>
          <p:cNvPr name="TextBox 22" id="22"/>
          <p:cNvSpPr txBox="true"/>
          <p:nvPr/>
        </p:nvSpPr>
        <p:spPr>
          <a:xfrm rot="0">
            <a:off x="10500941" y="3303937"/>
            <a:ext cx="1647206" cy="292465"/>
          </a:xfrm>
          <a:prstGeom prst="rect">
            <a:avLst/>
          </a:prstGeom>
        </p:spPr>
        <p:txBody>
          <a:bodyPr anchor="t" rtlCol="false" tIns="0" lIns="0" bIns="0" rIns="0">
            <a:spAutoFit/>
          </a:bodyPr>
          <a:lstStyle/>
          <a:p>
            <a:pPr algn="l">
              <a:lnSpc>
                <a:spcPts val="1916"/>
              </a:lnSpc>
            </a:pPr>
            <a:r>
              <a:rPr lang="en-US" sz="1681" b="true">
                <a:solidFill>
                  <a:srgbClr val="1E293B"/>
                </a:solidFill>
                <a:latin typeface="Montserrat Bold"/>
                <a:ea typeface="Montserrat Bold"/>
                <a:cs typeface="Montserrat Bold"/>
                <a:sym typeface="Montserrat Bold"/>
              </a:rPr>
              <a:t>Clean</a:t>
            </a:r>
          </a:p>
        </p:txBody>
      </p:sp>
      <p:sp>
        <p:nvSpPr>
          <p:cNvPr name="TextBox 23" id="23"/>
          <p:cNvSpPr txBox="true"/>
          <p:nvPr/>
        </p:nvSpPr>
        <p:spPr>
          <a:xfrm rot="0">
            <a:off x="12010882" y="3289087"/>
            <a:ext cx="4667088" cy="60579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Normalize labels, remove duplicates and short texts.</a:t>
            </a:r>
          </a:p>
        </p:txBody>
      </p:sp>
      <p:sp>
        <p:nvSpPr>
          <p:cNvPr name="TextBox 24" id="24"/>
          <p:cNvSpPr txBox="true"/>
          <p:nvPr/>
        </p:nvSpPr>
        <p:spPr>
          <a:xfrm rot="0">
            <a:off x="9265539" y="4337647"/>
            <a:ext cx="370618" cy="274539"/>
          </a:xfrm>
          <a:prstGeom prst="rect">
            <a:avLst/>
          </a:prstGeom>
        </p:spPr>
        <p:txBody>
          <a:bodyPr anchor="t" rtlCol="false" tIns="0" lIns="0" bIns="0" rIns="0">
            <a:spAutoFit/>
          </a:bodyPr>
          <a:lstStyle/>
          <a:p>
            <a:pPr algn="ctr">
              <a:lnSpc>
                <a:spcPts val="1625"/>
              </a:lnSpc>
            </a:pPr>
            <a:r>
              <a:rPr lang="en-US" sz="1426" b="true">
                <a:solidFill>
                  <a:srgbClr val="B45309"/>
                </a:solidFill>
                <a:latin typeface="Montserrat Bold"/>
                <a:ea typeface="Montserrat Bold"/>
                <a:cs typeface="Montserrat Bold"/>
                <a:sym typeface="Montserrat Bold"/>
              </a:rPr>
              <a:t>3</a:t>
            </a:r>
          </a:p>
        </p:txBody>
      </p:sp>
      <p:grpSp>
        <p:nvGrpSpPr>
          <p:cNvPr name="Group 25" id="25"/>
          <p:cNvGrpSpPr/>
          <p:nvPr/>
        </p:nvGrpSpPr>
        <p:grpSpPr>
          <a:xfrm rot="0">
            <a:off x="9780480" y="4468235"/>
            <a:ext cx="493786" cy="13345"/>
            <a:chOff x="0" y="0"/>
            <a:chExt cx="658381" cy="17793"/>
          </a:xfrm>
        </p:grpSpPr>
        <p:sp>
          <p:nvSpPr>
            <p:cNvPr name="Freeform 26" id="26"/>
            <p:cNvSpPr/>
            <p:nvPr/>
          </p:nvSpPr>
          <p:spPr>
            <a:xfrm flipH="false" flipV="false" rot="0">
              <a:off x="0" y="0"/>
              <a:ext cx="658368" cy="17780"/>
            </a:xfrm>
            <a:custGeom>
              <a:avLst/>
              <a:gdLst/>
              <a:ahLst/>
              <a:cxnLst/>
              <a:rect r="r" b="b" t="t" l="l"/>
              <a:pathLst>
                <a:path h="17780" w="658368">
                  <a:moveTo>
                    <a:pt x="0" y="0"/>
                  </a:moveTo>
                  <a:lnTo>
                    <a:pt x="658368" y="17780"/>
                  </a:lnTo>
                </a:path>
              </a:pathLst>
            </a:custGeom>
            <a:blipFill>
              <a:blip r:embed="rId3">
                <a:alphaModFix amt="0"/>
              </a:blip>
              <a:stretch>
                <a:fillRect l="0" t="-671481" r="-1" b="-671552"/>
              </a:stretch>
            </a:blipFill>
            <a:ln w="13345" cap="sq">
              <a:solidFill>
                <a:srgbClr val="D6D0C8"/>
              </a:solidFill>
              <a:prstDash val="solid"/>
              <a:miter/>
            </a:ln>
          </p:spPr>
        </p:sp>
      </p:grpSp>
      <p:sp>
        <p:nvSpPr>
          <p:cNvPr name="TextBox 27" id="27"/>
          <p:cNvSpPr txBox="true"/>
          <p:nvPr/>
        </p:nvSpPr>
        <p:spPr>
          <a:xfrm rot="0">
            <a:off x="10500941" y="4237358"/>
            <a:ext cx="1647206" cy="292465"/>
          </a:xfrm>
          <a:prstGeom prst="rect">
            <a:avLst/>
          </a:prstGeom>
        </p:spPr>
        <p:txBody>
          <a:bodyPr anchor="t" rtlCol="false" tIns="0" lIns="0" bIns="0" rIns="0">
            <a:spAutoFit/>
          </a:bodyPr>
          <a:lstStyle/>
          <a:p>
            <a:pPr algn="l">
              <a:lnSpc>
                <a:spcPts val="1916"/>
              </a:lnSpc>
            </a:pPr>
            <a:r>
              <a:rPr lang="en-US" sz="1681" b="true">
                <a:solidFill>
                  <a:srgbClr val="1E293B"/>
                </a:solidFill>
                <a:latin typeface="Montserrat Bold"/>
                <a:ea typeface="Montserrat Bold"/>
                <a:cs typeface="Montserrat Bold"/>
                <a:sym typeface="Montserrat Bold"/>
              </a:rPr>
              <a:t>Split</a:t>
            </a:r>
          </a:p>
        </p:txBody>
      </p:sp>
      <p:sp>
        <p:nvSpPr>
          <p:cNvPr name="TextBox 28" id="28"/>
          <p:cNvSpPr txBox="true"/>
          <p:nvPr/>
        </p:nvSpPr>
        <p:spPr>
          <a:xfrm rot="0">
            <a:off x="12010882" y="4222509"/>
            <a:ext cx="466708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Train / validation / test.</a:t>
            </a:r>
          </a:p>
        </p:txBody>
      </p:sp>
      <p:sp>
        <p:nvSpPr>
          <p:cNvPr name="TextBox 29" id="29"/>
          <p:cNvSpPr txBox="true"/>
          <p:nvPr/>
        </p:nvSpPr>
        <p:spPr>
          <a:xfrm rot="0">
            <a:off x="9265539" y="5271059"/>
            <a:ext cx="370618" cy="274539"/>
          </a:xfrm>
          <a:prstGeom prst="rect">
            <a:avLst/>
          </a:prstGeom>
        </p:spPr>
        <p:txBody>
          <a:bodyPr anchor="t" rtlCol="false" tIns="0" lIns="0" bIns="0" rIns="0">
            <a:spAutoFit/>
          </a:bodyPr>
          <a:lstStyle/>
          <a:p>
            <a:pPr algn="ctr">
              <a:lnSpc>
                <a:spcPts val="1625"/>
              </a:lnSpc>
            </a:pPr>
            <a:r>
              <a:rPr lang="en-US" sz="1426" b="true">
                <a:solidFill>
                  <a:srgbClr val="B45309"/>
                </a:solidFill>
                <a:latin typeface="Montserrat Bold"/>
                <a:ea typeface="Montserrat Bold"/>
                <a:cs typeface="Montserrat Bold"/>
                <a:sym typeface="Montserrat Bold"/>
              </a:rPr>
              <a:t>4</a:t>
            </a:r>
          </a:p>
        </p:txBody>
      </p:sp>
      <p:grpSp>
        <p:nvGrpSpPr>
          <p:cNvPr name="Group 30" id="30"/>
          <p:cNvGrpSpPr/>
          <p:nvPr/>
        </p:nvGrpSpPr>
        <p:grpSpPr>
          <a:xfrm rot="0">
            <a:off x="9780480" y="5401656"/>
            <a:ext cx="493786" cy="13345"/>
            <a:chOff x="0" y="0"/>
            <a:chExt cx="658381" cy="17793"/>
          </a:xfrm>
        </p:grpSpPr>
        <p:sp>
          <p:nvSpPr>
            <p:cNvPr name="Freeform 31" id="31"/>
            <p:cNvSpPr/>
            <p:nvPr/>
          </p:nvSpPr>
          <p:spPr>
            <a:xfrm flipH="false" flipV="false" rot="0">
              <a:off x="0" y="0"/>
              <a:ext cx="658368" cy="17780"/>
            </a:xfrm>
            <a:custGeom>
              <a:avLst/>
              <a:gdLst/>
              <a:ahLst/>
              <a:cxnLst/>
              <a:rect r="r" b="b" t="t" l="l"/>
              <a:pathLst>
                <a:path h="17780" w="658368">
                  <a:moveTo>
                    <a:pt x="0" y="0"/>
                  </a:moveTo>
                  <a:lnTo>
                    <a:pt x="658368" y="17780"/>
                  </a:lnTo>
                </a:path>
              </a:pathLst>
            </a:custGeom>
            <a:blipFill>
              <a:blip r:embed="rId3">
                <a:alphaModFix amt="0"/>
              </a:blip>
              <a:stretch>
                <a:fillRect l="0" t="-671481" r="-1" b="-671552"/>
              </a:stretch>
            </a:blipFill>
            <a:ln w="13345" cap="sq">
              <a:solidFill>
                <a:srgbClr val="D6D0C8"/>
              </a:solidFill>
              <a:prstDash val="solid"/>
              <a:miter/>
            </a:ln>
          </p:spPr>
        </p:sp>
      </p:grpSp>
      <p:sp>
        <p:nvSpPr>
          <p:cNvPr name="TextBox 32" id="32"/>
          <p:cNvSpPr txBox="true"/>
          <p:nvPr/>
        </p:nvSpPr>
        <p:spPr>
          <a:xfrm rot="0">
            <a:off x="10500941" y="5170770"/>
            <a:ext cx="1647206" cy="292465"/>
          </a:xfrm>
          <a:prstGeom prst="rect">
            <a:avLst/>
          </a:prstGeom>
        </p:spPr>
        <p:txBody>
          <a:bodyPr anchor="t" rtlCol="false" tIns="0" lIns="0" bIns="0" rIns="0">
            <a:spAutoFit/>
          </a:bodyPr>
          <a:lstStyle/>
          <a:p>
            <a:pPr algn="l">
              <a:lnSpc>
                <a:spcPts val="1916"/>
              </a:lnSpc>
            </a:pPr>
            <a:r>
              <a:rPr lang="en-US" sz="1681" b="true">
                <a:solidFill>
                  <a:srgbClr val="1E293B"/>
                </a:solidFill>
                <a:latin typeface="Montserrat Bold"/>
                <a:ea typeface="Montserrat Bold"/>
                <a:cs typeface="Montserrat Bold"/>
                <a:sym typeface="Montserrat Bold"/>
              </a:rPr>
              <a:t>Train</a:t>
            </a:r>
          </a:p>
        </p:txBody>
      </p:sp>
      <p:sp>
        <p:nvSpPr>
          <p:cNvPr name="TextBox 33" id="33"/>
          <p:cNvSpPr txBox="true"/>
          <p:nvPr/>
        </p:nvSpPr>
        <p:spPr>
          <a:xfrm rot="0">
            <a:off x="12010882" y="5155921"/>
            <a:ext cx="466708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TF-IDF + four supervised baselines.</a:t>
            </a:r>
          </a:p>
        </p:txBody>
      </p:sp>
      <p:sp>
        <p:nvSpPr>
          <p:cNvPr name="TextBox 34" id="34"/>
          <p:cNvSpPr txBox="true"/>
          <p:nvPr/>
        </p:nvSpPr>
        <p:spPr>
          <a:xfrm rot="0">
            <a:off x="9265539" y="6204480"/>
            <a:ext cx="370618" cy="274539"/>
          </a:xfrm>
          <a:prstGeom prst="rect">
            <a:avLst/>
          </a:prstGeom>
        </p:spPr>
        <p:txBody>
          <a:bodyPr anchor="t" rtlCol="false" tIns="0" lIns="0" bIns="0" rIns="0">
            <a:spAutoFit/>
          </a:bodyPr>
          <a:lstStyle/>
          <a:p>
            <a:pPr algn="ctr">
              <a:lnSpc>
                <a:spcPts val="1625"/>
              </a:lnSpc>
            </a:pPr>
            <a:r>
              <a:rPr lang="en-US" sz="1426" b="true">
                <a:solidFill>
                  <a:srgbClr val="B45309"/>
                </a:solidFill>
                <a:latin typeface="Montserrat Bold"/>
                <a:ea typeface="Montserrat Bold"/>
                <a:cs typeface="Montserrat Bold"/>
                <a:sym typeface="Montserrat Bold"/>
              </a:rPr>
              <a:t>5</a:t>
            </a:r>
          </a:p>
        </p:txBody>
      </p:sp>
      <p:grpSp>
        <p:nvGrpSpPr>
          <p:cNvPr name="Group 35" id="35"/>
          <p:cNvGrpSpPr/>
          <p:nvPr/>
        </p:nvGrpSpPr>
        <p:grpSpPr>
          <a:xfrm rot="0">
            <a:off x="9780480" y="6335078"/>
            <a:ext cx="493786" cy="13345"/>
            <a:chOff x="0" y="0"/>
            <a:chExt cx="658381" cy="17793"/>
          </a:xfrm>
        </p:grpSpPr>
        <p:sp>
          <p:nvSpPr>
            <p:cNvPr name="Freeform 36" id="36"/>
            <p:cNvSpPr/>
            <p:nvPr/>
          </p:nvSpPr>
          <p:spPr>
            <a:xfrm flipH="false" flipV="false" rot="0">
              <a:off x="0" y="0"/>
              <a:ext cx="658368" cy="17780"/>
            </a:xfrm>
            <a:custGeom>
              <a:avLst/>
              <a:gdLst/>
              <a:ahLst/>
              <a:cxnLst/>
              <a:rect r="r" b="b" t="t" l="l"/>
              <a:pathLst>
                <a:path h="17780" w="658368">
                  <a:moveTo>
                    <a:pt x="0" y="0"/>
                  </a:moveTo>
                  <a:lnTo>
                    <a:pt x="658368" y="17780"/>
                  </a:lnTo>
                </a:path>
              </a:pathLst>
            </a:custGeom>
            <a:blipFill>
              <a:blip r:embed="rId3">
                <a:alphaModFix amt="0"/>
              </a:blip>
              <a:stretch>
                <a:fillRect l="0" t="-671481" r="-1" b="-671552"/>
              </a:stretch>
            </a:blipFill>
            <a:ln w="13345" cap="sq">
              <a:solidFill>
                <a:srgbClr val="D6D0C8"/>
              </a:solidFill>
              <a:prstDash val="solid"/>
              <a:miter/>
            </a:ln>
          </p:spPr>
        </p:sp>
      </p:grpSp>
      <p:sp>
        <p:nvSpPr>
          <p:cNvPr name="TextBox 37" id="37"/>
          <p:cNvSpPr txBox="true"/>
          <p:nvPr/>
        </p:nvSpPr>
        <p:spPr>
          <a:xfrm rot="0">
            <a:off x="10500941" y="6104191"/>
            <a:ext cx="1647206" cy="292465"/>
          </a:xfrm>
          <a:prstGeom prst="rect">
            <a:avLst/>
          </a:prstGeom>
        </p:spPr>
        <p:txBody>
          <a:bodyPr anchor="t" rtlCol="false" tIns="0" lIns="0" bIns="0" rIns="0">
            <a:spAutoFit/>
          </a:bodyPr>
          <a:lstStyle/>
          <a:p>
            <a:pPr algn="l">
              <a:lnSpc>
                <a:spcPts val="1916"/>
              </a:lnSpc>
            </a:pPr>
            <a:r>
              <a:rPr lang="en-US" sz="1681" b="true">
                <a:solidFill>
                  <a:srgbClr val="1E293B"/>
                </a:solidFill>
                <a:latin typeface="Montserrat Bold"/>
                <a:ea typeface="Montserrat Bold"/>
                <a:cs typeface="Montserrat Bold"/>
                <a:sym typeface="Montserrat Bold"/>
              </a:rPr>
              <a:t>Evaluate</a:t>
            </a:r>
          </a:p>
        </p:txBody>
      </p:sp>
      <p:sp>
        <p:nvSpPr>
          <p:cNvPr name="TextBox 38" id="38"/>
          <p:cNvSpPr txBox="true"/>
          <p:nvPr/>
        </p:nvSpPr>
        <p:spPr>
          <a:xfrm rot="0">
            <a:off x="12010882" y="6089342"/>
            <a:ext cx="4667088" cy="60579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F1 macro, accuracy, ROC-AUC, confusion matrix.</a:t>
            </a:r>
          </a:p>
        </p:txBody>
      </p:sp>
      <p:sp>
        <p:nvSpPr>
          <p:cNvPr name="TextBox 39" id="39"/>
          <p:cNvSpPr txBox="true"/>
          <p:nvPr/>
        </p:nvSpPr>
        <p:spPr>
          <a:xfrm rot="0">
            <a:off x="9265539" y="7137892"/>
            <a:ext cx="370618" cy="274539"/>
          </a:xfrm>
          <a:prstGeom prst="rect">
            <a:avLst/>
          </a:prstGeom>
        </p:spPr>
        <p:txBody>
          <a:bodyPr anchor="t" rtlCol="false" tIns="0" lIns="0" bIns="0" rIns="0">
            <a:spAutoFit/>
          </a:bodyPr>
          <a:lstStyle/>
          <a:p>
            <a:pPr algn="ctr">
              <a:lnSpc>
                <a:spcPts val="1625"/>
              </a:lnSpc>
            </a:pPr>
            <a:r>
              <a:rPr lang="en-US" sz="1426" b="true">
                <a:solidFill>
                  <a:srgbClr val="B45309"/>
                </a:solidFill>
                <a:latin typeface="Montserrat Bold"/>
                <a:ea typeface="Montserrat Bold"/>
                <a:cs typeface="Montserrat Bold"/>
                <a:sym typeface="Montserrat Bold"/>
              </a:rPr>
              <a:t>6</a:t>
            </a:r>
          </a:p>
        </p:txBody>
      </p:sp>
      <p:grpSp>
        <p:nvGrpSpPr>
          <p:cNvPr name="Group 40" id="40"/>
          <p:cNvGrpSpPr/>
          <p:nvPr/>
        </p:nvGrpSpPr>
        <p:grpSpPr>
          <a:xfrm rot="0">
            <a:off x="9780480" y="7268489"/>
            <a:ext cx="493786" cy="13345"/>
            <a:chOff x="0" y="0"/>
            <a:chExt cx="658381" cy="17793"/>
          </a:xfrm>
        </p:grpSpPr>
        <p:sp>
          <p:nvSpPr>
            <p:cNvPr name="Freeform 41" id="41"/>
            <p:cNvSpPr/>
            <p:nvPr/>
          </p:nvSpPr>
          <p:spPr>
            <a:xfrm flipH="false" flipV="false" rot="0">
              <a:off x="0" y="0"/>
              <a:ext cx="658368" cy="17780"/>
            </a:xfrm>
            <a:custGeom>
              <a:avLst/>
              <a:gdLst/>
              <a:ahLst/>
              <a:cxnLst/>
              <a:rect r="r" b="b" t="t" l="l"/>
              <a:pathLst>
                <a:path h="17780" w="658368">
                  <a:moveTo>
                    <a:pt x="0" y="0"/>
                  </a:moveTo>
                  <a:lnTo>
                    <a:pt x="658368" y="17780"/>
                  </a:lnTo>
                </a:path>
              </a:pathLst>
            </a:custGeom>
            <a:blipFill>
              <a:blip r:embed="rId3">
                <a:alphaModFix amt="0"/>
              </a:blip>
              <a:stretch>
                <a:fillRect l="0" t="-671481" r="-1" b="-671552"/>
              </a:stretch>
            </a:blipFill>
            <a:ln w="13345" cap="sq">
              <a:solidFill>
                <a:srgbClr val="D6D0C8"/>
              </a:solidFill>
              <a:prstDash val="solid"/>
              <a:miter/>
            </a:ln>
          </p:spPr>
        </p:sp>
      </p:grpSp>
      <p:sp>
        <p:nvSpPr>
          <p:cNvPr name="TextBox 42" id="42"/>
          <p:cNvSpPr txBox="true"/>
          <p:nvPr/>
        </p:nvSpPr>
        <p:spPr>
          <a:xfrm rot="0">
            <a:off x="10500941" y="7037603"/>
            <a:ext cx="1647206" cy="292465"/>
          </a:xfrm>
          <a:prstGeom prst="rect">
            <a:avLst/>
          </a:prstGeom>
        </p:spPr>
        <p:txBody>
          <a:bodyPr anchor="t" rtlCol="false" tIns="0" lIns="0" bIns="0" rIns="0">
            <a:spAutoFit/>
          </a:bodyPr>
          <a:lstStyle/>
          <a:p>
            <a:pPr algn="l">
              <a:lnSpc>
                <a:spcPts val="1916"/>
              </a:lnSpc>
            </a:pPr>
            <a:r>
              <a:rPr lang="en-US" sz="1681" b="true">
                <a:solidFill>
                  <a:srgbClr val="1E293B"/>
                </a:solidFill>
                <a:latin typeface="Montserrat Bold"/>
                <a:ea typeface="Montserrat Bold"/>
                <a:cs typeface="Montserrat Bold"/>
                <a:sym typeface="Montserrat Bold"/>
              </a:rPr>
              <a:t>Export</a:t>
            </a:r>
          </a:p>
        </p:txBody>
      </p:sp>
      <p:sp>
        <p:nvSpPr>
          <p:cNvPr name="TextBox 43" id="43"/>
          <p:cNvSpPr txBox="true"/>
          <p:nvPr/>
        </p:nvSpPr>
        <p:spPr>
          <a:xfrm rot="0">
            <a:off x="12010882" y="7022763"/>
            <a:ext cx="466708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best_model.joblib and metadata.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08</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Methodology choices</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Classical baselines are explainable, stable, and defensible.</a:t>
            </a:r>
          </a:p>
        </p:txBody>
      </p:sp>
      <p:grpSp>
        <p:nvGrpSpPr>
          <p:cNvPr name="Group 10" id="10"/>
          <p:cNvGrpSpPr/>
          <p:nvPr/>
        </p:nvGrpSpPr>
        <p:grpSpPr>
          <a:xfrm rot="0">
            <a:off x="1228735" y="2601401"/>
            <a:ext cx="5092236" cy="5229501"/>
            <a:chOff x="0" y="0"/>
            <a:chExt cx="6789649" cy="6972668"/>
          </a:xfrm>
        </p:grpSpPr>
        <p:sp>
          <p:nvSpPr>
            <p:cNvPr name="Freeform 11" id="11"/>
            <p:cNvSpPr/>
            <p:nvPr/>
          </p:nvSpPr>
          <p:spPr>
            <a:xfrm flipH="false" flipV="false" rot="0">
              <a:off x="0" y="0"/>
              <a:ext cx="6789674" cy="6972681"/>
            </a:xfrm>
            <a:custGeom>
              <a:avLst/>
              <a:gdLst/>
              <a:ahLst/>
              <a:cxnLst/>
              <a:rect r="r" b="b" t="t" l="l"/>
              <a:pathLst>
                <a:path h="6972681" w="6789674">
                  <a:moveTo>
                    <a:pt x="0" y="110109"/>
                  </a:moveTo>
                  <a:cubicBezTo>
                    <a:pt x="0" y="49276"/>
                    <a:pt x="49276" y="0"/>
                    <a:pt x="110109" y="0"/>
                  </a:cubicBezTo>
                  <a:lnTo>
                    <a:pt x="6679565" y="0"/>
                  </a:lnTo>
                  <a:cubicBezTo>
                    <a:pt x="6740398" y="0"/>
                    <a:pt x="6789674" y="49276"/>
                    <a:pt x="6789674" y="110109"/>
                  </a:cubicBezTo>
                  <a:lnTo>
                    <a:pt x="6789674" y="6862572"/>
                  </a:lnTo>
                  <a:cubicBezTo>
                    <a:pt x="6789674" y="6923405"/>
                    <a:pt x="6740398" y="6972681"/>
                    <a:pt x="6679565" y="6972681"/>
                  </a:cubicBezTo>
                  <a:lnTo>
                    <a:pt x="110109" y="6972681"/>
                  </a:lnTo>
                  <a:cubicBezTo>
                    <a:pt x="49276" y="6972681"/>
                    <a:pt x="0" y="6923405"/>
                    <a:pt x="0" y="6862572"/>
                  </a:cubicBezTo>
                  <a:close/>
                </a:path>
              </a:pathLst>
            </a:custGeom>
            <a:solidFill>
              <a:srgbClr val="FFFFFF"/>
            </a:solidFill>
            <a:ln w="13345" cap="sq">
              <a:solidFill>
                <a:srgbClr val="D6D0C8"/>
              </a:solidFill>
              <a:prstDash val="solid"/>
              <a:miter/>
            </a:ln>
          </p:spPr>
        </p:sp>
      </p:grpSp>
      <p:sp>
        <p:nvSpPr>
          <p:cNvPr name="TextBox 12" id="12"/>
          <p:cNvSpPr txBox="true"/>
          <p:nvPr/>
        </p:nvSpPr>
        <p:spPr>
          <a:xfrm rot="0">
            <a:off x="1619755" y="3019882"/>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FEATURE EXTRACTION</a:t>
            </a:r>
          </a:p>
        </p:txBody>
      </p:sp>
      <p:sp>
        <p:nvSpPr>
          <p:cNvPr name="TextBox 13" id="13"/>
          <p:cNvSpPr txBox="true"/>
          <p:nvPr/>
        </p:nvSpPr>
        <p:spPr>
          <a:xfrm rot="0">
            <a:off x="1619755" y="3560540"/>
            <a:ext cx="3294412" cy="502568"/>
          </a:xfrm>
          <a:prstGeom prst="rect">
            <a:avLst/>
          </a:prstGeom>
        </p:spPr>
        <p:txBody>
          <a:bodyPr anchor="t" rtlCol="false" tIns="0" lIns="0" bIns="0" rIns="0">
            <a:spAutoFit/>
          </a:bodyPr>
          <a:lstStyle/>
          <a:p>
            <a:pPr algn="l">
              <a:lnSpc>
                <a:spcPts val="4107"/>
              </a:lnSpc>
            </a:pPr>
            <a:r>
              <a:rPr lang="en-US" sz="3602" b="true">
                <a:solidFill>
                  <a:srgbClr val="1E293B"/>
                </a:solidFill>
                <a:latin typeface="Montserrat Bold"/>
                <a:ea typeface="Montserrat Bold"/>
                <a:cs typeface="Montserrat Bold"/>
                <a:sym typeface="Montserrat Bold"/>
              </a:rPr>
              <a:t>TF-IDF</a:t>
            </a:r>
          </a:p>
        </p:txBody>
      </p:sp>
      <p:sp>
        <p:nvSpPr>
          <p:cNvPr name="TextBox 14" id="14"/>
          <p:cNvSpPr txBox="true"/>
          <p:nvPr/>
        </p:nvSpPr>
        <p:spPr>
          <a:xfrm rot="0">
            <a:off x="1716091" y="4263942"/>
            <a:ext cx="3774338" cy="1700784"/>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Fast on limited data.</a:t>
            </a:r>
          </a:p>
          <a:p>
            <a:pPr algn="l">
              <a:lnSpc>
                <a:spcPts val="2208"/>
              </a:lnSpc>
            </a:pPr>
            <a:r>
              <a:rPr lang="en-US" sz="2000">
                <a:solidFill>
                  <a:srgbClr val="1E293B"/>
                </a:solidFill>
                <a:latin typeface="Calibri (MS)"/>
                <a:ea typeface="Calibri (MS)"/>
                <a:cs typeface="Calibri (MS)"/>
                <a:sym typeface="Calibri (MS)"/>
              </a:rPr>
              <a:t>Good for sparse text vectors.</a:t>
            </a:r>
          </a:p>
          <a:p>
            <a:pPr algn="l">
              <a:lnSpc>
                <a:spcPts val="2208"/>
              </a:lnSpc>
            </a:pPr>
            <a:r>
              <a:rPr lang="en-US" sz="2000">
                <a:solidFill>
                  <a:srgbClr val="1E293B"/>
                </a:solidFill>
                <a:latin typeface="Calibri (MS)"/>
                <a:ea typeface="Calibri (MS)"/>
                <a:cs typeface="Calibri (MS)"/>
                <a:sym typeface="Calibri (MS)"/>
              </a:rPr>
              <a:t>Supports token contribution analysis.</a:t>
            </a:r>
          </a:p>
          <a:p>
            <a:pPr algn="l">
              <a:lnSpc>
                <a:spcPts val="2208"/>
              </a:lnSpc>
            </a:pPr>
            <a:r>
              <a:rPr lang="en-US" sz="2000">
                <a:solidFill>
                  <a:srgbClr val="1E293B"/>
                </a:solidFill>
                <a:latin typeface="Calibri (MS)"/>
                <a:ea typeface="Calibri (MS)"/>
                <a:cs typeface="Calibri (MS)"/>
                <a:sym typeface="Calibri (MS)"/>
              </a:rPr>
              <a:t>Easier to explain than deep embeddings.</a:t>
            </a:r>
          </a:p>
        </p:txBody>
      </p:sp>
      <p:grpSp>
        <p:nvGrpSpPr>
          <p:cNvPr name="Group 15" id="15"/>
          <p:cNvGrpSpPr/>
          <p:nvPr/>
        </p:nvGrpSpPr>
        <p:grpSpPr>
          <a:xfrm rot="0">
            <a:off x="6856686" y="2601401"/>
            <a:ext cx="10239756" cy="5229501"/>
            <a:chOff x="0" y="0"/>
            <a:chExt cx="13653008" cy="6972668"/>
          </a:xfrm>
        </p:grpSpPr>
        <p:sp>
          <p:nvSpPr>
            <p:cNvPr name="Freeform 16" id="16"/>
            <p:cNvSpPr/>
            <p:nvPr/>
          </p:nvSpPr>
          <p:spPr>
            <a:xfrm flipH="false" flipV="false" rot="0">
              <a:off x="0" y="0"/>
              <a:ext cx="13653007" cy="6972681"/>
            </a:xfrm>
            <a:custGeom>
              <a:avLst/>
              <a:gdLst/>
              <a:ahLst/>
              <a:cxnLst/>
              <a:rect r="r" b="b" t="t" l="l"/>
              <a:pathLst>
                <a:path h="6972681" w="13653007">
                  <a:moveTo>
                    <a:pt x="0" y="110109"/>
                  </a:moveTo>
                  <a:cubicBezTo>
                    <a:pt x="0" y="49276"/>
                    <a:pt x="49276" y="0"/>
                    <a:pt x="110109" y="0"/>
                  </a:cubicBezTo>
                  <a:lnTo>
                    <a:pt x="13542899" y="0"/>
                  </a:lnTo>
                  <a:cubicBezTo>
                    <a:pt x="13603731" y="0"/>
                    <a:pt x="13653007" y="49276"/>
                    <a:pt x="13653007" y="110109"/>
                  </a:cubicBezTo>
                  <a:lnTo>
                    <a:pt x="13653007" y="6862572"/>
                  </a:lnTo>
                  <a:cubicBezTo>
                    <a:pt x="13653007" y="6923405"/>
                    <a:pt x="13603731" y="6972681"/>
                    <a:pt x="13542899" y="6972681"/>
                  </a:cubicBezTo>
                  <a:lnTo>
                    <a:pt x="110109" y="6972681"/>
                  </a:lnTo>
                  <a:cubicBezTo>
                    <a:pt x="49276" y="6972681"/>
                    <a:pt x="0" y="6923405"/>
                    <a:pt x="0" y="6862572"/>
                  </a:cubicBezTo>
                  <a:close/>
                </a:path>
              </a:pathLst>
            </a:custGeom>
            <a:solidFill>
              <a:srgbClr val="FFFFFF"/>
            </a:solidFill>
            <a:ln w="13345" cap="sq">
              <a:solidFill>
                <a:srgbClr val="D6D0C8"/>
              </a:solidFill>
              <a:prstDash val="solid"/>
              <a:miter/>
            </a:ln>
          </p:spPr>
        </p:sp>
      </p:grpSp>
      <p:sp>
        <p:nvSpPr>
          <p:cNvPr name="TextBox 17" id="17"/>
          <p:cNvSpPr txBox="true"/>
          <p:nvPr/>
        </p:nvSpPr>
        <p:spPr>
          <a:xfrm rot="0">
            <a:off x="7275166" y="3019882"/>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MODEL BENCHMARK</a:t>
            </a:r>
          </a:p>
        </p:txBody>
      </p:sp>
      <p:grpSp>
        <p:nvGrpSpPr>
          <p:cNvPr name="Group 18" id="18"/>
          <p:cNvGrpSpPr/>
          <p:nvPr/>
        </p:nvGrpSpPr>
        <p:grpSpPr>
          <a:xfrm rot="0">
            <a:off x="7268489" y="3630911"/>
            <a:ext cx="2964590" cy="480050"/>
            <a:chOff x="0" y="0"/>
            <a:chExt cx="3952786" cy="640067"/>
          </a:xfrm>
        </p:grpSpPr>
        <p:sp>
          <p:nvSpPr>
            <p:cNvPr name="Freeform 19" id="19"/>
            <p:cNvSpPr/>
            <p:nvPr/>
          </p:nvSpPr>
          <p:spPr>
            <a:xfrm flipH="false" flipV="false" rot="0">
              <a:off x="0" y="0"/>
              <a:ext cx="3952748" cy="640080"/>
            </a:xfrm>
            <a:custGeom>
              <a:avLst/>
              <a:gdLst/>
              <a:ahLst/>
              <a:cxnLst/>
              <a:rect r="r" b="b" t="t" l="l"/>
              <a:pathLst>
                <a:path h="640080" w="3952748">
                  <a:moveTo>
                    <a:pt x="0" y="150622"/>
                  </a:moveTo>
                  <a:cubicBezTo>
                    <a:pt x="0" y="67437"/>
                    <a:pt x="67437" y="0"/>
                    <a:pt x="150622" y="0"/>
                  </a:cubicBezTo>
                  <a:lnTo>
                    <a:pt x="3802126" y="0"/>
                  </a:lnTo>
                  <a:cubicBezTo>
                    <a:pt x="3885311" y="0"/>
                    <a:pt x="3952748" y="67437"/>
                    <a:pt x="3952748" y="150622"/>
                  </a:cubicBezTo>
                  <a:lnTo>
                    <a:pt x="3952748" y="489458"/>
                  </a:lnTo>
                  <a:cubicBezTo>
                    <a:pt x="3952748" y="572643"/>
                    <a:pt x="3885311" y="640080"/>
                    <a:pt x="3802126" y="640080"/>
                  </a:cubicBezTo>
                  <a:lnTo>
                    <a:pt x="150622" y="640080"/>
                  </a:lnTo>
                  <a:cubicBezTo>
                    <a:pt x="67437" y="640080"/>
                    <a:pt x="0" y="572643"/>
                    <a:pt x="0" y="489458"/>
                  </a:cubicBezTo>
                  <a:close/>
                </a:path>
              </a:pathLst>
            </a:custGeom>
            <a:solidFill>
              <a:srgbClr val="F8FAFC"/>
            </a:solidFill>
            <a:ln w="13345" cap="sq">
              <a:solidFill>
                <a:srgbClr val="D6D0C8"/>
              </a:solidFill>
              <a:prstDash val="solid"/>
              <a:miter/>
            </a:ln>
          </p:spPr>
        </p:sp>
      </p:grpSp>
      <p:sp>
        <p:nvSpPr>
          <p:cNvPr name="TextBox 20" id="20"/>
          <p:cNvSpPr txBox="true"/>
          <p:nvPr/>
        </p:nvSpPr>
        <p:spPr>
          <a:xfrm rot="0">
            <a:off x="7515139" y="3766442"/>
            <a:ext cx="2471291" cy="281940"/>
          </a:xfrm>
          <a:prstGeom prst="rect">
            <a:avLst/>
          </a:prstGeom>
        </p:spPr>
        <p:txBody>
          <a:bodyPr anchor="t" rtlCol="false" tIns="0" lIns="0" bIns="0" rIns="0">
            <a:spAutoFit/>
          </a:bodyPr>
          <a:lstStyle/>
          <a:p>
            <a:pPr algn="ctr">
              <a:lnSpc>
                <a:spcPts val="2280"/>
              </a:lnSpc>
            </a:pPr>
            <a:r>
              <a:rPr lang="en-US" sz="2000">
                <a:solidFill>
                  <a:srgbClr val="1E293B"/>
                </a:solidFill>
                <a:latin typeface="Montserrat"/>
                <a:ea typeface="Montserrat"/>
                <a:cs typeface="Montserrat"/>
                <a:sym typeface="Montserrat"/>
              </a:rPr>
              <a:t>Logistic Regression</a:t>
            </a:r>
          </a:p>
        </p:txBody>
      </p:sp>
      <p:sp>
        <p:nvSpPr>
          <p:cNvPr name="TextBox 21" id="21"/>
          <p:cNvSpPr txBox="true"/>
          <p:nvPr/>
        </p:nvSpPr>
        <p:spPr>
          <a:xfrm rot="0">
            <a:off x="10569578" y="3728342"/>
            <a:ext cx="5216157"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Probabilistic linear baseline</a:t>
            </a:r>
          </a:p>
        </p:txBody>
      </p:sp>
      <p:grpSp>
        <p:nvGrpSpPr>
          <p:cNvPr name="Group 22" id="22"/>
          <p:cNvGrpSpPr/>
          <p:nvPr/>
        </p:nvGrpSpPr>
        <p:grpSpPr>
          <a:xfrm rot="0">
            <a:off x="7268489" y="4427058"/>
            <a:ext cx="2964590" cy="480050"/>
            <a:chOff x="0" y="0"/>
            <a:chExt cx="3952786" cy="640067"/>
          </a:xfrm>
        </p:grpSpPr>
        <p:sp>
          <p:nvSpPr>
            <p:cNvPr name="Freeform 23" id="23"/>
            <p:cNvSpPr/>
            <p:nvPr/>
          </p:nvSpPr>
          <p:spPr>
            <a:xfrm flipH="false" flipV="false" rot="0">
              <a:off x="0" y="0"/>
              <a:ext cx="3952748" cy="640080"/>
            </a:xfrm>
            <a:custGeom>
              <a:avLst/>
              <a:gdLst/>
              <a:ahLst/>
              <a:cxnLst/>
              <a:rect r="r" b="b" t="t" l="l"/>
              <a:pathLst>
                <a:path h="640080" w="3952748">
                  <a:moveTo>
                    <a:pt x="0" y="150622"/>
                  </a:moveTo>
                  <a:cubicBezTo>
                    <a:pt x="0" y="67437"/>
                    <a:pt x="67437" y="0"/>
                    <a:pt x="150622" y="0"/>
                  </a:cubicBezTo>
                  <a:lnTo>
                    <a:pt x="3802126" y="0"/>
                  </a:lnTo>
                  <a:cubicBezTo>
                    <a:pt x="3885311" y="0"/>
                    <a:pt x="3952748" y="67437"/>
                    <a:pt x="3952748" y="150622"/>
                  </a:cubicBezTo>
                  <a:lnTo>
                    <a:pt x="3952748" y="489458"/>
                  </a:lnTo>
                  <a:cubicBezTo>
                    <a:pt x="3952748" y="572643"/>
                    <a:pt x="3885311" y="640080"/>
                    <a:pt x="3802126" y="640080"/>
                  </a:cubicBezTo>
                  <a:lnTo>
                    <a:pt x="150622" y="640080"/>
                  </a:lnTo>
                  <a:cubicBezTo>
                    <a:pt x="67437" y="640080"/>
                    <a:pt x="0" y="572643"/>
                    <a:pt x="0" y="489458"/>
                  </a:cubicBezTo>
                  <a:close/>
                </a:path>
              </a:pathLst>
            </a:custGeom>
            <a:solidFill>
              <a:srgbClr val="FF2828"/>
            </a:solidFill>
            <a:ln w="13345" cap="sq">
              <a:solidFill>
                <a:srgbClr val="FF2828"/>
              </a:solidFill>
              <a:prstDash val="solid"/>
              <a:miter/>
            </a:ln>
          </p:spPr>
        </p:sp>
      </p:grpSp>
      <p:sp>
        <p:nvSpPr>
          <p:cNvPr name="TextBox 24" id="24"/>
          <p:cNvSpPr txBox="true"/>
          <p:nvPr/>
        </p:nvSpPr>
        <p:spPr>
          <a:xfrm rot="0">
            <a:off x="8001807" y="4562599"/>
            <a:ext cx="1497955" cy="281940"/>
          </a:xfrm>
          <a:prstGeom prst="rect">
            <a:avLst/>
          </a:prstGeom>
        </p:spPr>
        <p:txBody>
          <a:bodyPr anchor="t" rtlCol="false" tIns="0" lIns="0" bIns="0" rIns="0">
            <a:spAutoFit/>
          </a:bodyPr>
          <a:lstStyle/>
          <a:p>
            <a:pPr algn="ctr">
              <a:lnSpc>
                <a:spcPts val="2280"/>
              </a:lnSpc>
            </a:pPr>
            <a:r>
              <a:rPr lang="en-US" b="true" sz="2000">
                <a:solidFill>
                  <a:srgbClr val="FFDE59"/>
                </a:solidFill>
                <a:latin typeface="Montserrat Bold"/>
                <a:ea typeface="Montserrat Bold"/>
                <a:cs typeface="Montserrat Bold"/>
                <a:sym typeface="Montserrat Bold"/>
              </a:rPr>
              <a:t>Linear SVM</a:t>
            </a:r>
          </a:p>
        </p:txBody>
      </p:sp>
      <p:sp>
        <p:nvSpPr>
          <p:cNvPr name="TextBox 25" id="25"/>
          <p:cNvSpPr txBox="true"/>
          <p:nvPr/>
        </p:nvSpPr>
        <p:spPr>
          <a:xfrm rot="0">
            <a:off x="10569578" y="4524499"/>
            <a:ext cx="5216157"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Strong margin classifier for TF-IDF</a:t>
            </a:r>
          </a:p>
        </p:txBody>
      </p:sp>
      <p:grpSp>
        <p:nvGrpSpPr>
          <p:cNvPr name="Group 26" id="26"/>
          <p:cNvGrpSpPr/>
          <p:nvPr/>
        </p:nvGrpSpPr>
        <p:grpSpPr>
          <a:xfrm rot="0">
            <a:off x="7268489" y="5223205"/>
            <a:ext cx="2964590" cy="480050"/>
            <a:chOff x="0" y="0"/>
            <a:chExt cx="3952786" cy="640067"/>
          </a:xfrm>
        </p:grpSpPr>
        <p:sp>
          <p:nvSpPr>
            <p:cNvPr name="Freeform 27" id="27"/>
            <p:cNvSpPr/>
            <p:nvPr/>
          </p:nvSpPr>
          <p:spPr>
            <a:xfrm flipH="false" flipV="false" rot="0">
              <a:off x="0" y="0"/>
              <a:ext cx="3952748" cy="640080"/>
            </a:xfrm>
            <a:custGeom>
              <a:avLst/>
              <a:gdLst/>
              <a:ahLst/>
              <a:cxnLst/>
              <a:rect r="r" b="b" t="t" l="l"/>
              <a:pathLst>
                <a:path h="640080" w="3952748">
                  <a:moveTo>
                    <a:pt x="0" y="150622"/>
                  </a:moveTo>
                  <a:cubicBezTo>
                    <a:pt x="0" y="67437"/>
                    <a:pt x="67437" y="0"/>
                    <a:pt x="150622" y="0"/>
                  </a:cubicBezTo>
                  <a:lnTo>
                    <a:pt x="3802126" y="0"/>
                  </a:lnTo>
                  <a:cubicBezTo>
                    <a:pt x="3885311" y="0"/>
                    <a:pt x="3952748" y="67437"/>
                    <a:pt x="3952748" y="150622"/>
                  </a:cubicBezTo>
                  <a:lnTo>
                    <a:pt x="3952748" y="489458"/>
                  </a:lnTo>
                  <a:cubicBezTo>
                    <a:pt x="3952748" y="572643"/>
                    <a:pt x="3885311" y="640080"/>
                    <a:pt x="3802126" y="640080"/>
                  </a:cubicBezTo>
                  <a:lnTo>
                    <a:pt x="150622" y="640080"/>
                  </a:lnTo>
                  <a:cubicBezTo>
                    <a:pt x="67437" y="640080"/>
                    <a:pt x="0" y="572643"/>
                    <a:pt x="0" y="489458"/>
                  </a:cubicBezTo>
                  <a:close/>
                </a:path>
              </a:pathLst>
            </a:custGeom>
            <a:solidFill>
              <a:srgbClr val="F8FAFC"/>
            </a:solidFill>
            <a:ln w="13345" cap="sq">
              <a:solidFill>
                <a:srgbClr val="D6D0C8"/>
              </a:solidFill>
              <a:prstDash val="solid"/>
              <a:miter/>
            </a:ln>
          </p:spPr>
        </p:sp>
      </p:grpSp>
      <p:sp>
        <p:nvSpPr>
          <p:cNvPr name="TextBox 28" id="28"/>
          <p:cNvSpPr txBox="true"/>
          <p:nvPr/>
        </p:nvSpPr>
        <p:spPr>
          <a:xfrm rot="0">
            <a:off x="7762938" y="5358746"/>
            <a:ext cx="1975693" cy="281940"/>
          </a:xfrm>
          <a:prstGeom prst="rect">
            <a:avLst/>
          </a:prstGeom>
        </p:spPr>
        <p:txBody>
          <a:bodyPr anchor="t" rtlCol="false" tIns="0" lIns="0" bIns="0" rIns="0">
            <a:spAutoFit/>
          </a:bodyPr>
          <a:lstStyle/>
          <a:p>
            <a:pPr algn="ctr">
              <a:lnSpc>
                <a:spcPts val="2280"/>
              </a:lnSpc>
            </a:pPr>
            <a:r>
              <a:rPr lang="en-US" sz="2000">
                <a:solidFill>
                  <a:srgbClr val="1E293B"/>
                </a:solidFill>
                <a:latin typeface="Montserrat"/>
                <a:ea typeface="Montserrat"/>
                <a:cs typeface="Montserrat"/>
                <a:sym typeface="Montserrat"/>
              </a:rPr>
              <a:t>Random Forest</a:t>
            </a:r>
          </a:p>
        </p:txBody>
      </p:sp>
      <p:sp>
        <p:nvSpPr>
          <p:cNvPr name="TextBox 29" id="29"/>
          <p:cNvSpPr txBox="true"/>
          <p:nvPr/>
        </p:nvSpPr>
        <p:spPr>
          <a:xfrm rot="0">
            <a:off x="10569578" y="5320646"/>
            <a:ext cx="5216157"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Tree ensemble comparison</a:t>
            </a:r>
          </a:p>
        </p:txBody>
      </p:sp>
      <p:grpSp>
        <p:nvGrpSpPr>
          <p:cNvPr name="Group 30" id="30"/>
          <p:cNvGrpSpPr/>
          <p:nvPr/>
        </p:nvGrpSpPr>
        <p:grpSpPr>
          <a:xfrm rot="0">
            <a:off x="7268489" y="6019362"/>
            <a:ext cx="2964590" cy="480050"/>
            <a:chOff x="0" y="0"/>
            <a:chExt cx="3952786" cy="640067"/>
          </a:xfrm>
        </p:grpSpPr>
        <p:sp>
          <p:nvSpPr>
            <p:cNvPr name="Freeform 31" id="31"/>
            <p:cNvSpPr/>
            <p:nvPr/>
          </p:nvSpPr>
          <p:spPr>
            <a:xfrm flipH="false" flipV="false" rot="0">
              <a:off x="0" y="0"/>
              <a:ext cx="3952748" cy="640080"/>
            </a:xfrm>
            <a:custGeom>
              <a:avLst/>
              <a:gdLst/>
              <a:ahLst/>
              <a:cxnLst/>
              <a:rect r="r" b="b" t="t" l="l"/>
              <a:pathLst>
                <a:path h="640080" w="3952748">
                  <a:moveTo>
                    <a:pt x="0" y="150622"/>
                  </a:moveTo>
                  <a:cubicBezTo>
                    <a:pt x="0" y="67437"/>
                    <a:pt x="67437" y="0"/>
                    <a:pt x="150622" y="0"/>
                  </a:cubicBezTo>
                  <a:lnTo>
                    <a:pt x="3802126" y="0"/>
                  </a:lnTo>
                  <a:cubicBezTo>
                    <a:pt x="3885311" y="0"/>
                    <a:pt x="3952748" y="67437"/>
                    <a:pt x="3952748" y="150622"/>
                  </a:cubicBezTo>
                  <a:lnTo>
                    <a:pt x="3952748" y="489458"/>
                  </a:lnTo>
                  <a:cubicBezTo>
                    <a:pt x="3952748" y="572643"/>
                    <a:pt x="3885311" y="640080"/>
                    <a:pt x="3802126" y="640080"/>
                  </a:cubicBezTo>
                  <a:lnTo>
                    <a:pt x="150622" y="640080"/>
                  </a:lnTo>
                  <a:cubicBezTo>
                    <a:pt x="67437" y="640080"/>
                    <a:pt x="0" y="572643"/>
                    <a:pt x="0" y="489458"/>
                  </a:cubicBezTo>
                  <a:close/>
                </a:path>
              </a:pathLst>
            </a:custGeom>
            <a:solidFill>
              <a:srgbClr val="F8FAFC"/>
            </a:solidFill>
            <a:ln w="13345" cap="sq">
              <a:solidFill>
                <a:srgbClr val="D6D0C8"/>
              </a:solidFill>
              <a:prstDash val="solid"/>
              <a:miter/>
            </a:ln>
          </p:spPr>
        </p:sp>
      </p:grpSp>
      <p:sp>
        <p:nvSpPr>
          <p:cNvPr name="TextBox 32" id="32"/>
          <p:cNvSpPr txBox="true"/>
          <p:nvPr/>
        </p:nvSpPr>
        <p:spPr>
          <a:xfrm rot="0">
            <a:off x="7981268" y="6154893"/>
            <a:ext cx="1539032" cy="281940"/>
          </a:xfrm>
          <a:prstGeom prst="rect">
            <a:avLst/>
          </a:prstGeom>
        </p:spPr>
        <p:txBody>
          <a:bodyPr anchor="t" rtlCol="false" tIns="0" lIns="0" bIns="0" rIns="0">
            <a:spAutoFit/>
          </a:bodyPr>
          <a:lstStyle/>
          <a:p>
            <a:pPr algn="ctr">
              <a:lnSpc>
                <a:spcPts val="2280"/>
              </a:lnSpc>
            </a:pPr>
            <a:r>
              <a:rPr lang="en-US" sz="2000">
                <a:solidFill>
                  <a:srgbClr val="1E293B"/>
                </a:solidFill>
                <a:latin typeface="Montserrat"/>
                <a:ea typeface="Montserrat"/>
                <a:cs typeface="Montserrat"/>
                <a:sym typeface="Montserrat"/>
              </a:rPr>
              <a:t>Naive Bayes</a:t>
            </a:r>
          </a:p>
        </p:txBody>
      </p:sp>
      <p:sp>
        <p:nvSpPr>
          <p:cNvPr name="TextBox 33" id="33"/>
          <p:cNvSpPr txBox="true"/>
          <p:nvPr/>
        </p:nvSpPr>
        <p:spPr>
          <a:xfrm rot="0">
            <a:off x="10569578" y="6116793"/>
            <a:ext cx="5216157"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Fast classical text baseline</a:t>
            </a:r>
          </a:p>
        </p:txBody>
      </p:sp>
      <p:sp>
        <p:nvSpPr>
          <p:cNvPr name="TextBox 34" id="34"/>
          <p:cNvSpPr txBox="true"/>
          <p:nvPr/>
        </p:nvSpPr>
        <p:spPr>
          <a:xfrm rot="0">
            <a:off x="7343794" y="6973176"/>
            <a:ext cx="8922372" cy="230743"/>
          </a:xfrm>
          <a:prstGeom prst="rect">
            <a:avLst/>
          </a:prstGeom>
        </p:spPr>
        <p:txBody>
          <a:bodyPr anchor="t" rtlCol="false" tIns="0" lIns="0" bIns="0" rIns="0">
            <a:spAutoFit/>
          </a:bodyPr>
          <a:lstStyle/>
          <a:p>
            <a:pPr algn="l">
              <a:lnSpc>
                <a:spcPts val="1745"/>
              </a:lnSpc>
            </a:pPr>
            <a:r>
              <a:rPr lang="en-US" sz="1531" b="true">
                <a:solidFill>
                  <a:srgbClr val="1E293B"/>
                </a:solidFill>
                <a:latin typeface="Montserrat Bold"/>
                <a:ea typeface="Montserrat Bold"/>
                <a:cs typeface="Montserrat Bold"/>
                <a:sym typeface="Montserrat Bold"/>
              </a:rPr>
              <a:t>Selection rule: validation first, then final refit and test evaluation.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32185" y="-13554"/>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09</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Model benchmark</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The best model is selected by validation F1 macro, not by preference.</a:t>
            </a:r>
          </a:p>
        </p:txBody>
      </p:sp>
      <p:grpSp>
        <p:nvGrpSpPr>
          <p:cNvPr name="Group 10" id="10"/>
          <p:cNvGrpSpPr/>
          <p:nvPr/>
        </p:nvGrpSpPr>
        <p:grpSpPr>
          <a:xfrm rot="0">
            <a:off x="1175728" y="2397414"/>
            <a:ext cx="10030044" cy="737044"/>
            <a:chOff x="0" y="0"/>
            <a:chExt cx="13373392" cy="982726"/>
          </a:xfrm>
        </p:grpSpPr>
        <p:sp>
          <p:nvSpPr>
            <p:cNvPr name="Freeform 11" id="11"/>
            <p:cNvSpPr/>
            <p:nvPr/>
          </p:nvSpPr>
          <p:spPr>
            <a:xfrm flipH="false" flipV="false" rot="0">
              <a:off x="0" y="0"/>
              <a:ext cx="13373354" cy="982726"/>
            </a:xfrm>
            <a:custGeom>
              <a:avLst/>
              <a:gdLst/>
              <a:ahLst/>
              <a:cxnLst/>
              <a:rect r="r" b="b" t="t" l="l"/>
              <a:pathLst>
                <a:path h="982726" w="13373354">
                  <a:moveTo>
                    <a:pt x="0" y="111252"/>
                  </a:moveTo>
                  <a:cubicBezTo>
                    <a:pt x="0" y="49784"/>
                    <a:pt x="49784" y="0"/>
                    <a:pt x="111252" y="0"/>
                  </a:cubicBezTo>
                  <a:lnTo>
                    <a:pt x="13262102" y="0"/>
                  </a:lnTo>
                  <a:cubicBezTo>
                    <a:pt x="13323570" y="0"/>
                    <a:pt x="13373354" y="49784"/>
                    <a:pt x="13373354" y="111252"/>
                  </a:cubicBezTo>
                  <a:lnTo>
                    <a:pt x="13373354" y="871474"/>
                  </a:lnTo>
                  <a:cubicBezTo>
                    <a:pt x="13373354" y="932942"/>
                    <a:pt x="13323570" y="982726"/>
                    <a:pt x="13262102" y="982726"/>
                  </a:cubicBezTo>
                  <a:lnTo>
                    <a:pt x="111252" y="982726"/>
                  </a:lnTo>
                  <a:cubicBezTo>
                    <a:pt x="49784" y="982726"/>
                    <a:pt x="0" y="932942"/>
                    <a:pt x="0" y="871474"/>
                  </a:cubicBezTo>
                  <a:close/>
                </a:path>
              </a:pathLst>
            </a:custGeom>
            <a:solidFill>
              <a:srgbClr val="1E293B"/>
            </a:solidFill>
            <a:ln w="9532" cap="sq">
              <a:solidFill>
                <a:srgbClr val="D6D0C8"/>
              </a:solidFill>
              <a:prstDash val="solid"/>
              <a:miter/>
            </a:ln>
          </p:spPr>
        </p:sp>
      </p:grpSp>
      <p:grpSp>
        <p:nvGrpSpPr>
          <p:cNvPr name="Group 12" id="12"/>
          <p:cNvGrpSpPr/>
          <p:nvPr/>
        </p:nvGrpSpPr>
        <p:grpSpPr>
          <a:xfrm rot="0">
            <a:off x="1290314" y="2511990"/>
            <a:ext cx="3588163" cy="507889"/>
            <a:chOff x="0" y="0"/>
            <a:chExt cx="4784217" cy="677185"/>
          </a:xfrm>
        </p:grpSpPr>
        <p:sp>
          <p:nvSpPr>
            <p:cNvPr name="Freeform 13" id="13"/>
            <p:cNvSpPr/>
            <p:nvPr/>
          </p:nvSpPr>
          <p:spPr>
            <a:xfrm flipH="false" flipV="false" rot="0">
              <a:off x="0" y="0"/>
              <a:ext cx="4784222" cy="677181"/>
            </a:xfrm>
            <a:custGeom>
              <a:avLst/>
              <a:gdLst/>
              <a:ahLst/>
              <a:cxnLst/>
              <a:rect r="r" b="b" t="t" l="l"/>
              <a:pathLst>
                <a:path h="677181" w="4784222">
                  <a:moveTo>
                    <a:pt x="0" y="0"/>
                  </a:moveTo>
                  <a:lnTo>
                    <a:pt x="4784222" y="0"/>
                  </a:lnTo>
                  <a:lnTo>
                    <a:pt x="4784222" y="677181"/>
                  </a:lnTo>
                  <a:lnTo>
                    <a:pt x="0" y="677181"/>
                  </a:lnTo>
                  <a:close/>
                </a:path>
              </a:pathLst>
            </a:custGeom>
            <a:blipFill>
              <a:blip r:embed="rId3">
                <a:alphaModFix amt="0"/>
              </a:blip>
              <a:stretch>
                <a:fillRect l="0" t="-87659" r="0" b="-87660"/>
              </a:stretch>
            </a:blipFill>
          </p:spPr>
        </p:sp>
        <p:sp>
          <p:nvSpPr>
            <p:cNvPr name="TextBox 14" id="14"/>
            <p:cNvSpPr txBox="true"/>
            <p:nvPr/>
          </p:nvSpPr>
          <p:spPr>
            <a:xfrm>
              <a:off x="0" y="19050"/>
              <a:ext cx="4784217" cy="658135"/>
            </a:xfrm>
            <a:prstGeom prst="rect">
              <a:avLst/>
            </a:prstGeom>
          </p:spPr>
          <p:txBody>
            <a:bodyPr anchor="ctr" rtlCol="false" tIns="0" lIns="0" bIns="0" rIns="0"/>
            <a:lstStyle/>
            <a:p>
              <a:pPr algn="l">
                <a:lnSpc>
                  <a:spcPts val="2280"/>
                </a:lnSpc>
              </a:pPr>
              <a:r>
                <a:rPr lang="en-US" sz="2000" b="true">
                  <a:solidFill>
                    <a:srgbClr val="FFFFFF"/>
                  </a:solidFill>
                  <a:latin typeface="Montserrat Bold"/>
                  <a:ea typeface="Montserrat Bold"/>
                  <a:cs typeface="Montserrat Bold"/>
                  <a:sym typeface="Montserrat Bold"/>
                </a:rPr>
                <a:t>Model</a:t>
              </a:r>
            </a:p>
          </p:txBody>
        </p:sp>
      </p:grpSp>
      <p:grpSp>
        <p:nvGrpSpPr>
          <p:cNvPr name="Group 15" id="15"/>
          <p:cNvGrpSpPr/>
          <p:nvPr/>
        </p:nvGrpSpPr>
        <p:grpSpPr>
          <a:xfrm rot="0">
            <a:off x="5098104" y="2511990"/>
            <a:ext cx="1333548" cy="507889"/>
            <a:chOff x="0" y="0"/>
            <a:chExt cx="1778064" cy="677185"/>
          </a:xfrm>
        </p:grpSpPr>
        <p:sp>
          <p:nvSpPr>
            <p:cNvPr name="Freeform 16" id="1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17" id="17"/>
            <p:cNvSpPr txBox="true"/>
            <p:nvPr/>
          </p:nvSpPr>
          <p:spPr>
            <a:xfrm>
              <a:off x="0" y="19050"/>
              <a:ext cx="1778064" cy="658135"/>
            </a:xfrm>
            <a:prstGeom prst="rect">
              <a:avLst/>
            </a:prstGeom>
          </p:spPr>
          <p:txBody>
            <a:bodyPr anchor="ctr" rtlCol="false" tIns="0" lIns="0" bIns="0" rIns="0"/>
            <a:lstStyle/>
            <a:p>
              <a:pPr algn="ctr">
                <a:lnSpc>
                  <a:spcPts val="2280"/>
                </a:lnSpc>
              </a:pPr>
              <a:r>
                <a:rPr lang="en-US" sz="2000" b="true">
                  <a:solidFill>
                    <a:srgbClr val="FFFFFF"/>
                  </a:solidFill>
                  <a:latin typeface="Montserrat Bold"/>
                  <a:ea typeface="Montserrat Bold"/>
                  <a:cs typeface="Montserrat Bold"/>
                  <a:sym typeface="Montserrat Bold"/>
                </a:rPr>
                <a:t>Val Acc</a:t>
              </a:r>
            </a:p>
          </p:txBody>
        </p:sp>
      </p:grpSp>
      <p:grpSp>
        <p:nvGrpSpPr>
          <p:cNvPr name="Group 18" id="18"/>
          <p:cNvGrpSpPr/>
          <p:nvPr/>
        </p:nvGrpSpPr>
        <p:grpSpPr>
          <a:xfrm rot="0">
            <a:off x="4984480" y="2508180"/>
            <a:ext cx="7630" cy="515512"/>
            <a:chOff x="0" y="0"/>
            <a:chExt cx="10173" cy="687349"/>
          </a:xfrm>
        </p:grpSpPr>
        <p:sp>
          <p:nvSpPr>
            <p:cNvPr name="Freeform 19" id="1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20" id="20"/>
          <p:cNvGrpSpPr/>
          <p:nvPr/>
        </p:nvGrpSpPr>
        <p:grpSpPr>
          <a:xfrm rot="0">
            <a:off x="6651288" y="2511990"/>
            <a:ext cx="1333548" cy="507889"/>
            <a:chOff x="0" y="0"/>
            <a:chExt cx="1778064" cy="677185"/>
          </a:xfrm>
        </p:grpSpPr>
        <p:sp>
          <p:nvSpPr>
            <p:cNvPr name="Freeform 21" id="2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22" id="22"/>
            <p:cNvSpPr txBox="true"/>
            <p:nvPr/>
          </p:nvSpPr>
          <p:spPr>
            <a:xfrm>
              <a:off x="0" y="19050"/>
              <a:ext cx="1778064" cy="658135"/>
            </a:xfrm>
            <a:prstGeom prst="rect">
              <a:avLst/>
            </a:prstGeom>
          </p:spPr>
          <p:txBody>
            <a:bodyPr anchor="ctr" rtlCol="false" tIns="0" lIns="0" bIns="0" rIns="0"/>
            <a:lstStyle/>
            <a:p>
              <a:pPr algn="ctr">
                <a:lnSpc>
                  <a:spcPts val="2280"/>
                </a:lnSpc>
              </a:pPr>
              <a:r>
                <a:rPr lang="en-US" sz="2000" b="true">
                  <a:solidFill>
                    <a:srgbClr val="FFFFFF"/>
                  </a:solidFill>
                  <a:latin typeface="Montserrat Bold"/>
                  <a:ea typeface="Montserrat Bold"/>
                  <a:cs typeface="Montserrat Bold"/>
                  <a:sym typeface="Montserrat Bold"/>
                </a:rPr>
                <a:t>Val F1</a:t>
              </a:r>
            </a:p>
          </p:txBody>
        </p:sp>
      </p:grpSp>
      <p:grpSp>
        <p:nvGrpSpPr>
          <p:cNvPr name="Group 23" id="23"/>
          <p:cNvGrpSpPr/>
          <p:nvPr/>
        </p:nvGrpSpPr>
        <p:grpSpPr>
          <a:xfrm rot="0">
            <a:off x="6537655" y="2508180"/>
            <a:ext cx="7630" cy="515512"/>
            <a:chOff x="0" y="0"/>
            <a:chExt cx="10173" cy="687349"/>
          </a:xfrm>
        </p:grpSpPr>
        <p:sp>
          <p:nvSpPr>
            <p:cNvPr name="Freeform 24" id="2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25" id="25"/>
          <p:cNvGrpSpPr/>
          <p:nvPr/>
        </p:nvGrpSpPr>
        <p:grpSpPr>
          <a:xfrm rot="0">
            <a:off x="8204464" y="2511990"/>
            <a:ext cx="1333548" cy="507889"/>
            <a:chOff x="0" y="0"/>
            <a:chExt cx="1778064" cy="677185"/>
          </a:xfrm>
        </p:grpSpPr>
        <p:sp>
          <p:nvSpPr>
            <p:cNvPr name="Freeform 26" id="2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27" id="27"/>
            <p:cNvSpPr txBox="true"/>
            <p:nvPr/>
          </p:nvSpPr>
          <p:spPr>
            <a:xfrm>
              <a:off x="0" y="19050"/>
              <a:ext cx="1778064" cy="658135"/>
            </a:xfrm>
            <a:prstGeom prst="rect">
              <a:avLst/>
            </a:prstGeom>
          </p:spPr>
          <p:txBody>
            <a:bodyPr anchor="ctr" rtlCol="false" tIns="0" lIns="0" bIns="0" rIns="0"/>
            <a:lstStyle/>
            <a:p>
              <a:pPr algn="ctr">
                <a:lnSpc>
                  <a:spcPts val="2280"/>
                </a:lnSpc>
              </a:pPr>
              <a:r>
                <a:rPr lang="en-US" sz="2000" b="true">
                  <a:solidFill>
                    <a:srgbClr val="FFFFFF"/>
                  </a:solidFill>
                  <a:latin typeface="Montserrat Bold"/>
                  <a:ea typeface="Montserrat Bold"/>
                  <a:cs typeface="Montserrat Bold"/>
                  <a:sym typeface="Montserrat Bold"/>
                </a:rPr>
                <a:t>Test Acc</a:t>
              </a:r>
            </a:p>
          </p:txBody>
        </p:sp>
      </p:grpSp>
      <p:grpSp>
        <p:nvGrpSpPr>
          <p:cNvPr name="Group 28" id="28"/>
          <p:cNvGrpSpPr/>
          <p:nvPr/>
        </p:nvGrpSpPr>
        <p:grpSpPr>
          <a:xfrm rot="0">
            <a:off x="8090840" y="2508180"/>
            <a:ext cx="7630" cy="515512"/>
            <a:chOff x="0" y="0"/>
            <a:chExt cx="10173" cy="687349"/>
          </a:xfrm>
        </p:grpSpPr>
        <p:sp>
          <p:nvSpPr>
            <p:cNvPr name="Freeform 29" id="2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30" id="30"/>
          <p:cNvGrpSpPr/>
          <p:nvPr/>
        </p:nvGrpSpPr>
        <p:grpSpPr>
          <a:xfrm rot="0">
            <a:off x="9757639" y="2511990"/>
            <a:ext cx="1333548" cy="507889"/>
            <a:chOff x="0" y="0"/>
            <a:chExt cx="1778064" cy="677185"/>
          </a:xfrm>
        </p:grpSpPr>
        <p:sp>
          <p:nvSpPr>
            <p:cNvPr name="Freeform 31" id="3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32" id="32"/>
            <p:cNvSpPr txBox="true"/>
            <p:nvPr/>
          </p:nvSpPr>
          <p:spPr>
            <a:xfrm>
              <a:off x="0" y="19050"/>
              <a:ext cx="1778064" cy="658135"/>
            </a:xfrm>
            <a:prstGeom prst="rect">
              <a:avLst/>
            </a:prstGeom>
          </p:spPr>
          <p:txBody>
            <a:bodyPr anchor="ctr" rtlCol="false" tIns="0" lIns="0" bIns="0" rIns="0"/>
            <a:lstStyle/>
            <a:p>
              <a:pPr algn="ctr">
                <a:lnSpc>
                  <a:spcPts val="2280"/>
                </a:lnSpc>
              </a:pPr>
              <a:r>
                <a:rPr lang="en-US" sz="2000" b="true">
                  <a:solidFill>
                    <a:srgbClr val="FFFFFF"/>
                  </a:solidFill>
                  <a:latin typeface="Montserrat Bold"/>
                  <a:ea typeface="Montserrat Bold"/>
                  <a:cs typeface="Montserrat Bold"/>
                  <a:sym typeface="Montserrat Bold"/>
                </a:rPr>
                <a:t>Test F1</a:t>
              </a:r>
            </a:p>
          </p:txBody>
        </p:sp>
      </p:grpSp>
      <p:grpSp>
        <p:nvGrpSpPr>
          <p:cNvPr name="Group 33" id="33"/>
          <p:cNvGrpSpPr/>
          <p:nvPr/>
        </p:nvGrpSpPr>
        <p:grpSpPr>
          <a:xfrm rot="0">
            <a:off x="9644015" y="2508180"/>
            <a:ext cx="7630" cy="515512"/>
            <a:chOff x="0" y="0"/>
            <a:chExt cx="10173" cy="687349"/>
          </a:xfrm>
        </p:grpSpPr>
        <p:sp>
          <p:nvSpPr>
            <p:cNvPr name="Freeform 34" id="3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35" id="35"/>
          <p:cNvGrpSpPr/>
          <p:nvPr/>
        </p:nvGrpSpPr>
        <p:grpSpPr>
          <a:xfrm rot="0">
            <a:off x="1175728" y="3124924"/>
            <a:ext cx="10030044" cy="737044"/>
            <a:chOff x="0" y="0"/>
            <a:chExt cx="13373392" cy="982726"/>
          </a:xfrm>
        </p:grpSpPr>
        <p:sp>
          <p:nvSpPr>
            <p:cNvPr name="Freeform 36" id="36"/>
            <p:cNvSpPr/>
            <p:nvPr/>
          </p:nvSpPr>
          <p:spPr>
            <a:xfrm flipH="false" flipV="false" rot="0">
              <a:off x="0" y="0"/>
              <a:ext cx="13373354" cy="982726"/>
            </a:xfrm>
            <a:custGeom>
              <a:avLst/>
              <a:gdLst/>
              <a:ahLst/>
              <a:cxnLst/>
              <a:rect r="r" b="b" t="t" l="l"/>
              <a:pathLst>
                <a:path h="982726" w="13373354">
                  <a:moveTo>
                    <a:pt x="0" y="111252"/>
                  </a:moveTo>
                  <a:cubicBezTo>
                    <a:pt x="0" y="49784"/>
                    <a:pt x="49784" y="0"/>
                    <a:pt x="111252" y="0"/>
                  </a:cubicBezTo>
                  <a:lnTo>
                    <a:pt x="13262102" y="0"/>
                  </a:lnTo>
                  <a:cubicBezTo>
                    <a:pt x="13323570" y="0"/>
                    <a:pt x="13373354" y="49784"/>
                    <a:pt x="13373354" y="111252"/>
                  </a:cubicBezTo>
                  <a:lnTo>
                    <a:pt x="13373354" y="871474"/>
                  </a:lnTo>
                  <a:cubicBezTo>
                    <a:pt x="13373354" y="932942"/>
                    <a:pt x="13323570" y="982726"/>
                    <a:pt x="13262102" y="982726"/>
                  </a:cubicBezTo>
                  <a:lnTo>
                    <a:pt x="111252" y="982726"/>
                  </a:lnTo>
                  <a:cubicBezTo>
                    <a:pt x="49784" y="982726"/>
                    <a:pt x="0" y="932942"/>
                    <a:pt x="0" y="871474"/>
                  </a:cubicBezTo>
                  <a:close/>
                </a:path>
              </a:pathLst>
            </a:custGeom>
            <a:solidFill>
              <a:srgbClr val="FFFFFF"/>
            </a:solidFill>
            <a:ln w="9532" cap="sq">
              <a:solidFill>
                <a:srgbClr val="D6D0C8"/>
              </a:solidFill>
              <a:prstDash val="solid"/>
              <a:miter/>
            </a:ln>
          </p:spPr>
        </p:sp>
      </p:grpSp>
      <p:grpSp>
        <p:nvGrpSpPr>
          <p:cNvPr name="Group 37" id="37"/>
          <p:cNvGrpSpPr/>
          <p:nvPr/>
        </p:nvGrpSpPr>
        <p:grpSpPr>
          <a:xfrm rot="0">
            <a:off x="1290314" y="3239510"/>
            <a:ext cx="3588163" cy="507889"/>
            <a:chOff x="0" y="0"/>
            <a:chExt cx="4784217" cy="677185"/>
          </a:xfrm>
        </p:grpSpPr>
        <p:sp>
          <p:nvSpPr>
            <p:cNvPr name="Freeform 38" id="38"/>
            <p:cNvSpPr/>
            <p:nvPr/>
          </p:nvSpPr>
          <p:spPr>
            <a:xfrm flipH="false" flipV="false" rot="0">
              <a:off x="0" y="0"/>
              <a:ext cx="4784222" cy="677181"/>
            </a:xfrm>
            <a:custGeom>
              <a:avLst/>
              <a:gdLst/>
              <a:ahLst/>
              <a:cxnLst/>
              <a:rect r="r" b="b" t="t" l="l"/>
              <a:pathLst>
                <a:path h="677181" w="4784222">
                  <a:moveTo>
                    <a:pt x="0" y="0"/>
                  </a:moveTo>
                  <a:lnTo>
                    <a:pt x="4784222" y="0"/>
                  </a:lnTo>
                  <a:lnTo>
                    <a:pt x="4784222" y="677181"/>
                  </a:lnTo>
                  <a:lnTo>
                    <a:pt x="0" y="677181"/>
                  </a:lnTo>
                  <a:close/>
                </a:path>
              </a:pathLst>
            </a:custGeom>
            <a:blipFill>
              <a:blip r:embed="rId3">
                <a:alphaModFix amt="0"/>
              </a:blip>
              <a:stretch>
                <a:fillRect l="0" t="-87659" r="0" b="-87660"/>
              </a:stretch>
            </a:blipFill>
          </p:spPr>
        </p:sp>
        <p:sp>
          <p:nvSpPr>
            <p:cNvPr name="TextBox 39" id="39"/>
            <p:cNvSpPr txBox="true"/>
            <p:nvPr/>
          </p:nvSpPr>
          <p:spPr>
            <a:xfrm>
              <a:off x="0" y="-19050"/>
              <a:ext cx="4784217" cy="696235"/>
            </a:xfrm>
            <a:prstGeom prst="rect">
              <a:avLst/>
            </a:prstGeom>
          </p:spPr>
          <p:txBody>
            <a:bodyPr anchor="ctr" rtlCol="false" tIns="0" lIns="0" bIns="0" rIns="0"/>
            <a:lstStyle/>
            <a:p>
              <a:pPr algn="l">
                <a:lnSpc>
                  <a:spcPts val="2280"/>
                </a:lnSpc>
              </a:pPr>
              <a:r>
                <a:rPr lang="en-US" sz="2000" b="true">
                  <a:solidFill>
                    <a:srgbClr val="1E293B"/>
                  </a:solidFill>
                  <a:latin typeface="Calibri (MS) Bold"/>
                  <a:ea typeface="Calibri (MS) Bold"/>
                  <a:cs typeface="Calibri (MS) Bold"/>
                  <a:sym typeface="Calibri (MS) Bold"/>
                </a:rPr>
                <a:t>Logistic Regression</a:t>
              </a:r>
            </a:p>
          </p:txBody>
        </p:sp>
      </p:grpSp>
      <p:grpSp>
        <p:nvGrpSpPr>
          <p:cNvPr name="Group 40" id="40"/>
          <p:cNvGrpSpPr/>
          <p:nvPr/>
        </p:nvGrpSpPr>
        <p:grpSpPr>
          <a:xfrm rot="0">
            <a:off x="5098104" y="3239510"/>
            <a:ext cx="1333548" cy="507889"/>
            <a:chOff x="0" y="0"/>
            <a:chExt cx="1778064" cy="677185"/>
          </a:xfrm>
        </p:grpSpPr>
        <p:sp>
          <p:nvSpPr>
            <p:cNvPr name="Freeform 41" id="4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42" id="42"/>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0.9200</a:t>
              </a:r>
            </a:p>
          </p:txBody>
        </p:sp>
      </p:grpSp>
      <p:grpSp>
        <p:nvGrpSpPr>
          <p:cNvPr name="Group 43" id="43"/>
          <p:cNvGrpSpPr/>
          <p:nvPr/>
        </p:nvGrpSpPr>
        <p:grpSpPr>
          <a:xfrm rot="0">
            <a:off x="4984480" y="3235690"/>
            <a:ext cx="7630" cy="515512"/>
            <a:chOff x="0" y="0"/>
            <a:chExt cx="10173" cy="687349"/>
          </a:xfrm>
        </p:grpSpPr>
        <p:sp>
          <p:nvSpPr>
            <p:cNvPr name="Freeform 44" id="4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45" id="45"/>
          <p:cNvGrpSpPr/>
          <p:nvPr/>
        </p:nvGrpSpPr>
        <p:grpSpPr>
          <a:xfrm rot="0">
            <a:off x="6651288" y="3239510"/>
            <a:ext cx="1333548" cy="507889"/>
            <a:chOff x="0" y="0"/>
            <a:chExt cx="1778064" cy="677185"/>
          </a:xfrm>
        </p:grpSpPr>
        <p:sp>
          <p:nvSpPr>
            <p:cNvPr name="Freeform 46" id="4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47" id="47"/>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0.9196</a:t>
              </a:r>
            </a:p>
          </p:txBody>
        </p:sp>
      </p:grpSp>
      <p:grpSp>
        <p:nvGrpSpPr>
          <p:cNvPr name="Group 48" id="48"/>
          <p:cNvGrpSpPr/>
          <p:nvPr/>
        </p:nvGrpSpPr>
        <p:grpSpPr>
          <a:xfrm rot="0">
            <a:off x="6537655" y="3235690"/>
            <a:ext cx="7630" cy="515512"/>
            <a:chOff x="0" y="0"/>
            <a:chExt cx="10173" cy="687349"/>
          </a:xfrm>
        </p:grpSpPr>
        <p:sp>
          <p:nvSpPr>
            <p:cNvPr name="Freeform 49" id="4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50" id="50"/>
          <p:cNvGrpSpPr/>
          <p:nvPr/>
        </p:nvGrpSpPr>
        <p:grpSpPr>
          <a:xfrm rot="0">
            <a:off x="8204464" y="3239510"/>
            <a:ext cx="1333548" cy="507889"/>
            <a:chOff x="0" y="0"/>
            <a:chExt cx="1778064" cy="677185"/>
          </a:xfrm>
        </p:grpSpPr>
        <p:sp>
          <p:nvSpPr>
            <p:cNvPr name="Freeform 51" id="5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52" id="52"/>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0.8933</a:t>
              </a:r>
            </a:p>
          </p:txBody>
        </p:sp>
      </p:grpSp>
      <p:grpSp>
        <p:nvGrpSpPr>
          <p:cNvPr name="Group 53" id="53"/>
          <p:cNvGrpSpPr/>
          <p:nvPr/>
        </p:nvGrpSpPr>
        <p:grpSpPr>
          <a:xfrm rot="0">
            <a:off x="8090840" y="3235690"/>
            <a:ext cx="7630" cy="515512"/>
            <a:chOff x="0" y="0"/>
            <a:chExt cx="10173" cy="687349"/>
          </a:xfrm>
        </p:grpSpPr>
        <p:sp>
          <p:nvSpPr>
            <p:cNvPr name="Freeform 54" id="5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55" id="55"/>
          <p:cNvGrpSpPr/>
          <p:nvPr/>
        </p:nvGrpSpPr>
        <p:grpSpPr>
          <a:xfrm rot="0">
            <a:off x="9757639" y="3239510"/>
            <a:ext cx="1333548" cy="507889"/>
            <a:chOff x="0" y="0"/>
            <a:chExt cx="1778064" cy="677185"/>
          </a:xfrm>
        </p:grpSpPr>
        <p:sp>
          <p:nvSpPr>
            <p:cNvPr name="Freeform 56" id="5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57" id="57"/>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0.8929</a:t>
              </a:r>
            </a:p>
          </p:txBody>
        </p:sp>
      </p:grpSp>
      <p:grpSp>
        <p:nvGrpSpPr>
          <p:cNvPr name="Group 58" id="58"/>
          <p:cNvGrpSpPr/>
          <p:nvPr/>
        </p:nvGrpSpPr>
        <p:grpSpPr>
          <a:xfrm rot="0">
            <a:off x="9644015" y="3235690"/>
            <a:ext cx="7630" cy="515512"/>
            <a:chOff x="0" y="0"/>
            <a:chExt cx="10173" cy="687349"/>
          </a:xfrm>
        </p:grpSpPr>
        <p:sp>
          <p:nvSpPr>
            <p:cNvPr name="Freeform 59" id="5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60" id="60"/>
          <p:cNvGrpSpPr/>
          <p:nvPr/>
        </p:nvGrpSpPr>
        <p:grpSpPr>
          <a:xfrm rot="0">
            <a:off x="1175728" y="3852443"/>
            <a:ext cx="10030044" cy="737044"/>
            <a:chOff x="0" y="0"/>
            <a:chExt cx="13373392" cy="982726"/>
          </a:xfrm>
        </p:grpSpPr>
        <p:sp>
          <p:nvSpPr>
            <p:cNvPr name="Freeform 61" id="61"/>
            <p:cNvSpPr/>
            <p:nvPr/>
          </p:nvSpPr>
          <p:spPr>
            <a:xfrm flipH="false" flipV="false" rot="0">
              <a:off x="0" y="0"/>
              <a:ext cx="13373354" cy="982726"/>
            </a:xfrm>
            <a:custGeom>
              <a:avLst/>
              <a:gdLst/>
              <a:ahLst/>
              <a:cxnLst/>
              <a:rect r="r" b="b" t="t" l="l"/>
              <a:pathLst>
                <a:path h="982726" w="13373354">
                  <a:moveTo>
                    <a:pt x="0" y="111252"/>
                  </a:moveTo>
                  <a:cubicBezTo>
                    <a:pt x="0" y="49784"/>
                    <a:pt x="49784" y="0"/>
                    <a:pt x="111252" y="0"/>
                  </a:cubicBezTo>
                  <a:lnTo>
                    <a:pt x="13262102" y="0"/>
                  </a:lnTo>
                  <a:cubicBezTo>
                    <a:pt x="13323570" y="0"/>
                    <a:pt x="13373354" y="49784"/>
                    <a:pt x="13373354" y="111252"/>
                  </a:cubicBezTo>
                  <a:lnTo>
                    <a:pt x="13373354" y="871474"/>
                  </a:lnTo>
                  <a:cubicBezTo>
                    <a:pt x="13373354" y="932942"/>
                    <a:pt x="13323570" y="982726"/>
                    <a:pt x="13262102" y="982726"/>
                  </a:cubicBezTo>
                  <a:lnTo>
                    <a:pt x="111252" y="982726"/>
                  </a:lnTo>
                  <a:cubicBezTo>
                    <a:pt x="49784" y="982726"/>
                    <a:pt x="0" y="932942"/>
                    <a:pt x="0" y="871474"/>
                  </a:cubicBezTo>
                  <a:close/>
                </a:path>
              </a:pathLst>
            </a:custGeom>
            <a:solidFill>
              <a:srgbClr val="FF2828"/>
            </a:solidFill>
            <a:ln w="9532" cap="sq">
              <a:solidFill>
                <a:srgbClr val="D6D0C8"/>
              </a:solidFill>
              <a:prstDash val="solid"/>
              <a:miter/>
            </a:ln>
          </p:spPr>
        </p:sp>
      </p:grpSp>
      <p:grpSp>
        <p:nvGrpSpPr>
          <p:cNvPr name="Group 62" id="62"/>
          <p:cNvGrpSpPr/>
          <p:nvPr/>
        </p:nvGrpSpPr>
        <p:grpSpPr>
          <a:xfrm rot="0">
            <a:off x="1290314" y="3967020"/>
            <a:ext cx="3588163" cy="507889"/>
            <a:chOff x="0" y="0"/>
            <a:chExt cx="4784217" cy="677185"/>
          </a:xfrm>
        </p:grpSpPr>
        <p:sp>
          <p:nvSpPr>
            <p:cNvPr name="Freeform 63" id="63"/>
            <p:cNvSpPr/>
            <p:nvPr/>
          </p:nvSpPr>
          <p:spPr>
            <a:xfrm flipH="false" flipV="false" rot="0">
              <a:off x="0" y="0"/>
              <a:ext cx="4784222" cy="677181"/>
            </a:xfrm>
            <a:custGeom>
              <a:avLst/>
              <a:gdLst/>
              <a:ahLst/>
              <a:cxnLst/>
              <a:rect r="r" b="b" t="t" l="l"/>
              <a:pathLst>
                <a:path h="677181" w="4784222">
                  <a:moveTo>
                    <a:pt x="0" y="0"/>
                  </a:moveTo>
                  <a:lnTo>
                    <a:pt x="4784222" y="0"/>
                  </a:lnTo>
                  <a:lnTo>
                    <a:pt x="4784222" y="677181"/>
                  </a:lnTo>
                  <a:lnTo>
                    <a:pt x="0" y="677181"/>
                  </a:lnTo>
                  <a:close/>
                </a:path>
              </a:pathLst>
            </a:custGeom>
            <a:solidFill>
              <a:srgbClr val="FFDE59">
                <a:alpha val="0"/>
              </a:srgbClr>
            </a:solidFill>
          </p:spPr>
        </p:sp>
        <p:sp>
          <p:nvSpPr>
            <p:cNvPr name="TextBox 64" id="64"/>
            <p:cNvSpPr txBox="true"/>
            <p:nvPr/>
          </p:nvSpPr>
          <p:spPr>
            <a:xfrm>
              <a:off x="0" y="-19050"/>
              <a:ext cx="4784217" cy="696235"/>
            </a:xfrm>
            <a:prstGeom prst="rect">
              <a:avLst/>
            </a:prstGeom>
          </p:spPr>
          <p:txBody>
            <a:bodyPr anchor="ctr" rtlCol="false" tIns="0" lIns="0" bIns="0" rIns="0"/>
            <a:lstStyle/>
            <a:p>
              <a:pPr algn="l">
                <a:lnSpc>
                  <a:spcPts val="2280"/>
                </a:lnSpc>
              </a:pPr>
              <a:r>
                <a:rPr lang="en-US" b="true" sz="2000">
                  <a:solidFill>
                    <a:srgbClr val="FFDE59"/>
                  </a:solidFill>
                  <a:latin typeface="Calibri (MS) Bold"/>
                  <a:ea typeface="Calibri (MS) Bold"/>
                  <a:cs typeface="Calibri (MS) Bold"/>
                  <a:sym typeface="Calibri (MS) Bold"/>
                </a:rPr>
                <a:t>Linear SVM</a:t>
              </a:r>
            </a:p>
          </p:txBody>
        </p:sp>
      </p:grpSp>
      <p:grpSp>
        <p:nvGrpSpPr>
          <p:cNvPr name="Group 65" id="65"/>
          <p:cNvGrpSpPr/>
          <p:nvPr/>
        </p:nvGrpSpPr>
        <p:grpSpPr>
          <a:xfrm rot="0">
            <a:off x="5098104" y="3967020"/>
            <a:ext cx="1333548" cy="507889"/>
            <a:chOff x="0" y="0"/>
            <a:chExt cx="1778064" cy="677185"/>
          </a:xfrm>
        </p:grpSpPr>
        <p:sp>
          <p:nvSpPr>
            <p:cNvPr name="Freeform 66" id="6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67" id="67"/>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FFDE59"/>
                  </a:solidFill>
                  <a:latin typeface="Calibri (MS)"/>
                  <a:ea typeface="Calibri (MS)"/>
                  <a:cs typeface="Calibri (MS)"/>
                  <a:sym typeface="Calibri (MS)"/>
                </a:rPr>
                <a:t>0.9467</a:t>
              </a:r>
            </a:p>
          </p:txBody>
        </p:sp>
      </p:grpSp>
      <p:grpSp>
        <p:nvGrpSpPr>
          <p:cNvPr name="Group 68" id="68"/>
          <p:cNvGrpSpPr/>
          <p:nvPr/>
        </p:nvGrpSpPr>
        <p:grpSpPr>
          <a:xfrm rot="0">
            <a:off x="4984480" y="3963210"/>
            <a:ext cx="7630" cy="515512"/>
            <a:chOff x="0" y="0"/>
            <a:chExt cx="10173" cy="687349"/>
          </a:xfrm>
        </p:grpSpPr>
        <p:sp>
          <p:nvSpPr>
            <p:cNvPr name="Freeform 69" id="6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70" id="70"/>
          <p:cNvGrpSpPr/>
          <p:nvPr/>
        </p:nvGrpSpPr>
        <p:grpSpPr>
          <a:xfrm rot="0">
            <a:off x="6651288" y="3967020"/>
            <a:ext cx="1333548" cy="507889"/>
            <a:chOff x="0" y="0"/>
            <a:chExt cx="1778064" cy="677185"/>
          </a:xfrm>
        </p:grpSpPr>
        <p:sp>
          <p:nvSpPr>
            <p:cNvPr name="Freeform 71" id="7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72" id="72"/>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FFDE59"/>
                  </a:solidFill>
                  <a:latin typeface="Calibri (MS)"/>
                  <a:ea typeface="Calibri (MS)"/>
                  <a:cs typeface="Calibri (MS)"/>
                  <a:sym typeface="Calibri (MS)"/>
                </a:rPr>
                <a:t>0.9466</a:t>
              </a:r>
            </a:p>
          </p:txBody>
        </p:sp>
      </p:grpSp>
      <p:grpSp>
        <p:nvGrpSpPr>
          <p:cNvPr name="Group 73" id="73"/>
          <p:cNvGrpSpPr/>
          <p:nvPr/>
        </p:nvGrpSpPr>
        <p:grpSpPr>
          <a:xfrm rot="0">
            <a:off x="6537655" y="3963210"/>
            <a:ext cx="7630" cy="515512"/>
            <a:chOff x="0" y="0"/>
            <a:chExt cx="10173" cy="687349"/>
          </a:xfrm>
        </p:grpSpPr>
        <p:sp>
          <p:nvSpPr>
            <p:cNvPr name="Freeform 74" id="7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75" id="75"/>
          <p:cNvGrpSpPr/>
          <p:nvPr/>
        </p:nvGrpSpPr>
        <p:grpSpPr>
          <a:xfrm rot="0">
            <a:off x="8204464" y="3967020"/>
            <a:ext cx="1333548" cy="507889"/>
            <a:chOff x="0" y="0"/>
            <a:chExt cx="1778064" cy="677185"/>
          </a:xfrm>
        </p:grpSpPr>
        <p:sp>
          <p:nvSpPr>
            <p:cNvPr name="Freeform 76" id="7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77" id="77"/>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FFDE59"/>
                  </a:solidFill>
                  <a:latin typeface="Calibri (MS)"/>
                  <a:ea typeface="Calibri (MS)"/>
                  <a:cs typeface="Calibri (MS)"/>
                  <a:sym typeface="Calibri (MS)"/>
                </a:rPr>
                <a:t>0.9067</a:t>
              </a:r>
            </a:p>
          </p:txBody>
        </p:sp>
      </p:grpSp>
      <p:grpSp>
        <p:nvGrpSpPr>
          <p:cNvPr name="Group 78" id="78"/>
          <p:cNvGrpSpPr/>
          <p:nvPr/>
        </p:nvGrpSpPr>
        <p:grpSpPr>
          <a:xfrm rot="0">
            <a:off x="8090840" y="3963210"/>
            <a:ext cx="7630" cy="515512"/>
            <a:chOff x="0" y="0"/>
            <a:chExt cx="10173" cy="687349"/>
          </a:xfrm>
        </p:grpSpPr>
        <p:sp>
          <p:nvSpPr>
            <p:cNvPr name="Freeform 79" id="7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80" id="80"/>
          <p:cNvGrpSpPr/>
          <p:nvPr/>
        </p:nvGrpSpPr>
        <p:grpSpPr>
          <a:xfrm rot="0">
            <a:off x="9757639" y="3967020"/>
            <a:ext cx="1333548" cy="507889"/>
            <a:chOff x="0" y="0"/>
            <a:chExt cx="1778064" cy="677185"/>
          </a:xfrm>
        </p:grpSpPr>
        <p:sp>
          <p:nvSpPr>
            <p:cNvPr name="Freeform 81" id="8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82" id="82"/>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FFDE59"/>
                  </a:solidFill>
                  <a:latin typeface="Calibri (MS)"/>
                  <a:ea typeface="Calibri (MS)"/>
                  <a:cs typeface="Calibri (MS)"/>
                  <a:sym typeface="Calibri (MS)"/>
                </a:rPr>
                <a:t>0.9064</a:t>
              </a:r>
            </a:p>
          </p:txBody>
        </p:sp>
      </p:grpSp>
      <p:grpSp>
        <p:nvGrpSpPr>
          <p:cNvPr name="Group 83" id="83"/>
          <p:cNvGrpSpPr/>
          <p:nvPr/>
        </p:nvGrpSpPr>
        <p:grpSpPr>
          <a:xfrm rot="0">
            <a:off x="9644015" y="3963210"/>
            <a:ext cx="7630" cy="515512"/>
            <a:chOff x="0" y="0"/>
            <a:chExt cx="10173" cy="687349"/>
          </a:xfrm>
        </p:grpSpPr>
        <p:sp>
          <p:nvSpPr>
            <p:cNvPr name="Freeform 84" id="8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85" id="85"/>
          <p:cNvGrpSpPr/>
          <p:nvPr/>
        </p:nvGrpSpPr>
        <p:grpSpPr>
          <a:xfrm rot="0">
            <a:off x="1175728" y="4579963"/>
            <a:ext cx="10030044" cy="737044"/>
            <a:chOff x="0" y="0"/>
            <a:chExt cx="13373392" cy="982726"/>
          </a:xfrm>
        </p:grpSpPr>
        <p:sp>
          <p:nvSpPr>
            <p:cNvPr name="Freeform 86" id="86"/>
            <p:cNvSpPr/>
            <p:nvPr/>
          </p:nvSpPr>
          <p:spPr>
            <a:xfrm flipH="false" flipV="false" rot="0">
              <a:off x="0" y="0"/>
              <a:ext cx="13373354" cy="982726"/>
            </a:xfrm>
            <a:custGeom>
              <a:avLst/>
              <a:gdLst/>
              <a:ahLst/>
              <a:cxnLst/>
              <a:rect r="r" b="b" t="t" l="l"/>
              <a:pathLst>
                <a:path h="982726" w="13373354">
                  <a:moveTo>
                    <a:pt x="0" y="111252"/>
                  </a:moveTo>
                  <a:cubicBezTo>
                    <a:pt x="0" y="49784"/>
                    <a:pt x="49784" y="0"/>
                    <a:pt x="111252" y="0"/>
                  </a:cubicBezTo>
                  <a:lnTo>
                    <a:pt x="13262102" y="0"/>
                  </a:lnTo>
                  <a:cubicBezTo>
                    <a:pt x="13323570" y="0"/>
                    <a:pt x="13373354" y="49784"/>
                    <a:pt x="13373354" y="111252"/>
                  </a:cubicBezTo>
                  <a:lnTo>
                    <a:pt x="13373354" y="871474"/>
                  </a:lnTo>
                  <a:cubicBezTo>
                    <a:pt x="13373354" y="932942"/>
                    <a:pt x="13323570" y="982726"/>
                    <a:pt x="13262102" y="982726"/>
                  </a:cubicBezTo>
                  <a:lnTo>
                    <a:pt x="111252" y="982726"/>
                  </a:lnTo>
                  <a:cubicBezTo>
                    <a:pt x="49784" y="982726"/>
                    <a:pt x="0" y="932942"/>
                    <a:pt x="0" y="871474"/>
                  </a:cubicBezTo>
                  <a:close/>
                </a:path>
              </a:pathLst>
            </a:custGeom>
            <a:solidFill>
              <a:srgbClr val="FFFFFF"/>
            </a:solidFill>
            <a:ln w="9532" cap="sq">
              <a:solidFill>
                <a:srgbClr val="D6D0C8"/>
              </a:solidFill>
              <a:prstDash val="solid"/>
              <a:miter/>
            </a:ln>
          </p:spPr>
        </p:sp>
      </p:grpSp>
      <p:grpSp>
        <p:nvGrpSpPr>
          <p:cNvPr name="Group 87" id="87"/>
          <p:cNvGrpSpPr/>
          <p:nvPr/>
        </p:nvGrpSpPr>
        <p:grpSpPr>
          <a:xfrm rot="0">
            <a:off x="1290314" y="4694539"/>
            <a:ext cx="3588163" cy="507889"/>
            <a:chOff x="0" y="0"/>
            <a:chExt cx="4784217" cy="677185"/>
          </a:xfrm>
        </p:grpSpPr>
        <p:sp>
          <p:nvSpPr>
            <p:cNvPr name="Freeform 88" id="88"/>
            <p:cNvSpPr/>
            <p:nvPr/>
          </p:nvSpPr>
          <p:spPr>
            <a:xfrm flipH="false" flipV="false" rot="0">
              <a:off x="0" y="0"/>
              <a:ext cx="4784222" cy="677181"/>
            </a:xfrm>
            <a:custGeom>
              <a:avLst/>
              <a:gdLst/>
              <a:ahLst/>
              <a:cxnLst/>
              <a:rect r="r" b="b" t="t" l="l"/>
              <a:pathLst>
                <a:path h="677181" w="4784222">
                  <a:moveTo>
                    <a:pt x="0" y="0"/>
                  </a:moveTo>
                  <a:lnTo>
                    <a:pt x="4784222" y="0"/>
                  </a:lnTo>
                  <a:lnTo>
                    <a:pt x="4784222" y="677181"/>
                  </a:lnTo>
                  <a:lnTo>
                    <a:pt x="0" y="677181"/>
                  </a:lnTo>
                  <a:close/>
                </a:path>
              </a:pathLst>
            </a:custGeom>
            <a:blipFill>
              <a:blip r:embed="rId3">
                <a:alphaModFix amt="0"/>
              </a:blip>
              <a:stretch>
                <a:fillRect l="0" t="-87659" r="0" b="-87660"/>
              </a:stretch>
            </a:blipFill>
          </p:spPr>
        </p:sp>
        <p:sp>
          <p:nvSpPr>
            <p:cNvPr name="TextBox 89" id="89"/>
            <p:cNvSpPr txBox="true"/>
            <p:nvPr/>
          </p:nvSpPr>
          <p:spPr>
            <a:xfrm>
              <a:off x="0" y="-19050"/>
              <a:ext cx="4784217" cy="696235"/>
            </a:xfrm>
            <a:prstGeom prst="rect">
              <a:avLst/>
            </a:prstGeom>
          </p:spPr>
          <p:txBody>
            <a:bodyPr anchor="ctr" rtlCol="false" tIns="0" lIns="0" bIns="0" rIns="0"/>
            <a:lstStyle/>
            <a:p>
              <a:pPr algn="l">
                <a:lnSpc>
                  <a:spcPts val="2280"/>
                </a:lnSpc>
              </a:pPr>
              <a:r>
                <a:rPr lang="en-US" sz="2000" b="true">
                  <a:solidFill>
                    <a:srgbClr val="1E293B"/>
                  </a:solidFill>
                  <a:latin typeface="Calibri (MS) Bold"/>
                  <a:ea typeface="Calibri (MS) Bold"/>
                  <a:cs typeface="Calibri (MS) Bold"/>
                  <a:sym typeface="Calibri (MS) Bold"/>
                </a:rPr>
                <a:t>Random Forest</a:t>
              </a:r>
            </a:p>
          </p:txBody>
        </p:sp>
      </p:grpSp>
      <p:grpSp>
        <p:nvGrpSpPr>
          <p:cNvPr name="Group 90" id="90"/>
          <p:cNvGrpSpPr/>
          <p:nvPr/>
        </p:nvGrpSpPr>
        <p:grpSpPr>
          <a:xfrm rot="0">
            <a:off x="5098104" y="4694539"/>
            <a:ext cx="1333548" cy="507889"/>
            <a:chOff x="0" y="0"/>
            <a:chExt cx="1778064" cy="677185"/>
          </a:xfrm>
        </p:grpSpPr>
        <p:sp>
          <p:nvSpPr>
            <p:cNvPr name="Freeform 91" id="9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92" id="92"/>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0.9200</a:t>
              </a:r>
            </a:p>
          </p:txBody>
        </p:sp>
      </p:grpSp>
      <p:grpSp>
        <p:nvGrpSpPr>
          <p:cNvPr name="Group 93" id="93"/>
          <p:cNvGrpSpPr/>
          <p:nvPr/>
        </p:nvGrpSpPr>
        <p:grpSpPr>
          <a:xfrm rot="0">
            <a:off x="4984480" y="4690729"/>
            <a:ext cx="7630" cy="515512"/>
            <a:chOff x="0" y="0"/>
            <a:chExt cx="10173" cy="687349"/>
          </a:xfrm>
        </p:grpSpPr>
        <p:sp>
          <p:nvSpPr>
            <p:cNvPr name="Freeform 94" id="9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95" id="95"/>
          <p:cNvGrpSpPr/>
          <p:nvPr/>
        </p:nvGrpSpPr>
        <p:grpSpPr>
          <a:xfrm rot="0">
            <a:off x="6651288" y="4694539"/>
            <a:ext cx="1333548" cy="507889"/>
            <a:chOff x="0" y="0"/>
            <a:chExt cx="1778064" cy="677185"/>
          </a:xfrm>
        </p:grpSpPr>
        <p:sp>
          <p:nvSpPr>
            <p:cNvPr name="Freeform 96" id="9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97" id="97"/>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0.9196</a:t>
              </a:r>
            </a:p>
          </p:txBody>
        </p:sp>
      </p:grpSp>
      <p:grpSp>
        <p:nvGrpSpPr>
          <p:cNvPr name="Group 98" id="98"/>
          <p:cNvGrpSpPr/>
          <p:nvPr/>
        </p:nvGrpSpPr>
        <p:grpSpPr>
          <a:xfrm rot="0">
            <a:off x="6537655" y="4690729"/>
            <a:ext cx="7630" cy="515512"/>
            <a:chOff x="0" y="0"/>
            <a:chExt cx="10173" cy="687349"/>
          </a:xfrm>
        </p:grpSpPr>
        <p:sp>
          <p:nvSpPr>
            <p:cNvPr name="Freeform 99" id="9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100" id="100"/>
          <p:cNvGrpSpPr/>
          <p:nvPr/>
        </p:nvGrpSpPr>
        <p:grpSpPr>
          <a:xfrm rot="0">
            <a:off x="8204464" y="4694539"/>
            <a:ext cx="1333548" cy="507889"/>
            <a:chOff x="0" y="0"/>
            <a:chExt cx="1778064" cy="677185"/>
          </a:xfrm>
        </p:grpSpPr>
        <p:sp>
          <p:nvSpPr>
            <p:cNvPr name="Freeform 101" id="10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102" id="102"/>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0.8933</a:t>
              </a:r>
            </a:p>
          </p:txBody>
        </p:sp>
      </p:grpSp>
      <p:grpSp>
        <p:nvGrpSpPr>
          <p:cNvPr name="Group 103" id="103"/>
          <p:cNvGrpSpPr/>
          <p:nvPr/>
        </p:nvGrpSpPr>
        <p:grpSpPr>
          <a:xfrm rot="0">
            <a:off x="8090840" y="4690729"/>
            <a:ext cx="7630" cy="515512"/>
            <a:chOff x="0" y="0"/>
            <a:chExt cx="10173" cy="687349"/>
          </a:xfrm>
        </p:grpSpPr>
        <p:sp>
          <p:nvSpPr>
            <p:cNvPr name="Freeform 104" id="10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105" id="105"/>
          <p:cNvGrpSpPr/>
          <p:nvPr/>
        </p:nvGrpSpPr>
        <p:grpSpPr>
          <a:xfrm rot="0">
            <a:off x="9757639" y="4694539"/>
            <a:ext cx="1333548" cy="507889"/>
            <a:chOff x="0" y="0"/>
            <a:chExt cx="1778064" cy="677185"/>
          </a:xfrm>
        </p:grpSpPr>
        <p:sp>
          <p:nvSpPr>
            <p:cNvPr name="Freeform 106" id="10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107" id="107"/>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0.8929</a:t>
              </a:r>
            </a:p>
          </p:txBody>
        </p:sp>
      </p:grpSp>
      <p:grpSp>
        <p:nvGrpSpPr>
          <p:cNvPr name="Group 108" id="108"/>
          <p:cNvGrpSpPr/>
          <p:nvPr/>
        </p:nvGrpSpPr>
        <p:grpSpPr>
          <a:xfrm rot="0">
            <a:off x="9644015" y="4690729"/>
            <a:ext cx="7630" cy="515512"/>
            <a:chOff x="0" y="0"/>
            <a:chExt cx="10173" cy="687349"/>
          </a:xfrm>
        </p:grpSpPr>
        <p:sp>
          <p:nvSpPr>
            <p:cNvPr name="Freeform 109" id="10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110" id="110"/>
          <p:cNvGrpSpPr/>
          <p:nvPr/>
        </p:nvGrpSpPr>
        <p:grpSpPr>
          <a:xfrm rot="0">
            <a:off x="1175728" y="5307473"/>
            <a:ext cx="10030044" cy="737044"/>
            <a:chOff x="0" y="0"/>
            <a:chExt cx="13373392" cy="982726"/>
          </a:xfrm>
        </p:grpSpPr>
        <p:sp>
          <p:nvSpPr>
            <p:cNvPr name="Freeform 111" id="111"/>
            <p:cNvSpPr/>
            <p:nvPr/>
          </p:nvSpPr>
          <p:spPr>
            <a:xfrm flipH="false" flipV="false" rot="0">
              <a:off x="0" y="0"/>
              <a:ext cx="13373354" cy="982726"/>
            </a:xfrm>
            <a:custGeom>
              <a:avLst/>
              <a:gdLst/>
              <a:ahLst/>
              <a:cxnLst/>
              <a:rect r="r" b="b" t="t" l="l"/>
              <a:pathLst>
                <a:path h="982726" w="13373354">
                  <a:moveTo>
                    <a:pt x="0" y="111252"/>
                  </a:moveTo>
                  <a:cubicBezTo>
                    <a:pt x="0" y="49784"/>
                    <a:pt x="49784" y="0"/>
                    <a:pt x="111252" y="0"/>
                  </a:cubicBezTo>
                  <a:lnTo>
                    <a:pt x="13262102" y="0"/>
                  </a:lnTo>
                  <a:cubicBezTo>
                    <a:pt x="13323570" y="0"/>
                    <a:pt x="13373354" y="49784"/>
                    <a:pt x="13373354" y="111252"/>
                  </a:cubicBezTo>
                  <a:lnTo>
                    <a:pt x="13373354" y="871474"/>
                  </a:lnTo>
                  <a:cubicBezTo>
                    <a:pt x="13373354" y="932942"/>
                    <a:pt x="13323570" y="982726"/>
                    <a:pt x="13262102" y="982726"/>
                  </a:cubicBezTo>
                  <a:lnTo>
                    <a:pt x="111252" y="982726"/>
                  </a:lnTo>
                  <a:cubicBezTo>
                    <a:pt x="49784" y="982726"/>
                    <a:pt x="0" y="932942"/>
                    <a:pt x="0" y="871474"/>
                  </a:cubicBezTo>
                  <a:close/>
                </a:path>
              </a:pathLst>
            </a:custGeom>
            <a:solidFill>
              <a:srgbClr val="FBFAF8"/>
            </a:solidFill>
            <a:ln w="9532" cap="sq">
              <a:solidFill>
                <a:srgbClr val="D6D0C8"/>
              </a:solidFill>
              <a:prstDash val="solid"/>
              <a:miter/>
            </a:ln>
          </p:spPr>
        </p:sp>
      </p:grpSp>
      <p:grpSp>
        <p:nvGrpSpPr>
          <p:cNvPr name="Group 112" id="112"/>
          <p:cNvGrpSpPr/>
          <p:nvPr/>
        </p:nvGrpSpPr>
        <p:grpSpPr>
          <a:xfrm rot="0">
            <a:off x="1290314" y="5422059"/>
            <a:ext cx="3588163" cy="507889"/>
            <a:chOff x="0" y="0"/>
            <a:chExt cx="4784217" cy="677185"/>
          </a:xfrm>
        </p:grpSpPr>
        <p:sp>
          <p:nvSpPr>
            <p:cNvPr name="Freeform 113" id="113"/>
            <p:cNvSpPr/>
            <p:nvPr/>
          </p:nvSpPr>
          <p:spPr>
            <a:xfrm flipH="false" flipV="false" rot="0">
              <a:off x="0" y="0"/>
              <a:ext cx="4784222" cy="677181"/>
            </a:xfrm>
            <a:custGeom>
              <a:avLst/>
              <a:gdLst/>
              <a:ahLst/>
              <a:cxnLst/>
              <a:rect r="r" b="b" t="t" l="l"/>
              <a:pathLst>
                <a:path h="677181" w="4784222">
                  <a:moveTo>
                    <a:pt x="0" y="0"/>
                  </a:moveTo>
                  <a:lnTo>
                    <a:pt x="4784222" y="0"/>
                  </a:lnTo>
                  <a:lnTo>
                    <a:pt x="4784222" y="677181"/>
                  </a:lnTo>
                  <a:lnTo>
                    <a:pt x="0" y="677181"/>
                  </a:lnTo>
                  <a:close/>
                </a:path>
              </a:pathLst>
            </a:custGeom>
            <a:blipFill>
              <a:blip r:embed="rId3">
                <a:alphaModFix amt="0"/>
              </a:blip>
              <a:stretch>
                <a:fillRect l="0" t="-87659" r="0" b="-87660"/>
              </a:stretch>
            </a:blipFill>
          </p:spPr>
        </p:sp>
        <p:sp>
          <p:nvSpPr>
            <p:cNvPr name="TextBox 114" id="114"/>
            <p:cNvSpPr txBox="true"/>
            <p:nvPr/>
          </p:nvSpPr>
          <p:spPr>
            <a:xfrm>
              <a:off x="0" y="-19050"/>
              <a:ext cx="4784217" cy="696235"/>
            </a:xfrm>
            <a:prstGeom prst="rect">
              <a:avLst/>
            </a:prstGeom>
          </p:spPr>
          <p:txBody>
            <a:bodyPr anchor="ctr" rtlCol="false" tIns="0" lIns="0" bIns="0" rIns="0"/>
            <a:lstStyle/>
            <a:p>
              <a:pPr algn="l">
                <a:lnSpc>
                  <a:spcPts val="2280"/>
                </a:lnSpc>
              </a:pPr>
              <a:r>
                <a:rPr lang="en-US" sz="2000" b="true">
                  <a:solidFill>
                    <a:srgbClr val="1E293B"/>
                  </a:solidFill>
                  <a:latin typeface="Calibri (MS) Bold"/>
                  <a:ea typeface="Calibri (MS) Bold"/>
                  <a:cs typeface="Calibri (MS) Bold"/>
                  <a:sym typeface="Calibri (MS) Bold"/>
                </a:rPr>
                <a:t>Naive Bayes</a:t>
              </a:r>
            </a:p>
          </p:txBody>
        </p:sp>
      </p:grpSp>
      <p:grpSp>
        <p:nvGrpSpPr>
          <p:cNvPr name="Group 115" id="115"/>
          <p:cNvGrpSpPr/>
          <p:nvPr/>
        </p:nvGrpSpPr>
        <p:grpSpPr>
          <a:xfrm rot="0">
            <a:off x="5098104" y="5422059"/>
            <a:ext cx="1333548" cy="507889"/>
            <a:chOff x="0" y="0"/>
            <a:chExt cx="1778064" cy="677185"/>
          </a:xfrm>
        </p:grpSpPr>
        <p:sp>
          <p:nvSpPr>
            <p:cNvPr name="Freeform 116" id="11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117" id="117"/>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0.9067</a:t>
              </a:r>
            </a:p>
          </p:txBody>
        </p:sp>
      </p:grpSp>
      <p:grpSp>
        <p:nvGrpSpPr>
          <p:cNvPr name="Group 118" id="118"/>
          <p:cNvGrpSpPr/>
          <p:nvPr/>
        </p:nvGrpSpPr>
        <p:grpSpPr>
          <a:xfrm rot="0">
            <a:off x="4984480" y="5418239"/>
            <a:ext cx="7630" cy="515512"/>
            <a:chOff x="0" y="0"/>
            <a:chExt cx="10173" cy="687349"/>
          </a:xfrm>
        </p:grpSpPr>
        <p:sp>
          <p:nvSpPr>
            <p:cNvPr name="Freeform 119" id="11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120" id="120"/>
          <p:cNvGrpSpPr/>
          <p:nvPr/>
        </p:nvGrpSpPr>
        <p:grpSpPr>
          <a:xfrm rot="0">
            <a:off x="6651288" y="5422059"/>
            <a:ext cx="1333548" cy="507889"/>
            <a:chOff x="0" y="0"/>
            <a:chExt cx="1778064" cy="677185"/>
          </a:xfrm>
        </p:grpSpPr>
        <p:sp>
          <p:nvSpPr>
            <p:cNvPr name="Freeform 121" id="12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122" id="122"/>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0.9061</a:t>
              </a:r>
            </a:p>
          </p:txBody>
        </p:sp>
      </p:grpSp>
      <p:grpSp>
        <p:nvGrpSpPr>
          <p:cNvPr name="Group 123" id="123"/>
          <p:cNvGrpSpPr/>
          <p:nvPr/>
        </p:nvGrpSpPr>
        <p:grpSpPr>
          <a:xfrm rot="0">
            <a:off x="6537655" y="5418239"/>
            <a:ext cx="7630" cy="515512"/>
            <a:chOff x="0" y="0"/>
            <a:chExt cx="10173" cy="687349"/>
          </a:xfrm>
        </p:grpSpPr>
        <p:sp>
          <p:nvSpPr>
            <p:cNvPr name="Freeform 124" id="12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125" id="125"/>
          <p:cNvGrpSpPr/>
          <p:nvPr/>
        </p:nvGrpSpPr>
        <p:grpSpPr>
          <a:xfrm rot="0">
            <a:off x="8204464" y="5422059"/>
            <a:ext cx="1333548" cy="507889"/>
            <a:chOff x="0" y="0"/>
            <a:chExt cx="1778064" cy="677185"/>
          </a:xfrm>
        </p:grpSpPr>
        <p:sp>
          <p:nvSpPr>
            <p:cNvPr name="Freeform 126" id="126"/>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127" id="127"/>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0.8933</a:t>
              </a:r>
            </a:p>
          </p:txBody>
        </p:sp>
      </p:grpSp>
      <p:grpSp>
        <p:nvGrpSpPr>
          <p:cNvPr name="Group 128" id="128"/>
          <p:cNvGrpSpPr/>
          <p:nvPr/>
        </p:nvGrpSpPr>
        <p:grpSpPr>
          <a:xfrm rot="0">
            <a:off x="8090840" y="5418239"/>
            <a:ext cx="7630" cy="515512"/>
            <a:chOff x="0" y="0"/>
            <a:chExt cx="10173" cy="687349"/>
          </a:xfrm>
        </p:grpSpPr>
        <p:sp>
          <p:nvSpPr>
            <p:cNvPr name="Freeform 129" id="129"/>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grpSp>
        <p:nvGrpSpPr>
          <p:cNvPr name="Group 130" id="130"/>
          <p:cNvGrpSpPr/>
          <p:nvPr/>
        </p:nvGrpSpPr>
        <p:grpSpPr>
          <a:xfrm rot="0">
            <a:off x="9757639" y="5422059"/>
            <a:ext cx="1333548" cy="507889"/>
            <a:chOff x="0" y="0"/>
            <a:chExt cx="1778064" cy="677185"/>
          </a:xfrm>
        </p:grpSpPr>
        <p:sp>
          <p:nvSpPr>
            <p:cNvPr name="Freeform 131" id="131"/>
            <p:cNvSpPr/>
            <p:nvPr/>
          </p:nvSpPr>
          <p:spPr>
            <a:xfrm flipH="false" flipV="false" rot="0">
              <a:off x="0" y="0"/>
              <a:ext cx="1778069" cy="677181"/>
            </a:xfrm>
            <a:custGeom>
              <a:avLst/>
              <a:gdLst/>
              <a:ahLst/>
              <a:cxnLst/>
              <a:rect r="r" b="b" t="t" l="l"/>
              <a:pathLst>
                <a:path h="677181" w="1778069">
                  <a:moveTo>
                    <a:pt x="0" y="0"/>
                  </a:moveTo>
                  <a:lnTo>
                    <a:pt x="1778069" y="0"/>
                  </a:lnTo>
                  <a:lnTo>
                    <a:pt x="1778069" y="677181"/>
                  </a:lnTo>
                  <a:lnTo>
                    <a:pt x="0" y="677181"/>
                  </a:lnTo>
                  <a:close/>
                </a:path>
              </a:pathLst>
            </a:custGeom>
            <a:blipFill>
              <a:blip r:embed="rId3">
                <a:alphaModFix amt="0"/>
              </a:blip>
              <a:stretch>
                <a:fillRect l="0" t="-1160" r="0" b="-1162"/>
              </a:stretch>
            </a:blipFill>
          </p:spPr>
        </p:sp>
        <p:sp>
          <p:nvSpPr>
            <p:cNvPr name="TextBox 132" id="132"/>
            <p:cNvSpPr txBox="true"/>
            <p:nvPr/>
          </p:nvSpPr>
          <p:spPr>
            <a:xfrm>
              <a:off x="0" y="-19050"/>
              <a:ext cx="1778064" cy="696235"/>
            </a:xfrm>
            <a:prstGeom prst="rect">
              <a:avLst/>
            </a:prstGeom>
          </p:spPr>
          <p:txBody>
            <a:bodyPr anchor="ctr" rtlCol="false" tIns="0" lIns="0" bIns="0" rIns="0"/>
            <a:lstStyle/>
            <a:p>
              <a:pPr algn="ctr">
                <a:lnSpc>
                  <a:spcPts val="2280"/>
                </a:lnSpc>
              </a:pPr>
              <a:r>
                <a:rPr lang="en-US" sz="2000">
                  <a:solidFill>
                    <a:srgbClr val="1E293B"/>
                  </a:solidFill>
                  <a:latin typeface="Calibri (MS)"/>
                  <a:ea typeface="Calibri (MS)"/>
                  <a:cs typeface="Calibri (MS)"/>
                  <a:sym typeface="Calibri (MS)"/>
                </a:rPr>
                <a:t>0.8929</a:t>
              </a:r>
            </a:p>
          </p:txBody>
        </p:sp>
      </p:grpSp>
      <p:grpSp>
        <p:nvGrpSpPr>
          <p:cNvPr name="Group 133" id="133"/>
          <p:cNvGrpSpPr/>
          <p:nvPr/>
        </p:nvGrpSpPr>
        <p:grpSpPr>
          <a:xfrm rot="0">
            <a:off x="9644015" y="5418239"/>
            <a:ext cx="7630" cy="515512"/>
            <a:chOff x="0" y="0"/>
            <a:chExt cx="10173" cy="687349"/>
          </a:xfrm>
        </p:grpSpPr>
        <p:sp>
          <p:nvSpPr>
            <p:cNvPr name="Freeform 134" id="134"/>
            <p:cNvSpPr/>
            <p:nvPr/>
          </p:nvSpPr>
          <p:spPr>
            <a:xfrm flipH="false" flipV="false" rot="0">
              <a:off x="0" y="0"/>
              <a:ext cx="10160" cy="687324"/>
            </a:xfrm>
            <a:custGeom>
              <a:avLst/>
              <a:gdLst/>
              <a:ahLst/>
              <a:cxnLst/>
              <a:rect r="r" b="b" t="t" l="l"/>
              <a:pathLst>
                <a:path h="687324" w="10160">
                  <a:moveTo>
                    <a:pt x="0" y="0"/>
                  </a:moveTo>
                  <a:lnTo>
                    <a:pt x="10160" y="687324"/>
                  </a:lnTo>
                </a:path>
              </a:pathLst>
            </a:custGeom>
            <a:blipFill>
              <a:blip r:embed="rId3">
                <a:alphaModFix amt="0"/>
              </a:blip>
              <a:stretch>
                <a:fillRect l="-8629994" t="0" r="-8630119" b="-3"/>
              </a:stretch>
            </a:blipFill>
            <a:ln w="7626" cap="sq">
              <a:solidFill>
                <a:srgbClr val="D6D0C8"/>
              </a:solidFill>
              <a:prstDash val="solid"/>
              <a:miter/>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32909" y="0"/>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10</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Best model evaluation</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Confusion matrix supports transparent error discussion.</a:t>
            </a:r>
          </a:p>
        </p:txBody>
      </p:sp>
      <p:grpSp>
        <p:nvGrpSpPr>
          <p:cNvPr name="Group 10" id="10"/>
          <p:cNvGrpSpPr/>
          <p:nvPr/>
        </p:nvGrpSpPr>
        <p:grpSpPr>
          <a:xfrm rot="0">
            <a:off x="1201283" y="4934950"/>
            <a:ext cx="8112109" cy="2278256"/>
            <a:chOff x="0" y="0"/>
            <a:chExt cx="10816146" cy="3037675"/>
          </a:xfrm>
        </p:grpSpPr>
        <p:sp>
          <p:nvSpPr>
            <p:cNvPr name="Freeform 11" id="11"/>
            <p:cNvSpPr/>
            <p:nvPr/>
          </p:nvSpPr>
          <p:spPr>
            <a:xfrm flipH="false" flipV="false" rot="0">
              <a:off x="0" y="0"/>
              <a:ext cx="10816209" cy="3037713"/>
            </a:xfrm>
            <a:custGeom>
              <a:avLst/>
              <a:gdLst/>
              <a:ahLst/>
              <a:cxnLst/>
              <a:rect r="r" b="b" t="t" l="l"/>
              <a:pathLst>
                <a:path h="3037713" w="10816209">
                  <a:moveTo>
                    <a:pt x="0" y="110490"/>
                  </a:moveTo>
                  <a:cubicBezTo>
                    <a:pt x="0" y="49403"/>
                    <a:pt x="49403" y="0"/>
                    <a:pt x="110490" y="0"/>
                  </a:cubicBezTo>
                  <a:lnTo>
                    <a:pt x="10705719" y="0"/>
                  </a:lnTo>
                  <a:cubicBezTo>
                    <a:pt x="10766678" y="0"/>
                    <a:pt x="10816209" y="49403"/>
                    <a:pt x="10816209" y="110490"/>
                  </a:cubicBezTo>
                  <a:lnTo>
                    <a:pt x="10816209" y="2927223"/>
                  </a:lnTo>
                  <a:cubicBezTo>
                    <a:pt x="10816209" y="2988183"/>
                    <a:pt x="10766806" y="3037713"/>
                    <a:pt x="10705719" y="3037713"/>
                  </a:cubicBezTo>
                  <a:lnTo>
                    <a:pt x="110490" y="3037713"/>
                  </a:lnTo>
                  <a:cubicBezTo>
                    <a:pt x="49530" y="3037713"/>
                    <a:pt x="0" y="2988310"/>
                    <a:pt x="0" y="2927223"/>
                  </a:cubicBezTo>
                  <a:close/>
                </a:path>
              </a:pathLst>
            </a:custGeom>
            <a:solidFill>
              <a:srgbClr val="FFFFFF"/>
            </a:solidFill>
            <a:ln w="13345" cap="sq">
              <a:solidFill>
                <a:srgbClr val="D6D0C8"/>
              </a:solidFill>
              <a:prstDash val="solid"/>
              <a:miter/>
            </a:ln>
          </p:spPr>
        </p:sp>
      </p:grpSp>
      <p:sp>
        <p:nvSpPr>
          <p:cNvPr name="TextBox 12" id="12"/>
          <p:cNvSpPr txBox="true"/>
          <p:nvPr/>
        </p:nvSpPr>
        <p:spPr>
          <a:xfrm rot="0">
            <a:off x="1578569" y="5390398"/>
            <a:ext cx="4118019" cy="333642"/>
          </a:xfrm>
          <a:prstGeom prst="rect">
            <a:avLst/>
          </a:prstGeom>
        </p:spPr>
        <p:txBody>
          <a:bodyPr anchor="t" rtlCol="false" tIns="0" lIns="0" bIns="0" rIns="0">
            <a:spAutoFit/>
          </a:bodyPr>
          <a:lstStyle/>
          <a:p>
            <a:pPr algn="l">
              <a:lnSpc>
                <a:spcPts val="2258"/>
              </a:lnSpc>
            </a:pPr>
            <a:r>
              <a:rPr lang="en-US" sz="1981" b="true">
                <a:solidFill>
                  <a:srgbClr val="1E293B"/>
                </a:solidFill>
                <a:latin typeface="Montserrat Bold"/>
                <a:ea typeface="Montserrat Bold"/>
                <a:cs typeface="Montserrat Bold"/>
                <a:sym typeface="Montserrat Bold"/>
              </a:rPr>
              <a:t>Why Linear SVM works here</a:t>
            </a:r>
          </a:p>
        </p:txBody>
      </p:sp>
      <p:sp>
        <p:nvSpPr>
          <p:cNvPr name="TextBox 13" id="13"/>
          <p:cNvSpPr txBox="true"/>
          <p:nvPr/>
        </p:nvSpPr>
        <p:spPr>
          <a:xfrm rot="0">
            <a:off x="1647463" y="5966060"/>
            <a:ext cx="6313789" cy="872109"/>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TF-IDF creates sparse, high-dimensional vectors.</a:t>
            </a:r>
          </a:p>
          <a:p>
            <a:pPr algn="l">
              <a:lnSpc>
                <a:spcPts val="2208"/>
              </a:lnSpc>
            </a:pPr>
            <a:r>
              <a:rPr lang="en-US" sz="2000">
                <a:solidFill>
                  <a:srgbClr val="1E293B"/>
                </a:solidFill>
                <a:latin typeface="Calibri (MS)"/>
                <a:ea typeface="Calibri (MS)"/>
                <a:cs typeface="Calibri (MS)"/>
                <a:sym typeface="Calibri (MS)"/>
              </a:rPr>
              <a:t>Linear SVM is strong in this feature space.</a:t>
            </a:r>
          </a:p>
          <a:p>
            <a:pPr algn="l">
              <a:lnSpc>
                <a:spcPts val="2208"/>
              </a:lnSpc>
            </a:pPr>
            <a:r>
              <a:rPr lang="en-US" sz="2000">
                <a:solidFill>
                  <a:srgbClr val="1E293B"/>
                </a:solidFill>
                <a:latin typeface="Calibri (MS)"/>
                <a:ea typeface="Calibri (MS)"/>
                <a:cs typeface="Calibri (MS)"/>
                <a:sym typeface="Calibri (MS)"/>
              </a:rPr>
              <a:t>Macro F1 handles both labels fairly.</a:t>
            </a:r>
          </a:p>
        </p:txBody>
      </p:sp>
      <p:grpSp>
        <p:nvGrpSpPr>
          <p:cNvPr name="Group 14" id="14"/>
          <p:cNvGrpSpPr/>
          <p:nvPr/>
        </p:nvGrpSpPr>
        <p:grpSpPr>
          <a:xfrm rot="0">
            <a:off x="9945205" y="2258235"/>
            <a:ext cx="6259001" cy="5709933"/>
            <a:chOff x="0" y="0"/>
            <a:chExt cx="8345335" cy="7613244"/>
          </a:xfrm>
        </p:grpSpPr>
        <p:sp>
          <p:nvSpPr>
            <p:cNvPr name="Freeform 15" id="15"/>
            <p:cNvSpPr/>
            <p:nvPr/>
          </p:nvSpPr>
          <p:spPr>
            <a:xfrm flipH="false" flipV="false" rot="0">
              <a:off x="0" y="0"/>
              <a:ext cx="8345424" cy="7613269"/>
            </a:xfrm>
            <a:custGeom>
              <a:avLst/>
              <a:gdLst/>
              <a:ahLst/>
              <a:cxnLst/>
              <a:rect r="r" b="b" t="t" l="l"/>
              <a:pathLst>
                <a:path h="7613269" w="8345424">
                  <a:moveTo>
                    <a:pt x="0" y="110109"/>
                  </a:moveTo>
                  <a:cubicBezTo>
                    <a:pt x="0" y="49276"/>
                    <a:pt x="49276" y="0"/>
                    <a:pt x="110109" y="0"/>
                  </a:cubicBezTo>
                  <a:lnTo>
                    <a:pt x="8235315" y="0"/>
                  </a:lnTo>
                  <a:cubicBezTo>
                    <a:pt x="8296148" y="0"/>
                    <a:pt x="8345424" y="49276"/>
                    <a:pt x="8345424" y="110109"/>
                  </a:cubicBezTo>
                  <a:lnTo>
                    <a:pt x="8345424" y="7503160"/>
                  </a:lnTo>
                  <a:cubicBezTo>
                    <a:pt x="8345424" y="7563993"/>
                    <a:pt x="8296148" y="7613269"/>
                    <a:pt x="8235315" y="7613269"/>
                  </a:cubicBezTo>
                  <a:lnTo>
                    <a:pt x="110109" y="7613269"/>
                  </a:lnTo>
                  <a:cubicBezTo>
                    <a:pt x="49276" y="7613269"/>
                    <a:pt x="0" y="7563993"/>
                    <a:pt x="0" y="7503160"/>
                  </a:cubicBezTo>
                  <a:close/>
                </a:path>
              </a:pathLst>
            </a:custGeom>
            <a:solidFill>
              <a:srgbClr val="FFFFFF"/>
            </a:solidFill>
            <a:ln w="13345" cap="sq">
              <a:solidFill>
                <a:srgbClr val="D6D0C8"/>
              </a:solidFill>
              <a:prstDash val="solid"/>
              <a:miter/>
            </a:ln>
          </p:spPr>
        </p:sp>
      </p:grpSp>
      <p:grpSp>
        <p:nvGrpSpPr>
          <p:cNvPr name="Group 16" id="16"/>
          <p:cNvGrpSpPr/>
          <p:nvPr/>
        </p:nvGrpSpPr>
        <p:grpSpPr>
          <a:xfrm rot="0">
            <a:off x="10226411" y="2264912"/>
            <a:ext cx="5696588" cy="5696588"/>
            <a:chOff x="0" y="0"/>
            <a:chExt cx="7595451" cy="7595451"/>
          </a:xfrm>
        </p:grpSpPr>
        <p:sp>
          <p:nvSpPr>
            <p:cNvPr name="Freeform 17" id="17" descr="/mnt/data/report1_extract/word/media/image12.png"/>
            <p:cNvSpPr/>
            <p:nvPr/>
          </p:nvSpPr>
          <p:spPr>
            <a:xfrm flipH="false" flipV="false" rot="0">
              <a:off x="0" y="0"/>
              <a:ext cx="7595489" cy="7595489"/>
            </a:xfrm>
            <a:custGeom>
              <a:avLst/>
              <a:gdLst/>
              <a:ahLst/>
              <a:cxnLst/>
              <a:rect r="r" b="b" t="t" l="l"/>
              <a:pathLst>
                <a:path h="7595489" w="7595489">
                  <a:moveTo>
                    <a:pt x="0" y="0"/>
                  </a:moveTo>
                  <a:lnTo>
                    <a:pt x="7595489" y="0"/>
                  </a:lnTo>
                  <a:lnTo>
                    <a:pt x="7595489" y="7595489"/>
                  </a:lnTo>
                  <a:lnTo>
                    <a:pt x="0" y="7595489"/>
                  </a:lnTo>
                  <a:lnTo>
                    <a:pt x="0" y="0"/>
                  </a:lnTo>
                  <a:close/>
                </a:path>
              </a:pathLst>
            </a:custGeom>
            <a:blipFill>
              <a:blip r:embed="rId4"/>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817883" y="584530"/>
            <a:ext cx="16620773" cy="11440"/>
            <a:chOff x="0" y="0"/>
            <a:chExt cx="22161030" cy="15253"/>
          </a:xfrm>
        </p:grpSpPr>
        <p:sp>
          <p:nvSpPr>
            <p:cNvPr name="Freeform 3" id="3"/>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grpSp>
        <p:nvGrpSpPr>
          <p:cNvPr name="Group 4" id="4"/>
          <p:cNvGrpSpPr/>
          <p:nvPr/>
        </p:nvGrpSpPr>
        <p:grpSpPr>
          <a:xfrm rot="0">
            <a:off x="1166774" y="2991422"/>
            <a:ext cx="8510568" cy="4929902"/>
            <a:chOff x="0" y="0"/>
            <a:chExt cx="11347425" cy="6573203"/>
          </a:xfrm>
        </p:grpSpPr>
        <p:sp>
          <p:nvSpPr>
            <p:cNvPr name="Freeform 5" id="5"/>
            <p:cNvSpPr/>
            <p:nvPr/>
          </p:nvSpPr>
          <p:spPr>
            <a:xfrm flipH="false" flipV="false" rot="0">
              <a:off x="0" y="0"/>
              <a:ext cx="11347450" cy="6573266"/>
            </a:xfrm>
            <a:custGeom>
              <a:avLst/>
              <a:gdLst/>
              <a:ahLst/>
              <a:cxnLst/>
              <a:rect r="r" b="b" t="t" l="l"/>
              <a:pathLst>
                <a:path h="6573266" w="11347450">
                  <a:moveTo>
                    <a:pt x="0" y="0"/>
                  </a:moveTo>
                  <a:lnTo>
                    <a:pt x="11347450" y="0"/>
                  </a:lnTo>
                  <a:lnTo>
                    <a:pt x="11347450" y="6573266"/>
                  </a:lnTo>
                  <a:lnTo>
                    <a:pt x="0" y="6573266"/>
                  </a:lnTo>
                  <a:lnTo>
                    <a:pt x="0" y="0"/>
                  </a:lnTo>
                  <a:close/>
                </a:path>
              </a:pathLst>
            </a:custGeom>
            <a:blipFill>
              <a:blip r:embed="rId4"/>
              <a:stretch>
                <a:fillRect l="-262" t="0" r="-262" b="0"/>
              </a:stretch>
            </a:blipFill>
          </p:spPr>
        </p:sp>
      </p:grpSp>
      <p:grpSp>
        <p:nvGrpSpPr>
          <p:cNvPr name="Group 6" id="6"/>
          <p:cNvGrpSpPr/>
          <p:nvPr/>
        </p:nvGrpSpPr>
        <p:grpSpPr>
          <a:xfrm rot="0">
            <a:off x="10356999" y="2354323"/>
            <a:ext cx="6396276" cy="6162913"/>
            <a:chOff x="0" y="0"/>
            <a:chExt cx="8528368" cy="8217218"/>
          </a:xfrm>
        </p:grpSpPr>
        <p:sp>
          <p:nvSpPr>
            <p:cNvPr name="Freeform 7" id="7"/>
            <p:cNvSpPr/>
            <p:nvPr/>
          </p:nvSpPr>
          <p:spPr>
            <a:xfrm flipH="false" flipV="false" rot="0">
              <a:off x="0" y="0"/>
              <a:ext cx="8528304" cy="8217154"/>
            </a:xfrm>
            <a:custGeom>
              <a:avLst/>
              <a:gdLst/>
              <a:ahLst/>
              <a:cxnLst/>
              <a:rect r="r" b="b" t="t" l="l"/>
              <a:pathLst>
                <a:path h="8217154" w="8528304">
                  <a:moveTo>
                    <a:pt x="0" y="109982"/>
                  </a:moveTo>
                  <a:cubicBezTo>
                    <a:pt x="0" y="49276"/>
                    <a:pt x="49276" y="0"/>
                    <a:pt x="109982" y="0"/>
                  </a:cubicBezTo>
                  <a:lnTo>
                    <a:pt x="8418322" y="0"/>
                  </a:lnTo>
                  <a:cubicBezTo>
                    <a:pt x="8479028" y="0"/>
                    <a:pt x="8528304" y="49276"/>
                    <a:pt x="8528304" y="109982"/>
                  </a:cubicBezTo>
                  <a:lnTo>
                    <a:pt x="8528304" y="8107172"/>
                  </a:lnTo>
                  <a:cubicBezTo>
                    <a:pt x="8528304" y="8167878"/>
                    <a:pt x="8479028" y="8217154"/>
                    <a:pt x="8418322" y="8217154"/>
                  </a:cubicBezTo>
                  <a:lnTo>
                    <a:pt x="109982" y="8217154"/>
                  </a:lnTo>
                  <a:cubicBezTo>
                    <a:pt x="49276" y="8217154"/>
                    <a:pt x="0" y="8167878"/>
                    <a:pt x="0" y="8107172"/>
                  </a:cubicBezTo>
                  <a:close/>
                </a:path>
              </a:pathLst>
            </a:custGeom>
            <a:solidFill>
              <a:srgbClr val="FFFFFF"/>
            </a:solidFill>
            <a:ln w="13345" cap="sq">
              <a:solidFill>
                <a:srgbClr val="D6D0C8"/>
              </a:solidFill>
              <a:prstDash val="solid"/>
              <a:miter/>
            </a:ln>
          </p:spPr>
        </p:sp>
      </p:grpSp>
      <p:grpSp>
        <p:nvGrpSpPr>
          <p:cNvPr name="Group 8" id="8"/>
          <p:cNvGrpSpPr/>
          <p:nvPr/>
        </p:nvGrpSpPr>
        <p:grpSpPr>
          <a:xfrm rot="0">
            <a:off x="10770708" y="3523002"/>
            <a:ext cx="5225691" cy="9535"/>
            <a:chOff x="0" y="0"/>
            <a:chExt cx="6967588" cy="12713"/>
          </a:xfrm>
        </p:grpSpPr>
        <p:sp>
          <p:nvSpPr>
            <p:cNvPr name="Freeform 9" id="9"/>
            <p:cNvSpPr/>
            <p:nvPr/>
          </p:nvSpPr>
          <p:spPr>
            <a:xfrm flipH="false" flipV="false" rot="0">
              <a:off x="0" y="0"/>
              <a:ext cx="6967601" cy="12700"/>
            </a:xfrm>
            <a:custGeom>
              <a:avLst/>
              <a:gdLst/>
              <a:ahLst/>
              <a:cxnLst/>
              <a:rect r="r" b="b" t="t" l="l"/>
              <a:pathLst>
                <a:path h="12700" w="6967601">
                  <a:moveTo>
                    <a:pt x="0" y="0"/>
                  </a:moveTo>
                  <a:lnTo>
                    <a:pt x="6967601" y="12700"/>
                  </a:lnTo>
                </a:path>
              </a:pathLst>
            </a:custGeom>
            <a:blipFill>
              <a:blip r:embed="rId3">
                <a:alphaModFix amt="0"/>
              </a:blip>
              <a:stretch>
                <a:fillRect l="0" t="-10640007" r="0" b="-10640107"/>
              </a:stretch>
            </a:blipFill>
            <a:ln w="9532" cap="sq">
              <a:solidFill>
                <a:srgbClr val="D6D0C8"/>
              </a:solidFill>
              <a:prstDash val="solid"/>
              <a:miter/>
            </a:ln>
          </p:spPr>
        </p:sp>
      </p:grpSp>
      <p:sp>
        <p:nvSpPr>
          <p:cNvPr name="TextBox 10" id="10"/>
          <p:cNvSpPr txBox="true"/>
          <p:nvPr/>
        </p:nvSpPr>
        <p:spPr>
          <a:xfrm rot="0">
            <a:off x="12971755" y="3947970"/>
            <a:ext cx="3019882" cy="8915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Preprocessing, TF-IDF, inference, risk scoring, explanation</a:t>
            </a:r>
          </a:p>
        </p:txBody>
      </p:sp>
      <p:grpSp>
        <p:nvGrpSpPr>
          <p:cNvPr name="Group 11" id="11"/>
          <p:cNvGrpSpPr/>
          <p:nvPr/>
        </p:nvGrpSpPr>
        <p:grpSpPr>
          <a:xfrm rot="0">
            <a:off x="10770708" y="4648591"/>
            <a:ext cx="5225691" cy="9535"/>
            <a:chOff x="0" y="0"/>
            <a:chExt cx="6967588" cy="12713"/>
          </a:xfrm>
        </p:grpSpPr>
        <p:sp>
          <p:nvSpPr>
            <p:cNvPr name="Freeform 12" id="12"/>
            <p:cNvSpPr/>
            <p:nvPr/>
          </p:nvSpPr>
          <p:spPr>
            <a:xfrm flipH="false" flipV="false" rot="0">
              <a:off x="0" y="0"/>
              <a:ext cx="6967601" cy="12700"/>
            </a:xfrm>
            <a:custGeom>
              <a:avLst/>
              <a:gdLst/>
              <a:ahLst/>
              <a:cxnLst/>
              <a:rect r="r" b="b" t="t" l="l"/>
              <a:pathLst>
                <a:path h="12700" w="6967601">
                  <a:moveTo>
                    <a:pt x="0" y="0"/>
                  </a:moveTo>
                  <a:lnTo>
                    <a:pt x="6967601" y="12700"/>
                  </a:lnTo>
                </a:path>
              </a:pathLst>
            </a:custGeom>
            <a:blipFill>
              <a:blip r:embed="rId3">
                <a:alphaModFix amt="0"/>
              </a:blip>
              <a:stretch>
                <a:fillRect l="0" t="-10640007" r="0" b="-10640107"/>
              </a:stretch>
            </a:blipFill>
            <a:ln w="9532" cap="sq">
              <a:solidFill>
                <a:srgbClr val="D6D0C8"/>
              </a:solidFill>
              <a:prstDash val="solid"/>
              <a:miter/>
            </a:ln>
          </p:spPr>
        </p:sp>
      </p:grpSp>
      <p:grpSp>
        <p:nvGrpSpPr>
          <p:cNvPr name="Group 13" id="13"/>
          <p:cNvGrpSpPr/>
          <p:nvPr/>
        </p:nvGrpSpPr>
        <p:grpSpPr>
          <a:xfrm rot="0">
            <a:off x="10770708" y="5774188"/>
            <a:ext cx="5225691" cy="9535"/>
            <a:chOff x="0" y="0"/>
            <a:chExt cx="6967588" cy="12713"/>
          </a:xfrm>
        </p:grpSpPr>
        <p:sp>
          <p:nvSpPr>
            <p:cNvPr name="Freeform 14" id="14"/>
            <p:cNvSpPr/>
            <p:nvPr/>
          </p:nvSpPr>
          <p:spPr>
            <a:xfrm flipH="false" flipV="false" rot="0">
              <a:off x="0" y="0"/>
              <a:ext cx="6967601" cy="12700"/>
            </a:xfrm>
            <a:custGeom>
              <a:avLst/>
              <a:gdLst/>
              <a:ahLst/>
              <a:cxnLst/>
              <a:rect r="r" b="b" t="t" l="l"/>
              <a:pathLst>
                <a:path h="12700" w="6967601">
                  <a:moveTo>
                    <a:pt x="0" y="0"/>
                  </a:moveTo>
                  <a:lnTo>
                    <a:pt x="6967601" y="12700"/>
                  </a:lnTo>
                </a:path>
              </a:pathLst>
            </a:custGeom>
            <a:blipFill>
              <a:blip r:embed="rId3">
                <a:alphaModFix amt="0"/>
              </a:blip>
              <a:stretch>
                <a:fillRect l="0" t="-10640007" r="0" b="-10640107"/>
              </a:stretch>
            </a:blipFill>
            <a:ln w="9532" cap="sq">
              <a:solidFill>
                <a:srgbClr val="D6D0C8"/>
              </a:solidFill>
              <a:prstDash val="solid"/>
              <a:miter/>
            </a:ln>
          </p:spPr>
        </p:sp>
      </p:grpSp>
      <p:sp>
        <p:nvSpPr>
          <p:cNvPr name="TextBox 15" id="15"/>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16" id="16"/>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11</a:t>
            </a:r>
          </a:p>
        </p:txBody>
      </p:sp>
      <p:sp>
        <p:nvSpPr>
          <p:cNvPr name="TextBox 17" id="17"/>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Layered architecture</a:t>
            </a:r>
          </a:p>
        </p:txBody>
      </p:sp>
      <p:sp>
        <p:nvSpPr>
          <p:cNvPr name="TextBox 18" id="18"/>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UI, ML core, model artifacts, and storage are separated.</a:t>
            </a:r>
          </a:p>
        </p:txBody>
      </p:sp>
      <p:sp>
        <p:nvSpPr>
          <p:cNvPr name="TextBox 19" id="19"/>
          <p:cNvSpPr txBox="true"/>
          <p:nvPr/>
        </p:nvSpPr>
        <p:spPr>
          <a:xfrm rot="0">
            <a:off x="10775480" y="2823505"/>
            <a:ext cx="2059010" cy="292465"/>
          </a:xfrm>
          <a:prstGeom prst="rect">
            <a:avLst/>
          </a:prstGeom>
        </p:spPr>
        <p:txBody>
          <a:bodyPr anchor="t" rtlCol="false" tIns="0" lIns="0" bIns="0" rIns="0">
            <a:spAutoFit/>
          </a:bodyPr>
          <a:lstStyle/>
          <a:p>
            <a:pPr algn="l">
              <a:lnSpc>
                <a:spcPts val="1848"/>
              </a:lnSpc>
            </a:pPr>
            <a:r>
              <a:rPr lang="en-US" sz="1621" b="true">
                <a:solidFill>
                  <a:srgbClr val="1E293B"/>
                </a:solidFill>
                <a:latin typeface="Montserrat Bold"/>
                <a:ea typeface="Montserrat Bold"/>
                <a:cs typeface="Montserrat Bold"/>
                <a:sym typeface="Montserrat Bold"/>
              </a:rPr>
              <a:t>Presentation</a:t>
            </a:r>
          </a:p>
        </p:txBody>
      </p:sp>
      <p:sp>
        <p:nvSpPr>
          <p:cNvPr name="TextBox 20" id="20"/>
          <p:cNvSpPr txBox="true"/>
          <p:nvPr/>
        </p:nvSpPr>
        <p:spPr>
          <a:xfrm rot="0">
            <a:off x="12971755" y="2822381"/>
            <a:ext cx="3019882" cy="60579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Streamlit UI, input, dashboard, history, feedback</a:t>
            </a:r>
          </a:p>
        </p:txBody>
      </p:sp>
      <p:sp>
        <p:nvSpPr>
          <p:cNvPr name="TextBox 21" id="21"/>
          <p:cNvSpPr txBox="true"/>
          <p:nvPr/>
        </p:nvSpPr>
        <p:spPr>
          <a:xfrm rot="0">
            <a:off x="10775480" y="3949094"/>
            <a:ext cx="2059010" cy="292465"/>
          </a:xfrm>
          <a:prstGeom prst="rect">
            <a:avLst/>
          </a:prstGeom>
        </p:spPr>
        <p:txBody>
          <a:bodyPr anchor="t" rtlCol="false" tIns="0" lIns="0" bIns="0" rIns="0">
            <a:spAutoFit/>
          </a:bodyPr>
          <a:lstStyle/>
          <a:p>
            <a:pPr algn="l">
              <a:lnSpc>
                <a:spcPts val="1848"/>
              </a:lnSpc>
            </a:pPr>
            <a:r>
              <a:rPr lang="en-US" sz="1621" b="true">
                <a:solidFill>
                  <a:srgbClr val="1E293B"/>
                </a:solidFill>
                <a:latin typeface="Montserrat Bold"/>
                <a:ea typeface="Montserrat Bold"/>
                <a:cs typeface="Montserrat Bold"/>
                <a:sym typeface="Montserrat Bold"/>
              </a:rPr>
              <a:t>Core engine</a:t>
            </a:r>
          </a:p>
        </p:txBody>
      </p:sp>
      <p:sp>
        <p:nvSpPr>
          <p:cNvPr name="TextBox 22" id="22"/>
          <p:cNvSpPr txBox="true"/>
          <p:nvPr/>
        </p:nvSpPr>
        <p:spPr>
          <a:xfrm rot="0">
            <a:off x="10775480" y="5074682"/>
            <a:ext cx="2059010" cy="292465"/>
          </a:xfrm>
          <a:prstGeom prst="rect">
            <a:avLst/>
          </a:prstGeom>
        </p:spPr>
        <p:txBody>
          <a:bodyPr anchor="t" rtlCol="false" tIns="0" lIns="0" bIns="0" rIns="0">
            <a:spAutoFit/>
          </a:bodyPr>
          <a:lstStyle/>
          <a:p>
            <a:pPr algn="l">
              <a:lnSpc>
                <a:spcPts val="1848"/>
              </a:lnSpc>
            </a:pPr>
            <a:r>
              <a:rPr lang="en-US" sz="1621" b="true">
                <a:solidFill>
                  <a:srgbClr val="1E293B"/>
                </a:solidFill>
                <a:latin typeface="Montserrat Bold"/>
                <a:ea typeface="Montserrat Bold"/>
                <a:cs typeface="Montserrat Bold"/>
                <a:sym typeface="Montserrat Bold"/>
              </a:rPr>
              <a:t>Data layer</a:t>
            </a:r>
          </a:p>
        </p:txBody>
      </p:sp>
      <p:sp>
        <p:nvSpPr>
          <p:cNvPr name="TextBox 23" id="23"/>
          <p:cNvSpPr txBox="true"/>
          <p:nvPr/>
        </p:nvSpPr>
        <p:spPr>
          <a:xfrm rot="0">
            <a:off x="12971755" y="5073567"/>
            <a:ext cx="3019882" cy="60579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Supabase/PostgreSQL and local fallback storage</a:t>
            </a:r>
          </a:p>
        </p:txBody>
      </p:sp>
      <p:sp>
        <p:nvSpPr>
          <p:cNvPr name="TextBox 24" id="24"/>
          <p:cNvSpPr txBox="true"/>
          <p:nvPr/>
        </p:nvSpPr>
        <p:spPr>
          <a:xfrm rot="0">
            <a:off x="10775480" y="6200280"/>
            <a:ext cx="2059010" cy="292465"/>
          </a:xfrm>
          <a:prstGeom prst="rect">
            <a:avLst/>
          </a:prstGeom>
        </p:spPr>
        <p:txBody>
          <a:bodyPr anchor="t" rtlCol="false" tIns="0" lIns="0" bIns="0" rIns="0">
            <a:spAutoFit/>
          </a:bodyPr>
          <a:lstStyle/>
          <a:p>
            <a:pPr algn="l">
              <a:lnSpc>
                <a:spcPts val="1848"/>
              </a:lnSpc>
            </a:pPr>
            <a:r>
              <a:rPr lang="en-US" sz="1621" b="true">
                <a:solidFill>
                  <a:srgbClr val="1E293B"/>
                </a:solidFill>
                <a:latin typeface="Montserrat Bold"/>
                <a:ea typeface="Montserrat Bold"/>
                <a:cs typeface="Montserrat Bold"/>
                <a:sym typeface="Montserrat Bold"/>
              </a:rPr>
              <a:t>Artifacts</a:t>
            </a:r>
          </a:p>
        </p:txBody>
      </p:sp>
      <p:sp>
        <p:nvSpPr>
          <p:cNvPr name="TextBox 25" id="25"/>
          <p:cNvSpPr txBox="true"/>
          <p:nvPr/>
        </p:nvSpPr>
        <p:spPr>
          <a:xfrm rot="0">
            <a:off x="12971755" y="6199156"/>
            <a:ext cx="3019882" cy="60579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best_model.joblib and metadata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12</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Prediction workflow</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The app turns raw input into prediction, explanation, storage, and feedback.</a:t>
            </a:r>
          </a:p>
        </p:txBody>
      </p:sp>
      <p:grpSp>
        <p:nvGrpSpPr>
          <p:cNvPr name="Group 10" id="10"/>
          <p:cNvGrpSpPr/>
          <p:nvPr/>
        </p:nvGrpSpPr>
        <p:grpSpPr>
          <a:xfrm rot="0">
            <a:off x="1118921" y="2532774"/>
            <a:ext cx="4749070" cy="1660550"/>
            <a:chOff x="0" y="0"/>
            <a:chExt cx="6332093" cy="2214067"/>
          </a:xfrm>
        </p:grpSpPr>
        <p:sp>
          <p:nvSpPr>
            <p:cNvPr name="Freeform 11" id="11"/>
            <p:cNvSpPr/>
            <p:nvPr/>
          </p:nvSpPr>
          <p:spPr>
            <a:xfrm flipH="false" flipV="false" rot="0">
              <a:off x="0" y="0"/>
              <a:ext cx="6332093" cy="2214118"/>
            </a:xfrm>
            <a:custGeom>
              <a:avLst/>
              <a:gdLst/>
              <a:ahLst/>
              <a:cxnLst/>
              <a:rect r="r" b="b" t="t" l="l"/>
              <a:pathLst>
                <a:path h="2214118" w="6332093">
                  <a:moveTo>
                    <a:pt x="0" y="110744"/>
                  </a:moveTo>
                  <a:cubicBezTo>
                    <a:pt x="0" y="49530"/>
                    <a:pt x="49530" y="0"/>
                    <a:pt x="110744" y="0"/>
                  </a:cubicBezTo>
                  <a:lnTo>
                    <a:pt x="6221349" y="0"/>
                  </a:lnTo>
                  <a:cubicBezTo>
                    <a:pt x="6282436" y="0"/>
                    <a:pt x="6332093" y="49530"/>
                    <a:pt x="6332093" y="110744"/>
                  </a:cubicBezTo>
                  <a:lnTo>
                    <a:pt x="6332093" y="2103374"/>
                  </a:lnTo>
                  <a:cubicBezTo>
                    <a:pt x="6332093" y="2164461"/>
                    <a:pt x="6282563" y="2214118"/>
                    <a:pt x="6221349" y="2214118"/>
                  </a:cubicBezTo>
                  <a:lnTo>
                    <a:pt x="110744" y="2214118"/>
                  </a:lnTo>
                  <a:cubicBezTo>
                    <a:pt x="49657" y="2214118"/>
                    <a:pt x="0" y="2164588"/>
                    <a:pt x="0" y="2103374"/>
                  </a:cubicBezTo>
                  <a:close/>
                </a:path>
              </a:pathLst>
            </a:custGeom>
            <a:solidFill>
              <a:srgbClr val="FFFFFF"/>
            </a:solidFill>
            <a:ln w="13345" cap="sq">
              <a:solidFill>
                <a:srgbClr val="D6D0C8"/>
              </a:solidFill>
              <a:prstDash val="solid"/>
              <a:miter/>
            </a:ln>
          </p:spPr>
        </p:sp>
      </p:grpSp>
      <p:sp>
        <p:nvSpPr>
          <p:cNvPr name="TextBox 12" id="12"/>
          <p:cNvSpPr txBox="true"/>
          <p:nvPr/>
        </p:nvSpPr>
        <p:spPr>
          <a:xfrm rot="0">
            <a:off x="1427578" y="2860481"/>
            <a:ext cx="3019882"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Input</a:t>
            </a:r>
          </a:p>
        </p:txBody>
      </p:sp>
      <p:sp>
        <p:nvSpPr>
          <p:cNvPr name="TextBox 13" id="13"/>
          <p:cNvSpPr txBox="true"/>
          <p:nvPr/>
        </p:nvSpPr>
        <p:spPr>
          <a:xfrm rot="0">
            <a:off x="1441304" y="3453813"/>
            <a:ext cx="391211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text or supported URL</a:t>
            </a:r>
          </a:p>
        </p:txBody>
      </p:sp>
      <p:grpSp>
        <p:nvGrpSpPr>
          <p:cNvPr name="Group 14" id="14"/>
          <p:cNvGrpSpPr/>
          <p:nvPr/>
        </p:nvGrpSpPr>
        <p:grpSpPr>
          <a:xfrm rot="0">
            <a:off x="5853684" y="3355419"/>
            <a:ext cx="770220" cy="15250"/>
            <a:chOff x="0" y="0"/>
            <a:chExt cx="1026960" cy="20333"/>
          </a:xfrm>
        </p:grpSpPr>
        <p:sp>
          <p:nvSpPr>
            <p:cNvPr name="Freeform 15" id="15"/>
            <p:cNvSpPr/>
            <p:nvPr/>
          </p:nvSpPr>
          <p:spPr>
            <a:xfrm flipH="false" flipV="false" rot="0">
              <a:off x="0" y="0"/>
              <a:ext cx="1026922" cy="20320"/>
            </a:xfrm>
            <a:custGeom>
              <a:avLst/>
              <a:gdLst/>
              <a:ahLst/>
              <a:cxnLst/>
              <a:rect r="r" b="b" t="t" l="l"/>
              <a:pathLst>
                <a:path h="20320" w="1026922">
                  <a:moveTo>
                    <a:pt x="0" y="0"/>
                  </a:moveTo>
                  <a:lnTo>
                    <a:pt x="1026922" y="20320"/>
                  </a:lnTo>
                </a:path>
              </a:pathLst>
            </a:custGeom>
            <a:blipFill>
              <a:blip r:embed="rId3">
                <a:alphaModFix amt="0"/>
              </a:blip>
              <a:stretch>
                <a:fillRect l="0" t="-934730" r="-3" b="-934792"/>
              </a:stretch>
            </a:blipFill>
            <a:ln w="15252" cap="sq">
              <a:solidFill>
                <a:srgbClr val="D6D0C8"/>
              </a:solidFill>
              <a:prstDash val="solid"/>
              <a:miter/>
            </a:ln>
          </p:spPr>
        </p:sp>
      </p:grpSp>
      <p:grpSp>
        <p:nvGrpSpPr>
          <p:cNvPr name="Group 16" id="16"/>
          <p:cNvGrpSpPr/>
          <p:nvPr/>
        </p:nvGrpSpPr>
        <p:grpSpPr>
          <a:xfrm rot="0">
            <a:off x="6746872" y="2532774"/>
            <a:ext cx="4749070" cy="1660550"/>
            <a:chOff x="0" y="0"/>
            <a:chExt cx="6332093" cy="2214067"/>
          </a:xfrm>
        </p:grpSpPr>
        <p:sp>
          <p:nvSpPr>
            <p:cNvPr name="Freeform 17" id="17"/>
            <p:cNvSpPr/>
            <p:nvPr/>
          </p:nvSpPr>
          <p:spPr>
            <a:xfrm flipH="false" flipV="false" rot="0">
              <a:off x="0" y="0"/>
              <a:ext cx="6332093" cy="2214118"/>
            </a:xfrm>
            <a:custGeom>
              <a:avLst/>
              <a:gdLst/>
              <a:ahLst/>
              <a:cxnLst/>
              <a:rect r="r" b="b" t="t" l="l"/>
              <a:pathLst>
                <a:path h="2214118" w="6332093">
                  <a:moveTo>
                    <a:pt x="0" y="110744"/>
                  </a:moveTo>
                  <a:cubicBezTo>
                    <a:pt x="0" y="49530"/>
                    <a:pt x="49530" y="0"/>
                    <a:pt x="110744" y="0"/>
                  </a:cubicBezTo>
                  <a:lnTo>
                    <a:pt x="6221349" y="0"/>
                  </a:lnTo>
                  <a:cubicBezTo>
                    <a:pt x="6282436" y="0"/>
                    <a:pt x="6332093" y="49530"/>
                    <a:pt x="6332093" y="110744"/>
                  </a:cubicBezTo>
                  <a:lnTo>
                    <a:pt x="6332093" y="2103374"/>
                  </a:lnTo>
                  <a:cubicBezTo>
                    <a:pt x="6332093" y="2164461"/>
                    <a:pt x="6282563" y="2214118"/>
                    <a:pt x="6221349" y="2214118"/>
                  </a:cubicBezTo>
                  <a:lnTo>
                    <a:pt x="110744" y="2214118"/>
                  </a:lnTo>
                  <a:cubicBezTo>
                    <a:pt x="49657" y="2214118"/>
                    <a:pt x="0" y="2164588"/>
                    <a:pt x="0" y="2103374"/>
                  </a:cubicBezTo>
                  <a:close/>
                </a:path>
              </a:pathLst>
            </a:custGeom>
            <a:solidFill>
              <a:srgbClr val="FFFFFF"/>
            </a:solidFill>
            <a:ln w="13345" cap="sq">
              <a:solidFill>
                <a:srgbClr val="D6D0C8"/>
              </a:solidFill>
              <a:prstDash val="solid"/>
              <a:miter/>
            </a:ln>
          </p:spPr>
        </p:sp>
      </p:grpSp>
      <p:sp>
        <p:nvSpPr>
          <p:cNvPr name="TextBox 18" id="18"/>
          <p:cNvSpPr txBox="true"/>
          <p:nvPr/>
        </p:nvSpPr>
        <p:spPr>
          <a:xfrm rot="0">
            <a:off x="7055539" y="2860481"/>
            <a:ext cx="3019882"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Preprocess</a:t>
            </a:r>
          </a:p>
        </p:txBody>
      </p:sp>
      <p:sp>
        <p:nvSpPr>
          <p:cNvPr name="TextBox 19" id="19"/>
          <p:cNvSpPr txBox="true"/>
          <p:nvPr/>
        </p:nvSpPr>
        <p:spPr>
          <a:xfrm rot="0">
            <a:off x="7069264" y="3453813"/>
            <a:ext cx="391211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normalize, clean, validate</a:t>
            </a:r>
          </a:p>
        </p:txBody>
      </p:sp>
      <p:grpSp>
        <p:nvGrpSpPr>
          <p:cNvPr name="Group 20" id="20"/>
          <p:cNvGrpSpPr/>
          <p:nvPr/>
        </p:nvGrpSpPr>
        <p:grpSpPr>
          <a:xfrm rot="0">
            <a:off x="11481645" y="3355419"/>
            <a:ext cx="770220" cy="15250"/>
            <a:chOff x="0" y="0"/>
            <a:chExt cx="1026960" cy="20333"/>
          </a:xfrm>
        </p:grpSpPr>
        <p:sp>
          <p:nvSpPr>
            <p:cNvPr name="Freeform 21" id="21"/>
            <p:cNvSpPr/>
            <p:nvPr/>
          </p:nvSpPr>
          <p:spPr>
            <a:xfrm flipH="false" flipV="false" rot="0">
              <a:off x="0" y="0"/>
              <a:ext cx="1026922" cy="20320"/>
            </a:xfrm>
            <a:custGeom>
              <a:avLst/>
              <a:gdLst/>
              <a:ahLst/>
              <a:cxnLst/>
              <a:rect r="r" b="b" t="t" l="l"/>
              <a:pathLst>
                <a:path h="20320" w="1026922">
                  <a:moveTo>
                    <a:pt x="0" y="0"/>
                  </a:moveTo>
                  <a:lnTo>
                    <a:pt x="1026922" y="20320"/>
                  </a:lnTo>
                </a:path>
              </a:pathLst>
            </a:custGeom>
            <a:blipFill>
              <a:blip r:embed="rId3">
                <a:alphaModFix amt="0"/>
              </a:blip>
              <a:stretch>
                <a:fillRect l="0" t="-934730" r="-3" b="-934792"/>
              </a:stretch>
            </a:blipFill>
            <a:ln w="15252" cap="sq">
              <a:solidFill>
                <a:srgbClr val="D6D0C8"/>
              </a:solidFill>
              <a:prstDash val="solid"/>
              <a:miter/>
            </a:ln>
          </p:spPr>
        </p:sp>
      </p:grpSp>
      <p:grpSp>
        <p:nvGrpSpPr>
          <p:cNvPr name="Group 22" id="22"/>
          <p:cNvGrpSpPr/>
          <p:nvPr/>
        </p:nvGrpSpPr>
        <p:grpSpPr>
          <a:xfrm rot="0">
            <a:off x="12374832" y="2532774"/>
            <a:ext cx="4749070" cy="1660550"/>
            <a:chOff x="0" y="0"/>
            <a:chExt cx="6332093" cy="2214067"/>
          </a:xfrm>
        </p:grpSpPr>
        <p:sp>
          <p:nvSpPr>
            <p:cNvPr name="Freeform 23" id="23"/>
            <p:cNvSpPr/>
            <p:nvPr/>
          </p:nvSpPr>
          <p:spPr>
            <a:xfrm flipH="false" flipV="false" rot="0">
              <a:off x="0" y="0"/>
              <a:ext cx="6332093" cy="2214118"/>
            </a:xfrm>
            <a:custGeom>
              <a:avLst/>
              <a:gdLst/>
              <a:ahLst/>
              <a:cxnLst/>
              <a:rect r="r" b="b" t="t" l="l"/>
              <a:pathLst>
                <a:path h="2214118" w="6332093">
                  <a:moveTo>
                    <a:pt x="0" y="110744"/>
                  </a:moveTo>
                  <a:cubicBezTo>
                    <a:pt x="0" y="49530"/>
                    <a:pt x="49530" y="0"/>
                    <a:pt x="110744" y="0"/>
                  </a:cubicBezTo>
                  <a:lnTo>
                    <a:pt x="6221349" y="0"/>
                  </a:lnTo>
                  <a:cubicBezTo>
                    <a:pt x="6282436" y="0"/>
                    <a:pt x="6332093" y="49530"/>
                    <a:pt x="6332093" y="110744"/>
                  </a:cubicBezTo>
                  <a:lnTo>
                    <a:pt x="6332093" y="2103374"/>
                  </a:lnTo>
                  <a:cubicBezTo>
                    <a:pt x="6332093" y="2164461"/>
                    <a:pt x="6282563" y="2214118"/>
                    <a:pt x="6221349" y="2214118"/>
                  </a:cubicBezTo>
                  <a:lnTo>
                    <a:pt x="110744" y="2214118"/>
                  </a:lnTo>
                  <a:cubicBezTo>
                    <a:pt x="49657" y="2214118"/>
                    <a:pt x="0" y="2164588"/>
                    <a:pt x="0" y="2103374"/>
                  </a:cubicBezTo>
                  <a:close/>
                </a:path>
              </a:pathLst>
            </a:custGeom>
            <a:solidFill>
              <a:srgbClr val="FFFFFF"/>
            </a:solidFill>
            <a:ln w="13345" cap="sq">
              <a:solidFill>
                <a:srgbClr val="D6D0C8"/>
              </a:solidFill>
              <a:prstDash val="solid"/>
              <a:miter/>
            </a:ln>
          </p:spPr>
        </p:sp>
      </p:grpSp>
      <p:sp>
        <p:nvSpPr>
          <p:cNvPr name="TextBox 24" id="24"/>
          <p:cNvSpPr txBox="true"/>
          <p:nvPr/>
        </p:nvSpPr>
        <p:spPr>
          <a:xfrm rot="0">
            <a:off x="12683490" y="2860481"/>
            <a:ext cx="3019882"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Inference</a:t>
            </a:r>
          </a:p>
        </p:txBody>
      </p:sp>
      <p:sp>
        <p:nvSpPr>
          <p:cNvPr name="TextBox 25" id="25"/>
          <p:cNvSpPr txBox="true"/>
          <p:nvPr/>
        </p:nvSpPr>
        <p:spPr>
          <a:xfrm rot="0">
            <a:off x="12697216" y="3453813"/>
            <a:ext cx="391211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TF-IDF + Linear SVM</a:t>
            </a:r>
          </a:p>
        </p:txBody>
      </p:sp>
      <p:grpSp>
        <p:nvGrpSpPr>
          <p:cNvPr name="Group 26" id="26"/>
          <p:cNvGrpSpPr/>
          <p:nvPr/>
        </p:nvGrpSpPr>
        <p:grpSpPr>
          <a:xfrm rot="0">
            <a:off x="1118921" y="5168303"/>
            <a:ext cx="4749070" cy="1660550"/>
            <a:chOff x="0" y="0"/>
            <a:chExt cx="6332093" cy="2214067"/>
          </a:xfrm>
        </p:grpSpPr>
        <p:sp>
          <p:nvSpPr>
            <p:cNvPr name="Freeform 27" id="27"/>
            <p:cNvSpPr/>
            <p:nvPr/>
          </p:nvSpPr>
          <p:spPr>
            <a:xfrm flipH="false" flipV="false" rot="0">
              <a:off x="0" y="0"/>
              <a:ext cx="6332093" cy="2214118"/>
            </a:xfrm>
            <a:custGeom>
              <a:avLst/>
              <a:gdLst/>
              <a:ahLst/>
              <a:cxnLst/>
              <a:rect r="r" b="b" t="t" l="l"/>
              <a:pathLst>
                <a:path h="2214118" w="6332093">
                  <a:moveTo>
                    <a:pt x="0" y="110744"/>
                  </a:moveTo>
                  <a:cubicBezTo>
                    <a:pt x="0" y="49530"/>
                    <a:pt x="49530" y="0"/>
                    <a:pt x="110744" y="0"/>
                  </a:cubicBezTo>
                  <a:lnTo>
                    <a:pt x="6221349" y="0"/>
                  </a:lnTo>
                  <a:cubicBezTo>
                    <a:pt x="6282436" y="0"/>
                    <a:pt x="6332093" y="49530"/>
                    <a:pt x="6332093" y="110744"/>
                  </a:cubicBezTo>
                  <a:lnTo>
                    <a:pt x="6332093" y="2103374"/>
                  </a:lnTo>
                  <a:cubicBezTo>
                    <a:pt x="6332093" y="2164461"/>
                    <a:pt x="6282563" y="2214118"/>
                    <a:pt x="6221349" y="2214118"/>
                  </a:cubicBezTo>
                  <a:lnTo>
                    <a:pt x="110744" y="2214118"/>
                  </a:lnTo>
                  <a:cubicBezTo>
                    <a:pt x="49657" y="2214118"/>
                    <a:pt x="0" y="2164588"/>
                    <a:pt x="0" y="2103374"/>
                  </a:cubicBezTo>
                  <a:close/>
                </a:path>
              </a:pathLst>
            </a:custGeom>
            <a:solidFill>
              <a:srgbClr val="FFFFFF"/>
            </a:solidFill>
            <a:ln w="13345" cap="sq">
              <a:solidFill>
                <a:srgbClr val="D6D0C8"/>
              </a:solidFill>
              <a:prstDash val="solid"/>
              <a:miter/>
            </a:ln>
          </p:spPr>
        </p:sp>
      </p:grpSp>
      <p:sp>
        <p:nvSpPr>
          <p:cNvPr name="TextBox 28" id="28"/>
          <p:cNvSpPr txBox="true"/>
          <p:nvPr/>
        </p:nvSpPr>
        <p:spPr>
          <a:xfrm rot="0">
            <a:off x="1427578" y="5496011"/>
            <a:ext cx="3019882" cy="310391"/>
          </a:xfrm>
          <a:prstGeom prst="rect">
            <a:avLst/>
          </a:prstGeom>
        </p:spPr>
        <p:txBody>
          <a:bodyPr anchor="t" rtlCol="false" tIns="0" lIns="0" bIns="0" rIns="0">
            <a:spAutoFit/>
          </a:bodyPr>
          <a:lstStyle/>
          <a:p>
            <a:pPr algn="l">
              <a:lnSpc>
                <a:spcPts val="2395"/>
              </a:lnSpc>
            </a:pPr>
            <a:r>
              <a:rPr lang="en-US" b="true" sz="2101">
                <a:solidFill>
                  <a:srgbClr val="1E293B"/>
                </a:solidFill>
                <a:latin typeface="Montserrat Bold"/>
                <a:ea typeface="Montserrat Bold"/>
                <a:cs typeface="Montserrat Bold"/>
                <a:sym typeface="Montserrat Bold"/>
              </a:rPr>
              <a:t>Explain</a:t>
            </a:r>
          </a:p>
        </p:txBody>
      </p:sp>
      <p:sp>
        <p:nvSpPr>
          <p:cNvPr name="TextBox 29" id="29"/>
          <p:cNvSpPr txBox="true"/>
          <p:nvPr/>
        </p:nvSpPr>
        <p:spPr>
          <a:xfrm rot="0">
            <a:off x="1441304" y="6089342"/>
            <a:ext cx="391211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risk, tokens, highlights</a:t>
            </a:r>
          </a:p>
        </p:txBody>
      </p:sp>
      <p:grpSp>
        <p:nvGrpSpPr>
          <p:cNvPr name="Group 30" id="30"/>
          <p:cNvGrpSpPr/>
          <p:nvPr/>
        </p:nvGrpSpPr>
        <p:grpSpPr>
          <a:xfrm rot="0">
            <a:off x="5853684" y="5990949"/>
            <a:ext cx="770220" cy="15250"/>
            <a:chOff x="0" y="0"/>
            <a:chExt cx="1026960" cy="20333"/>
          </a:xfrm>
        </p:grpSpPr>
        <p:sp>
          <p:nvSpPr>
            <p:cNvPr name="Freeform 31" id="31"/>
            <p:cNvSpPr/>
            <p:nvPr/>
          </p:nvSpPr>
          <p:spPr>
            <a:xfrm flipH="false" flipV="false" rot="0">
              <a:off x="0" y="0"/>
              <a:ext cx="1026922" cy="20320"/>
            </a:xfrm>
            <a:custGeom>
              <a:avLst/>
              <a:gdLst/>
              <a:ahLst/>
              <a:cxnLst/>
              <a:rect r="r" b="b" t="t" l="l"/>
              <a:pathLst>
                <a:path h="20320" w="1026922">
                  <a:moveTo>
                    <a:pt x="0" y="0"/>
                  </a:moveTo>
                  <a:lnTo>
                    <a:pt x="1026922" y="20320"/>
                  </a:lnTo>
                </a:path>
              </a:pathLst>
            </a:custGeom>
            <a:blipFill>
              <a:blip r:embed="rId3">
                <a:alphaModFix amt="0"/>
              </a:blip>
              <a:stretch>
                <a:fillRect l="0" t="-934730" r="-3" b="-934792"/>
              </a:stretch>
            </a:blipFill>
            <a:ln w="15252" cap="sq">
              <a:solidFill>
                <a:srgbClr val="D6D0C8"/>
              </a:solidFill>
              <a:prstDash val="solid"/>
              <a:miter/>
            </a:ln>
          </p:spPr>
        </p:sp>
      </p:grpSp>
      <p:grpSp>
        <p:nvGrpSpPr>
          <p:cNvPr name="Group 32" id="32"/>
          <p:cNvGrpSpPr/>
          <p:nvPr/>
        </p:nvGrpSpPr>
        <p:grpSpPr>
          <a:xfrm rot="0">
            <a:off x="6746872" y="5168303"/>
            <a:ext cx="4749070" cy="1660550"/>
            <a:chOff x="0" y="0"/>
            <a:chExt cx="6332093" cy="2214067"/>
          </a:xfrm>
        </p:grpSpPr>
        <p:sp>
          <p:nvSpPr>
            <p:cNvPr name="Freeform 33" id="33"/>
            <p:cNvSpPr/>
            <p:nvPr/>
          </p:nvSpPr>
          <p:spPr>
            <a:xfrm flipH="false" flipV="false" rot="0">
              <a:off x="0" y="0"/>
              <a:ext cx="6332093" cy="2214118"/>
            </a:xfrm>
            <a:custGeom>
              <a:avLst/>
              <a:gdLst/>
              <a:ahLst/>
              <a:cxnLst/>
              <a:rect r="r" b="b" t="t" l="l"/>
              <a:pathLst>
                <a:path h="2214118" w="6332093">
                  <a:moveTo>
                    <a:pt x="0" y="110744"/>
                  </a:moveTo>
                  <a:cubicBezTo>
                    <a:pt x="0" y="49530"/>
                    <a:pt x="49530" y="0"/>
                    <a:pt x="110744" y="0"/>
                  </a:cubicBezTo>
                  <a:lnTo>
                    <a:pt x="6221349" y="0"/>
                  </a:lnTo>
                  <a:cubicBezTo>
                    <a:pt x="6282436" y="0"/>
                    <a:pt x="6332093" y="49530"/>
                    <a:pt x="6332093" y="110744"/>
                  </a:cubicBezTo>
                  <a:lnTo>
                    <a:pt x="6332093" y="2103374"/>
                  </a:lnTo>
                  <a:cubicBezTo>
                    <a:pt x="6332093" y="2164461"/>
                    <a:pt x="6282563" y="2214118"/>
                    <a:pt x="6221349" y="2214118"/>
                  </a:cubicBezTo>
                  <a:lnTo>
                    <a:pt x="110744" y="2214118"/>
                  </a:lnTo>
                  <a:cubicBezTo>
                    <a:pt x="49657" y="2214118"/>
                    <a:pt x="0" y="2164588"/>
                    <a:pt x="0" y="2103374"/>
                  </a:cubicBezTo>
                  <a:close/>
                </a:path>
              </a:pathLst>
            </a:custGeom>
            <a:solidFill>
              <a:srgbClr val="FFFFFF"/>
            </a:solidFill>
            <a:ln w="13345" cap="sq">
              <a:solidFill>
                <a:srgbClr val="D6D0C8"/>
              </a:solidFill>
              <a:prstDash val="solid"/>
              <a:miter/>
            </a:ln>
          </p:spPr>
        </p:sp>
      </p:grpSp>
      <p:sp>
        <p:nvSpPr>
          <p:cNvPr name="TextBox 34" id="34"/>
          <p:cNvSpPr txBox="true"/>
          <p:nvPr/>
        </p:nvSpPr>
        <p:spPr>
          <a:xfrm rot="0">
            <a:off x="7055539" y="5496011"/>
            <a:ext cx="3019882"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Persist</a:t>
            </a:r>
          </a:p>
        </p:txBody>
      </p:sp>
      <p:sp>
        <p:nvSpPr>
          <p:cNvPr name="TextBox 35" id="35"/>
          <p:cNvSpPr txBox="true"/>
          <p:nvPr/>
        </p:nvSpPr>
        <p:spPr>
          <a:xfrm rot="0">
            <a:off x="7069264" y="6089342"/>
            <a:ext cx="391211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history in Supabase/local</a:t>
            </a:r>
          </a:p>
        </p:txBody>
      </p:sp>
      <p:grpSp>
        <p:nvGrpSpPr>
          <p:cNvPr name="Group 36" id="36"/>
          <p:cNvGrpSpPr/>
          <p:nvPr/>
        </p:nvGrpSpPr>
        <p:grpSpPr>
          <a:xfrm rot="0">
            <a:off x="11481645" y="5990949"/>
            <a:ext cx="770220" cy="15250"/>
            <a:chOff x="0" y="0"/>
            <a:chExt cx="1026960" cy="20333"/>
          </a:xfrm>
        </p:grpSpPr>
        <p:sp>
          <p:nvSpPr>
            <p:cNvPr name="Freeform 37" id="37"/>
            <p:cNvSpPr/>
            <p:nvPr/>
          </p:nvSpPr>
          <p:spPr>
            <a:xfrm flipH="false" flipV="false" rot="0">
              <a:off x="0" y="0"/>
              <a:ext cx="1026922" cy="20320"/>
            </a:xfrm>
            <a:custGeom>
              <a:avLst/>
              <a:gdLst/>
              <a:ahLst/>
              <a:cxnLst/>
              <a:rect r="r" b="b" t="t" l="l"/>
              <a:pathLst>
                <a:path h="20320" w="1026922">
                  <a:moveTo>
                    <a:pt x="0" y="0"/>
                  </a:moveTo>
                  <a:lnTo>
                    <a:pt x="1026922" y="20320"/>
                  </a:lnTo>
                </a:path>
              </a:pathLst>
            </a:custGeom>
            <a:blipFill>
              <a:blip r:embed="rId3">
                <a:alphaModFix amt="0"/>
              </a:blip>
              <a:stretch>
                <a:fillRect l="0" t="-934730" r="-3" b="-934792"/>
              </a:stretch>
            </a:blipFill>
            <a:ln w="15252" cap="sq">
              <a:solidFill>
                <a:srgbClr val="D6D0C8"/>
              </a:solidFill>
              <a:prstDash val="solid"/>
              <a:miter/>
            </a:ln>
          </p:spPr>
        </p:sp>
      </p:grpSp>
      <p:grpSp>
        <p:nvGrpSpPr>
          <p:cNvPr name="Group 38" id="38"/>
          <p:cNvGrpSpPr/>
          <p:nvPr/>
        </p:nvGrpSpPr>
        <p:grpSpPr>
          <a:xfrm rot="0">
            <a:off x="12374832" y="5168303"/>
            <a:ext cx="4749070" cy="1660550"/>
            <a:chOff x="0" y="0"/>
            <a:chExt cx="6332093" cy="2214067"/>
          </a:xfrm>
        </p:grpSpPr>
        <p:sp>
          <p:nvSpPr>
            <p:cNvPr name="Freeform 39" id="39"/>
            <p:cNvSpPr/>
            <p:nvPr/>
          </p:nvSpPr>
          <p:spPr>
            <a:xfrm flipH="false" flipV="false" rot="0">
              <a:off x="0" y="0"/>
              <a:ext cx="6332093" cy="2214118"/>
            </a:xfrm>
            <a:custGeom>
              <a:avLst/>
              <a:gdLst/>
              <a:ahLst/>
              <a:cxnLst/>
              <a:rect r="r" b="b" t="t" l="l"/>
              <a:pathLst>
                <a:path h="2214118" w="6332093">
                  <a:moveTo>
                    <a:pt x="0" y="110744"/>
                  </a:moveTo>
                  <a:cubicBezTo>
                    <a:pt x="0" y="49530"/>
                    <a:pt x="49530" y="0"/>
                    <a:pt x="110744" y="0"/>
                  </a:cubicBezTo>
                  <a:lnTo>
                    <a:pt x="6221349" y="0"/>
                  </a:lnTo>
                  <a:cubicBezTo>
                    <a:pt x="6282436" y="0"/>
                    <a:pt x="6332093" y="49530"/>
                    <a:pt x="6332093" y="110744"/>
                  </a:cubicBezTo>
                  <a:lnTo>
                    <a:pt x="6332093" y="2103374"/>
                  </a:lnTo>
                  <a:cubicBezTo>
                    <a:pt x="6332093" y="2164461"/>
                    <a:pt x="6282563" y="2214118"/>
                    <a:pt x="6221349" y="2214118"/>
                  </a:cubicBezTo>
                  <a:lnTo>
                    <a:pt x="110744" y="2214118"/>
                  </a:lnTo>
                  <a:cubicBezTo>
                    <a:pt x="49657" y="2214118"/>
                    <a:pt x="0" y="2164588"/>
                    <a:pt x="0" y="2103374"/>
                  </a:cubicBezTo>
                  <a:close/>
                </a:path>
              </a:pathLst>
            </a:custGeom>
            <a:solidFill>
              <a:srgbClr val="FFFFFF"/>
            </a:solidFill>
            <a:ln w="13345" cap="sq">
              <a:solidFill>
                <a:srgbClr val="D6D0C8"/>
              </a:solidFill>
              <a:prstDash val="solid"/>
              <a:miter/>
            </a:ln>
          </p:spPr>
        </p:sp>
      </p:grpSp>
      <p:sp>
        <p:nvSpPr>
          <p:cNvPr name="TextBox 40" id="40"/>
          <p:cNvSpPr txBox="true"/>
          <p:nvPr/>
        </p:nvSpPr>
        <p:spPr>
          <a:xfrm rot="0">
            <a:off x="12683490" y="5496011"/>
            <a:ext cx="3019882"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Feedback</a:t>
            </a:r>
          </a:p>
        </p:txBody>
      </p:sp>
      <p:sp>
        <p:nvSpPr>
          <p:cNvPr name="TextBox 41" id="41"/>
          <p:cNvSpPr txBox="true"/>
          <p:nvPr/>
        </p:nvSpPr>
        <p:spPr>
          <a:xfrm rot="0">
            <a:off x="12697216" y="6089342"/>
            <a:ext cx="3912118" cy="320040"/>
          </a:xfrm>
          <a:prstGeom prst="rect">
            <a:avLst/>
          </a:prstGeom>
        </p:spPr>
        <p:txBody>
          <a:bodyPr anchor="t" rtlCol="false" tIns="0" lIns="0" bIns="0" rIns="0">
            <a:spAutoFit/>
          </a:bodyPr>
          <a:lstStyle/>
          <a:p>
            <a:pPr algn="l">
              <a:lnSpc>
                <a:spcPts val="2280"/>
              </a:lnSpc>
            </a:pPr>
            <a:r>
              <a:rPr lang="en-US" sz="2000">
                <a:solidFill>
                  <a:srgbClr val="64748B"/>
                </a:solidFill>
                <a:latin typeface="Calibri (MS)"/>
                <a:ea typeface="Calibri (MS)"/>
                <a:cs typeface="Calibri (MS)"/>
                <a:sym typeface="Calibri (MS)"/>
              </a:rPr>
              <a:t>correct/incorrect/uncertain</a:t>
            </a:r>
          </a:p>
        </p:txBody>
      </p:sp>
      <p:sp>
        <p:nvSpPr>
          <p:cNvPr name="AutoShape 42" id="42"/>
          <p:cNvSpPr/>
          <p:nvPr/>
        </p:nvSpPr>
        <p:spPr>
          <a:xfrm flipV="true">
            <a:off x="5867991" y="3301223"/>
            <a:ext cx="940470" cy="61826"/>
          </a:xfrm>
          <a:prstGeom prst="line">
            <a:avLst/>
          </a:prstGeom>
          <a:ln cap="flat" w="38100">
            <a:solidFill>
              <a:srgbClr val="000000"/>
            </a:solidFill>
            <a:prstDash val="solid"/>
            <a:headEnd type="none" len="sm" w="sm"/>
            <a:tailEnd type="triangle" len="med" w="lg"/>
          </a:ln>
        </p:spPr>
      </p:sp>
      <p:sp>
        <p:nvSpPr>
          <p:cNvPr name="AutoShape 43" id="43"/>
          <p:cNvSpPr/>
          <p:nvPr/>
        </p:nvSpPr>
        <p:spPr>
          <a:xfrm>
            <a:off x="11495942" y="3363049"/>
            <a:ext cx="970612" cy="62153"/>
          </a:xfrm>
          <a:prstGeom prst="line">
            <a:avLst/>
          </a:prstGeom>
          <a:ln cap="flat" w="38100">
            <a:solidFill>
              <a:srgbClr val="000000"/>
            </a:solidFill>
            <a:prstDash val="solid"/>
            <a:headEnd type="none" len="sm" w="sm"/>
            <a:tailEnd type="triangle" len="med" w="lg"/>
          </a:ln>
        </p:spPr>
      </p:sp>
      <p:sp>
        <p:nvSpPr>
          <p:cNvPr name="AutoShape 44" id="44"/>
          <p:cNvSpPr/>
          <p:nvPr/>
        </p:nvSpPr>
        <p:spPr>
          <a:xfrm flipH="true">
            <a:off x="3443786" y="4193324"/>
            <a:ext cx="11305581" cy="974979"/>
          </a:xfrm>
          <a:prstGeom prst="line">
            <a:avLst/>
          </a:prstGeom>
          <a:ln cap="flat" w="38100">
            <a:solidFill>
              <a:srgbClr val="000000"/>
            </a:solidFill>
            <a:prstDash val="solid"/>
            <a:headEnd type="none" len="sm" w="sm"/>
            <a:tailEnd type="triangle" len="med" w="lg"/>
          </a:ln>
        </p:spPr>
      </p:sp>
      <p:sp>
        <p:nvSpPr>
          <p:cNvPr name="AutoShape 45" id="45"/>
          <p:cNvSpPr/>
          <p:nvPr/>
        </p:nvSpPr>
        <p:spPr>
          <a:xfrm flipH="true">
            <a:off x="9188341" y="4193324"/>
            <a:ext cx="5561027" cy="974979"/>
          </a:xfrm>
          <a:prstGeom prst="line">
            <a:avLst/>
          </a:prstGeom>
          <a:ln cap="flat" w="38100">
            <a:solidFill>
              <a:srgbClr val="000000"/>
            </a:solidFill>
            <a:prstDash val="solid"/>
            <a:headEnd type="none" len="sm" w="sm"/>
            <a:tailEnd type="triangle" len="med" w="lg"/>
          </a:ln>
        </p:spPr>
      </p:sp>
      <p:sp>
        <p:nvSpPr>
          <p:cNvPr name="AutoShape 46" id="46"/>
          <p:cNvSpPr/>
          <p:nvPr/>
        </p:nvSpPr>
        <p:spPr>
          <a:xfrm flipH="true">
            <a:off x="14749367" y="4193324"/>
            <a:ext cx="0" cy="974979"/>
          </a:xfrm>
          <a:prstGeom prst="line">
            <a:avLst/>
          </a:prstGeom>
          <a:ln cap="flat" w="38100">
            <a:solidFill>
              <a:srgbClr val="000000"/>
            </a:solidFill>
            <a:prstDash val="solid"/>
            <a:headEnd type="none" len="sm" w="sm"/>
            <a:tailEnd type="triangle" len="med" w="lg"/>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13</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Application result and explainability</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The result page is designed for readable review, not just prediction.</a:t>
            </a:r>
          </a:p>
        </p:txBody>
      </p:sp>
      <p:grpSp>
        <p:nvGrpSpPr>
          <p:cNvPr name="Group 10" id="10"/>
          <p:cNvGrpSpPr/>
          <p:nvPr/>
        </p:nvGrpSpPr>
        <p:grpSpPr>
          <a:xfrm rot="0">
            <a:off x="1201283" y="2354323"/>
            <a:ext cx="6876707" cy="4474531"/>
            <a:chOff x="0" y="0"/>
            <a:chExt cx="9168943" cy="5966041"/>
          </a:xfrm>
        </p:grpSpPr>
        <p:sp>
          <p:nvSpPr>
            <p:cNvPr name="Freeform 11" id="11"/>
            <p:cNvSpPr/>
            <p:nvPr/>
          </p:nvSpPr>
          <p:spPr>
            <a:xfrm flipH="false" flipV="false" rot="0">
              <a:off x="0" y="0"/>
              <a:ext cx="9168892" cy="5966079"/>
            </a:xfrm>
            <a:custGeom>
              <a:avLst/>
              <a:gdLst/>
              <a:ahLst/>
              <a:cxnLst/>
              <a:rect r="r" b="b" t="t" l="l"/>
              <a:pathLst>
                <a:path h="5966079" w="9168892">
                  <a:moveTo>
                    <a:pt x="0" y="110109"/>
                  </a:moveTo>
                  <a:cubicBezTo>
                    <a:pt x="0" y="49276"/>
                    <a:pt x="49276" y="0"/>
                    <a:pt x="110109" y="0"/>
                  </a:cubicBezTo>
                  <a:lnTo>
                    <a:pt x="9058783" y="0"/>
                  </a:lnTo>
                  <a:cubicBezTo>
                    <a:pt x="9119615" y="0"/>
                    <a:pt x="9168892" y="49276"/>
                    <a:pt x="9168892" y="110109"/>
                  </a:cubicBezTo>
                  <a:lnTo>
                    <a:pt x="9168892" y="5855970"/>
                  </a:lnTo>
                  <a:cubicBezTo>
                    <a:pt x="9168892" y="5916803"/>
                    <a:pt x="9119615" y="5966079"/>
                    <a:pt x="9058783" y="5966079"/>
                  </a:cubicBezTo>
                  <a:lnTo>
                    <a:pt x="110109" y="5966079"/>
                  </a:lnTo>
                  <a:cubicBezTo>
                    <a:pt x="49276" y="5966079"/>
                    <a:pt x="0" y="5916803"/>
                    <a:pt x="0" y="5855970"/>
                  </a:cubicBezTo>
                  <a:close/>
                </a:path>
              </a:pathLst>
            </a:custGeom>
            <a:solidFill>
              <a:srgbClr val="FFFFFF"/>
            </a:solidFill>
            <a:ln w="13345" cap="sq">
              <a:solidFill>
                <a:srgbClr val="D6D0C8"/>
              </a:solidFill>
              <a:prstDash val="solid"/>
              <a:miter/>
            </a:ln>
          </p:spPr>
        </p:sp>
      </p:grpSp>
      <p:grpSp>
        <p:nvGrpSpPr>
          <p:cNvPr name="Group 12" id="12"/>
          <p:cNvGrpSpPr/>
          <p:nvPr/>
        </p:nvGrpSpPr>
        <p:grpSpPr>
          <a:xfrm rot="0">
            <a:off x="1207951" y="2585866"/>
            <a:ext cx="6863363" cy="4011444"/>
            <a:chOff x="0" y="0"/>
            <a:chExt cx="9151150" cy="5348592"/>
          </a:xfrm>
        </p:grpSpPr>
        <p:sp>
          <p:nvSpPr>
            <p:cNvPr name="Freeform 13" id="13" descr="/mnt/data/report1_extract/word/media/image15.png"/>
            <p:cNvSpPr/>
            <p:nvPr/>
          </p:nvSpPr>
          <p:spPr>
            <a:xfrm flipH="false" flipV="false" rot="0">
              <a:off x="0" y="0"/>
              <a:ext cx="9151112" cy="5348605"/>
            </a:xfrm>
            <a:custGeom>
              <a:avLst/>
              <a:gdLst/>
              <a:ahLst/>
              <a:cxnLst/>
              <a:rect r="r" b="b" t="t" l="l"/>
              <a:pathLst>
                <a:path h="5348605" w="9151112">
                  <a:moveTo>
                    <a:pt x="0" y="0"/>
                  </a:moveTo>
                  <a:lnTo>
                    <a:pt x="9151112" y="0"/>
                  </a:lnTo>
                  <a:lnTo>
                    <a:pt x="9151112" y="5348605"/>
                  </a:lnTo>
                  <a:lnTo>
                    <a:pt x="0" y="5348605"/>
                  </a:lnTo>
                  <a:lnTo>
                    <a:pt x="0" y="0"/>
                  </a:lnTo>
                  <a:close/>
                </a:path>
              </a:pathLst>
            </a:custGeom>
            <a:blipFill>
              <a:blip r:embed="rId4"/>
              <a:stretch>
                <a:fillRect l="0" t="0" r="0" b="0"/>
              </a:stretch>
            </a:blipFill>
          </p:spPr>
        </p:sp>
      </p:grpSp>
      <p:grpSp>
        <p:nvGrpSpPr>
          <p:cNvPr name="Group 14" id="14"/>
          <p:cNvGrpSpPr/>
          <p:nvPr/>
        </p:nvGrpSpPr>
        <p:grpSpPr>
          <a:xfrm rot="0">
            <a:off x="8394078" y="2354323"/>
            <a:ext cx="8455285" cy="4474531"/>
            <a:chOff x="0" y="0"/>
            <a:chExt cx="11273714" cy="5966041"/>
          </a:xfrm>
        </p:grpSpPr>
        <p:sp>
          <p:nvSpPr>
            <p:cNvPr name="Freeform 15" id="15"/>
            <p:cNvSpPr/>
            <p:nvPr/>
          </p:nvSpPr>
          <p:spPr>
            <a:xfrm flipH="false" flipV="false" rot="0">
              <a:off x="0" y="0"/>
              <a:ext cx="11273663" cy="5966079"/>
            </a:xfrm>
            <a:custGeom>
              <a:avLst/>
              <a:gdLst/>
              <a:ahLst/>
              <a:cxnLst/>
              <a:rect r="r" b="b" t="t" l="l"/>
              <a:pathLst>
                <a:path h="5966079" w="11273663">
                  <a:moveTo>
                    <a:pt x="0" y="110109"/>
                  </a:moveTo>
                  <a:cubicBezTo>
                    <a:pt x="0" y="49276"/>
                    <a:pt x="49276" y="0"/>
                    <a:pt x="110109" y="0"/>
                  </a:cubicBezTo>
                  <a:lnTo>
                    <a:pt x="11163554" y="0"/>
                  </a:lnTo>
                  <a:cubicBezTo>
                    <a:pt x="11224387" y="0"/>
                    <a:pt x="11273663" y="49276"/>
                    <a:pt x="11273663" y="110109"/>
                  </a:cubicBezTo>
                  <a:lnTo>
                    <a:pt x="11273663" y="5855970"/>
                  </a:lnTo>
                  <a:cubicBezTo>
                    <a:pt x="11273663" y="5916803"/>
                    <a:pt x="11224387" y="5966079"/>
                    <a:pt x="11163554" y="5966079"/>
                  </a:cubicBezTo>
                  <a:lnTo>
                    <a:pt x="110109" y="5966079"/>
                  </a:lnTo>
                  <a:cubicBezTo>
                    <a:pt x="49276" y="5966079"/>
                    <a:pt x="0" y="5916803"/>
                    <a:pt x="0" y="5855970"/>
                  </a:cubicBezTo>
                  <a:close/>
                </a:path>
              </a:pathLst>
            </a:custGeom>
            <a:solidFill>
              <a:srgbClr val="FFFFFF"/>
            </a:solidFill>
            <a:ln w="13345" cap="sq">
              <a:solidFill>
                <a:srgbClr val="D6D0C8"/>
              </a:solidFill>
              <a:prstDash val="solid"/>
              <a:miter/>
            </a:ln>
          </p:spPr>
        </p:sp>
      </p:grpSp>
      <p:grpSp>
        <p:nvGrpSpPr>
          <p:cNvPr name="Group 16" id="16"/>
          <p:cNvGrpSpPr/>
          <p:nvPr/>
        </p:nvGrpSpPr>
        <p:grpSpPr>
          <a:xfrm rot="0">
            <a:off x="8805301" y="2361000"/>
            <a:ext cx="7632840" cy="4461186"/>
            <a:chOff x="0" y="0"/>
            <a:chExt cx="10177120" cy="5948248"/>
          </a:xfrm>
        </p:grpSpPr>
        <p:sp>
          <p:nvSpPr>
            <p:cNvPr name="Freeform 17" id="17" descr="/mnt/data/report1_extract/word/media/image16.png"/>
            <p:cNvSpPr/>
            <p:nvPr/>
          </p:nvSpPr>
          <p:spPr>
            <a:xfrm flipH="false" flipV="false" rot="0">
              <a:off x="0" y="0"/>
              <a:ext cx="10177145" cy="5948299"/>
            </a:xfrm>
            <a:custGeom>
              <a:avLst/>
              <a:gdLst/>
              <a:ahLst/>
              <a:cxnLst/>
              <a:rect r="r" b="b" t="t" l="l"/>
              <a:pathLst>
                <a:path h="5948299" w="10177145">
                  <a:moveTo>
                    <a:pt x="0" y="0"/>
                  </a:moveTo>
                  <a:lnTo>
                    <a:pt x="10177145" y="0"/>
                  </a:lnTo>
                  <a:lnTo>
                    <a:pt x="10177145" y="5948299"/>
                  </a:lnTo>
                  <a:lnTo>
                    <a:pt x="0" y="5948299"/>
                  </a:lnTo>
                  <a:lnTo>
                    <a:pt x="0" y="0"/>
                  </a:lnTo>
                  <a:close/>
                </a:path>
              </a:pathLst>
            </a:custGeom>
            <a:blipFill>
              <a:blip r:embed="rId5"/>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9"/>
            <a:ext cx="823608" cy="343167"/>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14</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Database and feedback loop</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Prediction history and user feedback make the workflow reusable.</a:t>
            </a:r>
          </a:p>
        </p:txBody>
      </p:sp>
      <p:sp>
        <p:nvSpPr>
          <p:cNvPr name="TextBox 10" id="10"/>
          <p:cNvSpPr txBox="true"/>
          <p:nvPr/>
        </p:nvSpPr>
        <p:spPr>
          <a:xfrm rot="0">
            <a:off x="823608" y="9795558"/>
            <a:ext cx="8236039" cy="159492"/>
          </a:xfrm>
          <a:prstGeom prst="rect">
            <a:avLst/>
          </a:prstGeom>
        </p:spPr>
        <p:txBody>
          <a:bodyPr anchor="t" rtlCol="false" tIns="0" lIns="0" bIns="0" rIns="0">
            <a:spAutoFit/>
          </a:bodyPr>
          <a:lstStyle/>
          <a:p>
            <a:pPr algn="l">
              <a:lnSpc>
                <a:spcPts val="1061"/>
              </a:lnSpc>
            </a:pPr>
            <a:r>
              <a:rPr lang="en-US" sz="930">
                <a:solidFill>
                  <a:srgbClr val="8A8178"/>
                </a:solidFill>
                <a:latin typeface="Calibri (MS)"/>
                <a:ea typeface="Calibri (MS)"/>
                <a:cs typeface="Calibri (MS)"/>
                <a:sym typeface="Calibri (MS)"/>
              </a:rPr>
              <a:t>News Reliability Assessment</a:t>
            </a:r>
          </a:p>
        </p:txBody>
      </p:sp>
      <p:grpSp>
        <p:nvGrpSpPr>
          <p:cNvPr name="Group 11" id="11"/>
          <p:cNvGrpSpPr/>
          <p:nvPr/>
        </p:nvGrpSpPr>
        <p:grpSpPr>
          <a:xfrm rot="0">
            <a:off x="1160097" y="2217058"/>
            <a:ext cx="7563040" cy="5229501"/>
            <a:chOff x="0" y="0"/>
            <a:chExt cx="10084054" cy="6972668"/>
          </a:xfrm>
        </p:grpSpPr>
        <p:sp>
          <p:nvSpPr>
            <p:cNvPr name="Freeform 12" id="12"/>
            <p:cNvSpPr/>
            <p:nvPr/>
          </p:nvSpPr>
          <p:spPr>
            <a:xfrm flipH="false" flipV="false" rot="0">
              <a:off x="0" y="0"/>
              <a:ext cx="10084053" cy="6972681"/>
            </a:xfrm>
            <a:custGeom>
              <a:avLst/>
              <a:gdLst/>
              <a:ahLst/>
              <a:cxnLst/>
              <a:rect r="r" b="b" t="t" l="l"/>
              <a:pathLst>
                <a:path h="6972681" w="10084053">
                  <a:moveTo>
                    <a:pt x="0" y="110109"/>
                  </a:moveTo>
                  <a:cubicBezTo>
                    <a:pt x="0" y="49276"/>
                    <a:pt x="49276" y="0"/>
                    <a:pt x="110109" y="0"/>
                  </a:cubicBezTo>
                  <a:lnTo>
                    <a:pt x="9973945" y="0"/>
                  </a:lnTo>
                  <a:cubicBezTo>
                    <a:pt x="10034777" y="0"/>
                    <a:pt x="10084053" y="49276"/>
                    <a:pt x="10084053" y="110109"/>
                  </a:cubicBezTo>
                  <a:lnTo>
                    <a:pt x="10084053" y="6862572"/>
                  </a:lnTo>
                  <a:cubicBezTo>
                    <a:pt x="10084053" y="6923405"/>
                    <a:pt x="10034777" y="6972681"/>
                    <a:pt x="9973945" y="6972681"/>
                  </a:cubicBezTo>
                  <a:lnTo>
                    <a:pt x="110109" y="6972681"/>
                  </a:lnTo>
                  <a:cubicBezTo>
                    <a:pt x="49276" y="6972681"/>
                    <a:pt x="0" y="6923405"/>
                    <a:pt x="0" y="6862572"/>
                  </a:cubicBezTo>
                  <a:close/>
                </a:path>
              </a:pathLst>
            </a:custGeom>
            <a:solidFill>
              <a:srgbClr val="FFFFFF"/>
            </a:solidFill>
            <a:ln w="13345" cap="sq">
              <a:solidFill>
                <a:srgbClr val="D6D0C8"/>
              </a:solidFill>
              <a:prstDash val="solid"/>
              <a:miter/>
            </a:ln>
          </p:spPr>
        </p:sp>
      </p:grpSp>
      <p:grpSp>
        <p:nvGrpSpPr>
          <p:cNvPr name="Group 13" id="13"/>
          <p:cNvGrpSpPr/>
          <p:nvPr/>
        </p:nvGrpSpPr>
        <p:grpSpPr>
          <a:xfrm rot="0">
            <a:off x="1166774" y="3716084"/>
            <a:ext cx="7549696" cy="2231441"/>
            <a:chOff x="0" y="0"/>
            <a:chExt cx="10066261" cy="2975254"/>
          </a:xfrm>
        </p:grpSpPr>
        <p:sp>
          <p:nvSpPr>
            <p:cNvPr name="Freeform 14" id="14" descr="/mnt/data/report1_extract/word/media/image10.png"/>
            <p:cNvSpPr/>
            <p:nvPr/>
          </p:nvSpPr>
          <p:spPr>
            <a:xfrm flipH="false" flipV="false" rot="0">
              <a:off x="0" y="0"/>
              <a:ext cx="10066274" cy="2975229"/>
            </a:xfrm>
            <a:custGeom>
              <a:avLst/>
              <a:gdLst/>
              <a:ahLst/>
              <a:cxnLst/>
              <a:rect r="r" b="b" t="t" l="l"/>
              <a:pathLst>
                <a:path h="2975229" w="10066274">
                  <a:moveTo>
                    <a:pt x="0" y="0"/>
                  </a:moveTo>
                  <a:lnTo>
                    <a:pt x="10066274" y="0"/>
                  </a:lnTo>
                  <a:lnTo>
                    <a:pt x="10066274" y="2975229"/>
                  </a:lnTo>
                  <a:lnTo>
                    <a:pt x="0" y="2975229"/>
                  </a:lnTo>
                  <a:lnTo>
                    <a:pt x="0" y="0"/>
                  </a:lnTo>
                  <a:close/>
                </a:path>
              </a:pathLst>
            </a:custGeom>
            <a:blipFill>
              <a:blip r:embed="rId4"/>
              <a:stretch>
                <a:fillRect l="0" t="0" r="0" b="0"/>
              </a:stretch>
            </a:blipFill>
          </p:spPr>
        </p:sp>
      </p:grpSp>
      <p:grpSp>
        <p:nvGrpSpPr>
          <p:cNvPr name="Group 15" id="15"/>
          <p:cNvGrpSpPr/>
          <p:nvPr/>
        </p:nvGrpSpPr>
        <p:grpSpPr>
          <a:xfrm rot="0">
            <a:off x="9396136" y="2395499"/>
            <a:ext cx="7151246" cy="4886335"/>
            <a:chOff x="0" y="0"/>
            <a:chExt cx="9534995" cy="6515113"/>
          </a:xfrm>
        </p:grpSpPr>
        <p:sp>
          <p:nvSpPr>
            <p:cNvPr name="Freeform 16" id="16"/>
            <p:cNvSpPr/>
            <p:nvPr/>
          </p:nvSpPr>
          <p:spPr>
            <a:xfrm flipH="false" flipV="false" rot="0">
              <a:off x="0" y="0"/>
              <a:ext cx="9535033" cy="6515100"/>
            </a:xfrm>
            <a:custGeom>
              <a:avLst/>
              <a:gdLst/>
              <a:ahLst/>
              <a:cxnLst/>
              <a:rect r="r" b="b" t="t" l="l"/>
              <a:pathLst>
                <a:path h="6515100" w="9535033">
                  <a:moveTo>
                    <a:pt x="0" y="110109"/>
                  </a:moveTo>
                  <a:cubicBezTo>
                    <a:pt x="0" y="49276"/>
                    <a:pt x="49276" y="0"/>
                    <a:pt x="110109" y="0"/>
                  </a:cubicBezTo>
                  <a:lnTo>
                    <a:pt x="9424924" y="0"/>
                  </a:lnTo>
                  <a:cubicBezTo>
                    <a:pt x="9485757" y="0"/>
                    <a:pt x="9535033" y="49276"/>
                    <a:pt x="9535033" y="110109"/>
                  </a:cubicBezTo>
                  <a:lnTo>
                    <a:pt x="9535033" y="6404991"/>
                  </a:lnTo>
                  <a:cubicBezTo>
                    <a:pt x="9535033" y="6465824"/>
                    <a:pt x="9485757" y="6515100"/>
                    <a:pt x="9424924" y="6515100"/>
                  </a:cubicBezTo>
                  <a:lnTo>
                    <a:pt x="110109" y="6515100"/>
                  </a:lnTo>
                  <a:cubicBezTo>
                    <a:pt x="49276" y="6515100"/>
                    <a:pt x="0" y="6465824"/>
                    <a:pt x="0" y="6404991"/>
                  </a:cubicBezTo>
                  <a:close/>
                </a:path>
              </a:pathLst>
            </a:custGeom>
            <a:solidFill>
              <a:srgbClr val="FFFFFF"/>
            </a:solidFill>
            <a:ln w="13345" cap="sq">
              <a:solidFill>
                <a:srgbClr val="D6D0C8"/>
              </a:solidFill>
              <a:prstDash val="solid"/>
              <a:miter/>
            </a:ln>
          </p:spPr>
        </p:sp>
      </p:grpSp>
      <p:sp>
        <p:nvSpPr>
          <p:cNvPr name="TextBox 17" id="17"/>
          <p:cNvSpPr txBox="true"/>
          <p:nvPr/>
        </p:nvSpPr>
        <p:spPr>
          <a:xfrm rot="0">
            <a:off x="9814608" y="2813980"/>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STORED RECORDS</a:t>
            </a:r>
          </a:p>
        </p:txBody>
      </p:sp>
      <p:sp>
        <p:nvSpPr>
          <p:cNvPr name="TextBox 18" id="18"/>
          <p:cNvSpPr txBox="true"/>
          <p:nvPr/>
        </p:nvSpPr>
        <p:spPr>
          <a:xfrm rot="0">
            <a:off x="9856041" y="3481521"/>
            <a:ext cx="5970613" cy="1424559"/>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Predictions: input text, model output, risk score, explanation, created time.</a:t>
            </a:r>
          </a:p>
          <a:p>
            <a:pPr algn="l">
              <a:lnSpc>
                <a:spcPts val="2208"/>
              </a:lnSpc>
            </a:pPr>
            <a:r>
              <a:rPr lang="en-US" sz="2000">
                <a:solidFill>
                  <a:srgbClr val="1E293B"/>
                </a:solidFill>
                <a:latin typeface="Calibri (MS)"/>
                <a:ea typeface="Calibri (MS)"/>
                <a:cs typeface="Calibri (MS)"/>
                <a:sym typeface="Calibri (MS)"/>
              </a:rPr>
              <a:t>Feedback: user judgment, optional note, linked prediction id.</a:t>
            </a:r>
          </a:p>
          <a:p>
            <a:pPr algn="l">
              <a:lnSpc>
                <a:spcPts val="2208"/>
              </a:lnSpc>
            </a:pPr>
            <a:r>
              <a:rPr lang="en-US" sz="2000">
                <a:solidFill>
                  <a:srgbClr val="1E293B"/>
                </a:solidFill>
                <a:latin typeface="Calibri (MS)"/>
                <a:ea typeface="Calibri (MS)"/>
                <a:cs typeface="Calibri (MS)"/>
                <a:sym typeface="Calibri (MS)"/>
              </a:rPr>
              <a:t>History: reviewer inspection and future retraining data.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8"/>
            <a:ext cx="823608" cy="170504"/>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15</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Limitations and future work</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Limitations are stated honestly to make the defense stronger.</a:t>
            </a:r>
          </a:p>
        </p:txBody>
      </p:sp>
      <p:grpSp>
        <p:nvGrpSpPr>
          <p:cNvPr name="Group 10" id="10"/>
          <p:cNvGrpSpPr/>
          <p:nvPr/>
        </p:nvGrpSpPr>
        <p:grpSpPr>
          <a:xfrm rot="0">
            <a:off x="1256186" y="2491588"/>
            <a:ext cx="7631678" cy="5229501"/>
            <a:chOff x="0" y="0"/>
            <a:chExt cx="10175570" cy="6972668"/>
          </a:xfrm>
        </p:grpSpPr>
        <p:sp>
          <p:nvSpPr>
            <p:cNvPr name="Freeform 11" id="11"/>
            <p:cNvSpPr/>
            <p:nvPr/>
          </p:nvSpPr>
          <p:spPr>
            <a:xfrm flipH="false" flipV="false" rot="0">
              <a:off x="0" y="0"/>
              <a:ext cx="10175621" cy="6972681"/>
            </a:xfrm>
            <a:custGeom>
              <a:avLst/>
              <a:gdLst/>
              <a:ahLst/>
              <a:cxnLst/>
              <a:rect r="r" b="b" t="t" l="l"/>
              <a:pathLst>
                <a:path h="6972681" w="10175621">
                  <a:moveTo>
                    <a:pt x="0" y="110109"/>
                  </a:moveTo>
                  <a:cubicBezTo>
                    <a:pt x="0" y="49276"/>
                    <a:pt x="49276" y="0"/>
                    <a:pt x="110109" y="0"/>
                  </a:cubicBezTo>
                  <a:lnTo>
                    <a:pt x="10065512" y="0"/>
                  </a:lnTo>
                  <a:cubicBezTo>
                    <a:pt x="10126345" y="0"/>
                    <a:pt x="10175621" y="49276"/>
                    <a:pt x="10175621" y="110109"/>
                  </a:cubicBezTo>
                  <a:lnTo>
                    <a:pt x="10175621" y="6862572"/>
                  </a:lnTo>
                  <a:cubicBezTo>
                    <a:pt x="10175621" y="6923405"/>
                    <a:pt x="10126345" y="6972681"/>
                    <a:pt x="10065512" y="6972681"/>
                  </a:cubicBezTo>
                  <a:lnTo>
                    <a:pt x="110109" y="6972681"/>
                  </a:lnTo>
                  <a:cubicBezTo>
                    <a:pt x="49276" y="6972681"/>
                    <a:pt x="0" y="6923405"/>
                    <a:pt x="0" y="6862572"/>
                  </a:cubicBezTo>
                  <a:close/>
                </a:path>
              </a:pathLst>
            </a:custGeom>
            <a:solidFill>
              <a:srgbClr val="FCFBF8"/>
            </a:solidFill>
            <a:ln w="13345" cap="sq">
              <a:solidFill>
                <a:srgbClr val="D6D0C8"/>
              </a:solidFill>
              <a:prstDash val="solid"/>
              <a:miter/>
            </a:ln>
          </p:spPr>
        </p:sp>
      </p:grpSp>
      <p:sp>
        <p:nvSpPr>
          <p:cNvPr name="TextBox 12" id="12"/>
          <p:cNvSpPr txBox="true"/>
          <p:nvPr/>
        </p:nvSpPr>
        <p:spPr>
          <a:xfrm rot="0">
            <a:off x="1674657" y="2910068"/>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CURRENT LIMITATIONS</a:t>
            </a:r>
          </a:p>
        </p:txBody>
      </p:sp>
      <p:sp>
        <p:nvSpPr>
          <p:cNvPr name="TextBox 13" id="13"/>
          <p:cNvSpPr txBox="true"/>
          <p:nvPr/>
        </p:nvSpPr>
        <p:spPr>
          <a:xfrm rot="0">
            <a:off x="1716091" y="3481521"/>
            <a:ext cx="6039250" cy="1424559"/>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Dataset size is still limited.</a:t>
            </a:r>
          </a:p>
          <a:p>
            <a:pPr algn="l">
              <a:lnSpc>
                <a:spcPts val="2208"/>
              </a:lnSpc>
            </a:pPr>
            <a:r>
              <a:rPr lang="en-US" sz="2000">
                <a:solidFill>
                  <a:srgbClr val="1E293B"/>
                </a:solidFill>
                <a:latin typeface="Calibri (MS)"/>
                <a:ea typeface="Calibri (MS)"/>
                <a:cs typeface="Calibri (MS)"/>
                <a:sym typeface="Calibri (MS)"/>
              </a:rPr>
              <a:t>The tool screens linguistic reliability signals, not absolute truth.</a:t>
            </a:r>
          </a:p>
          <a:p>
            <a:pPr algn="l">
              <a:lnSpc>
                <a:spcPts val="2208"/>
              </a:lnSpc>
            </a:pPr>
            <a:r>
              <a:rPr lang="en-US" sz="2000">
                <a:solidFill>
                  <a:srgbClr val="1E293B"/>
                </a:solidFill>
                <a:latin typeface="Calibri (MS)"/>
                <a:ea typeface="Calibri (MS)"/>
                <a:cs typeface="Calibri (MS)"/>
                <a:sym typeface="Calibri (MS)"/>
              </a:rPr>
              <a:t>No claim-level evidence retrieval yet.</a:t>
            </a:r>
          </a:p>
          <a:p>
            <a:pPr algn="l">
              <a:lnSpc>
                <a:spcPts val="2208"/>
              </a:lnSpc>
            </a:pPr>
            <a:r>
              <a:rPr lang="en-US" sz="2000">
                <a:solidFill>
                  <a:srgbClr val="1E293B"/>
                </a:solidFill>
                <a:latin typeface="Calibri (MS)"/>
                <a:ea typeface="Calibri (MS)"/>
                <a:cs typeface="Calibri (MS)"/>
                <a:sym typeface="Calibri (MS)"/>
              </a:rPr>
              <a:t>Source credibility is not fully modeled.</a:t>
            </a:r>
          </a:p>
        </p:txBody>
      </p:sp>
      <p:grpSp>
        <p:nvGrpSpPr>
          <p:cNvPr name="Group 14" id="14"/>
          <p:cNvGrpSpPr/>
          <p:nvPr/>
        </p:nvGrpSpPr>
        <p:grpSpPr>
          <a:xfrm rot="0">
            <a:off x="9396136" y="2491588"/>
            <a:ext cx="7631678" cy="5229501"/>
            <a:chOff x="0" y="0"/>
            <a:chExt cx="10175570" cy="6972668"/>
          </a:xfrm>
        </p:grpSpPr>
        <p:sp>
          <p:nvSpPr>
            <p:cNvPr name="Freeform 15" id="15"/>
            <p:cNvSpPr/>
            <p:nvPr/>
          </p:nvSpPr>
          <p:spPr>
            <a:xfrm flipH="false" flipV="false" rot="0">
              <a:off x="0" y="0"/>
              <a:ext cx="10175621" cy="6972681"/>
            </a:xfrm>
            <a:custGeom>
              <a:avLst/>
              <a:gdLst/>
              <a:ahLst/>
              <a:cxnLst/>
              <a:rect r="r" b="b" t="t" l="l"/>
              <a:pathLst>
                <a:path h="6972681" w="10175621">
                  <a:moveTo>
                    <a:pt x="0" y="110109"/>
                  </a:moveTo>
                  <a:cubicBezTo>
                    <a:pt x="0" y="49276"/>
                    <a:pt x="49276" y="0"/>
                    <a:pt x="110109" y="0"/>
                  </a:cubicBezTo>
                  <a:lnTo>
                    <a:pt x="10065512" y="0"/>
                  </a:lnTo>
                  <a:cubicBezTo>
                    <a:pt x="10126345" y="0"/>
                    <a:pt x="10175621" y="49276"/>
                    <a:pt x="10175621" y="110109"/>
                  </a:cubicBezTo>
                  <a:lnTo>
                    <a:pt x="10175621" y="6862572"/>
                  </a:lnTo>
                  <a:cubicBezTo>
                    <a:pt x="10175621" y="6923405"/>
                    <a:pt x="10126345" y="6972681"/>
                    <a:pt x="10065512" y="6972681"/>
                  </a:cubicBezTo>
                  <a:lnTo>
                    <a:pt x="110109" y="6972681"/>
                  </a:lnTo>
                  <a:cubicBezTo>
                    <a:pt x="49276" y="6972681"/>
                    <a:pt x="0" y="6923405"/>
                    <a:pt x="0" y="6862572"/>
                  </a:cubicBezTo>
                  <a:close/>
                </a:path>
              </a:pathLst>
            </a:custGeom>
            <a:solidFill>
              <a:srgbClr val="FCFBF8"/>
            </a:solidFill>
            <a:ln w="13345" cap="sq">
              <a:solidFill>
                <a:srgbClr val="D6D0C8"/>
              </a:solidFill>
              <a:prstDash val="solid"/>
              <a:miter/>
            </a:ln>
          </p:spPr>
        </p:sp>
      </p:grpSp>
      <p:sp>
        <p:nvSpPr>
          <p:cNvPr name="TextBox 16" id="16"/>
          <p:cNvSpPr txBox="true"/>
          <p:nvPr/>
        </p:nvSpPr>
        <p:spPr>
          <a:xfrm rot="0">
            <a:off x="9814608" y="2910068"/>
            <a:ext cx="3568951" cy="247079"/>
          </a:xfrm>
          <a:prstGeom prst="rect">
            <a:avLst/>
          </a:prstGeom>
        </p:spPr>
        <p:txBody>
          <a:bodyPr anchor="t" rtlCol="false" tIns="0" lIns="0" bIns="0" rIns="0">
            <a:spAutoFit/>
          </a:bodyPr>
          <a:lstStyle/>
          <a:p>
            <a:pPr algn="l">
              <a:lnSpc>
                <a:spcPts val="1163"/>
              </a:lnSpc>
            </a:pPr>
            <a:r>
              <a:rPr lang="en-US" sz="1020" b="true">
                <a:solidFill>
                  <a:srgbClr val="B45309"/>
                </a:solidFill>
                <a:latin typeface="Montserrat Bold"/>
                <a:ea typeface="Montserrat Bold"/>
                <a:cs typeface="Montserrat Bold"/>
                <a:sym typeface="Montserrat Bold"/>
              </a:rPr>
              <a:t>FUTURE WORK</a:t>
            </a:r>
          </a:p>
        </p:txBody>
      </p:sp>
      <p:sp>
        <p:nvSpPr>
          <p:cNvPr name="TextBox 17" id="17"/>
          <p:cNvSpPr txBox="true"/>
          <p:nvPr/>
        </p:nvSpPr>
        <p:spPr>
          <a:xfrm rot="0">
            <a:off x="9856041" y="3481521"/>
            <a:ext cx="6039250" cy="1148334"/>
          </a:xfrm>
          <a:prstGeom prst="rect">
            <a:avLst/>
          </a:prstGeom>
        </p:spPr>
        <p:txBody>
          <a:bodyPr anchor="t" rtlCol="false" tIns="0" lIns="0" bIns="0" rIns="0">
            <a:spAutoFit/>
          </a:bodyPr>
          <a:lstStyle/>
          <a:p>
            <a:pPr algn="l">
              <a:lnSpc>
                <a:spcPts val="2208"/>
              </a:lnSpc>
            </a:pPr>
            <a:r>
              <a:rPr lang="en-US" sz="2000">
                <a:solidFill>
                  <a:srgbClr val="1E293B"/>
                </a:solidFill>
                <a:latin typeface="Calibri (MS)"/>
                <a:ea typeface="Calibri (MS)"/>
                <a:cs typeface="Calibri (MS)"/>
                <a:sym typeface="Calibri (MS)"/>
              </a:rPr>
              <a:t>Expand and continuously update Vietnamese datasets.</a:t>
            </a:r>
          </a:p>
          <a:p>
            <a:pPr algn="l">
              <a:lnSpc>
                <a:spcPts val="2208"/>
              </a:lnSpc>
            </a:pPr>
            <a:r>
              <a:rPr lang="en-US" sz="2000">
                <a:solidFill>
                  <a:srgbClr val="1E293B"/>
                </a:solidFill>
                <a:latin typeface="Calibri (MS)"/>
                <a:ea typeface="Calibri (MS)"/>
                <a:cs typeface="Calibri (MS)"/>
                <a:sym typeface="Calibri (MS)"/>
              </a:rPr>
              <a:t>Fine-tune PhoBERT or other Vietnamese language models.</a:t>
            </a:r>
          </a:p>
          <a:p>
            <a:pPr algn="l">
              <a:lnSpc>
                <a:spcPts val="2208"/>
              </a:lnSpc>
            </a:pPr>
            <a:r>
              <a:rPr lang="en-US" sz="2000">
                <a:solidFill>
                  <a:srgbClr val="1E293B"/>
                </a:solidFill>
                <a:latin typeface="Calibri (MS)"/>
                <a:ea typeface="Calibri (MS)"/>
                <a:cs typeface="Calibri (MS)"/>
                <a:sym typeface="Calibri (MS)"/>
              </a:rPr>
              <a:t>Add source credibility and claim evidence retrieval.</a:t>
            </a:r>
          </a:p>
          <a:p>
            <a:pPr algn="l">
              <a:lnSpc>
                <a:spcPts val="2208"/>
              </a:lnSpc>
            </a:pPr>
            <a:r>
              <a:rPr lang="en-US" sz="2000">
                <a:solidFill>
                  <a:srgbClr val="1E293B"/>
                </a:solidFill>
                <a:latin typeface="Calibri (MS)"/>
                <a:ea typeface="Calibri (MS)"/>
                <a:cs typeface="Calibri (MS)"/>
                <a:sym typeface="Calibri (MS)"/>
              </a:rPr>
              <a:t>Use feedback data for monitored retraining.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7F4EF"/>
        </a:solidFill>
      </p:bgPr>
    </p:bg>
    <p:spTree>
      <p:nvGrpSpPr>
        <p:cNvPr id="1" name=""/>
        <p:cNvGrpSpPr/>
        <p:nvPr/>
      </p:nvGrpSpPr>
      <p:grpSpPr>
        <a:xfrm>
          <a:off x="0" y="0"/>
          <a:ext cx="0" cy="0"/>
          <a:chOff x="0" y="0"/>
          <a:chExt cx="0" cy="0"/>
        </a:xfrm>
      </p:grpSpPr>
      <p:grpSp>
        <p:nvGrpSpPr>
          <p:cNvPr name="Group 2" id="2"/>
          <p:cNvGrpSpPr/>
          <p:nvPr/>
        </p:nvGrpSpPr>
        <p:grpSpPr>
          <a:xfrm rot="0">
            <a:off x="-9535" y="-9535"/>
            <a:ext cx="18320909" cy="10314108"/>
            <a:chOff x="0" y="0"/>
            <a:chExt cx="24427878" cy="13752144"/>
          </a:xfrm>
        </p:grpSpPr>
        <p:sp>
          <p:nvSpPr>
            <p:cNvPr name="Freeform 3" id="3"/>
            <p:cNvSpPr/>
            <p:nvPr/>
          </p:nvSpPr>
          <p:spPr>
            <a:xfrm flipH="false" flipV="false" rot="0">
              <a:off x="0" y="0"/>
              <a:ext cx="24427814" cy="13752195"/>
            </a:xfrm>
            <a:custGeom>
              <a:avLst/>
              <a:gdLst/>
              <a:ahLst/>
              <a:cxnLst/>
              <a:rect r="r" b="b" t="t" l="l"/>
              <a:pathLst>
                <a:path h="13752195" w="24427814">
                  <a:moveTo>
                    <a:pt x="0" y="0"/>
                  </a:moveTo>
                  <a:lnTo>
                    <a:pt x="24427814" y="0"/>
                  </a:lnTo>
                  <a:lnTo>
                    <a:pt x="24427814" y="13752195"/>
                  </a:lnTo>
                  <a:lnTo>
                    <a:pt x="0" y="13752195"/>
                  </a:lnTo>
                  <a:close/>
                </a:path>
              </a:pathLst>
            </a:custGeom>
            <a:solidFill>
              <a:srgbClr val="F7F4EF"/>
            </a:solidFill>
          </p:spPr>
        </p:sp>
      </p:grpSp>
      <p:grpSp>
        <p:nvGrpSpPr>
          <p:cNvPr name="Group 4" id="4"/>
          <p:cNvGrpSpPr/>
          <p:nvPr/>
        </p:nvGrpSpPr>
        <p:grpSpPr>
          <a:xfrm rot="0">
            <a:off x="817883" y="584530"/>
            <a:ext cx="16620773" cy="11440"/>
            <a:chOff x="0" y="0"/>
            <a:chExt cx="22161030" cy="15253"/>
          </a:xfrm>
        </p:grpSpPr>
        <p:sp>
          <p:nvSpPr>
            <p:cNvPr name="Freeform 5" id="5"/>
            <p:cNvSpPr/>
            <p:nvPr/>
          </p:nvSpPr>
          <p:spPr>
            <a:xfrm flipH="false" flipV="false" rot="0">
              <a:off x="0" y="0"/>
              <a:ext cx="22160992" cy="15240"/>
            </a:xfrm>
            <a:custGeom>
              <a:avLst/>
              <a:gdLst/>
              <a:ahLst/>
              <a:cxnLst/>
              <a:rect r="r" b="b" t="t" l="l"/>
              <a:pathLst>
                <a:path h="15240" w="22160992">
                  <a:moveTo>
                    <a:pt x="0" y="0"/>
                  </a:moveTo>
                  <a:lnTo>
                    <a:pt x="22160992" y="15240"/>
                  </a:lnTo>
                </a:path>
              </a:pathLst>
            </a:custGeom>
            <a:blipFill>
              <a:blip r:embed="rId3">
                <a:alphaModFix amt="0"/>
              </a:blip>
              <a:stretch>
                <a:fillRect l="0" t="-28283849" r="0" b="-28283932"/>
              </a:stretch>
            </a:blipFill>
            <a:ln w="11439" cap="sq">
              <a:solidFill>
                <a:srgbClr val="D6D0C8"/>
              </a:solidFill>
              <a:prstDash val="solid"/>
              <a:miter/>
            </a:ln>
          </p:spPr>
        </p:sp>
      </p:grpSp>
      <p:sp>
        <p:nvSpPr>
          <p:cNvPr name="TextBox 6" id="6"/>
          <p:cNvSpPr txBox="true"/>
          <p:nvPr/>
        </p:nvSpPr>
        <p:spPr>
          <a:xfrm rot="0">
            <a:off x="823608" y="301990"/>
            <a:ext cx="4804353" cy="247079"/>
          </a:xfrm>
          <a:prstGeom prst="rect">
            <a:avLst/>
          </a:prstGeom>
        </p:spPr>
        <p:txBody>
          <a:bodyPr anchor="t" rtlCol="false" tIns="0" lIns="0" bIns="0" rIns="0">
            <a:spAutoFit/>
          </a:bodyPr>
          <a:lstStyle/>
          <a:p>
            <a:pPr algn="l">
              <a:lnSpc>
                <a:spcPts val="1163"/>
              </a:lnSpc>
            </a:pPr>
            <a:r>
              <a:rPr lang="en-US" sz="1020" b="true">
                <a:solidFill>
                  <a:srgbClr val="64748B"/>
                </a:solidFill>
                <a:latin typeface="Montserrat Bold"/>
                <a:ea typeface="Montserrat Bold"/>
                <a:cs typeface="Montserrat Bold"/>
                <a:sym typeface="Montserrat Bold"/>
              </a:rPr>
              <a:t>MAJOR PROJECT 1</a:t>
            </a:r>
          </a:p>
        </p:txBody>
      </p:sp>
      <p:sp>
        <p:nvSpPr>
          <p:cNvPr name="TextBox 7" id="7"/>
          <p:cNvSpPr txBox="true"/>
          <p:nvPr/>
        </p:nvSpPr>
        <p:spPr>
          <a:xfrm rot="0">
            <a:off x="16609333" y="247078"/>
            <a:ext cx="823608" cy="170504"/>
          </a:xfrm>
          <a:prstGeom prst="rect">
            <a:avLst/>
          </a:prstGeom>
        </p:spPr>
        <p:txBody>
          <a:bodyPr anchor="t" rtlCol="false" tIns="0" lIns="0" bIns="0" rIns="0">
            <a:spAutoFit/>
          </a:bodyPr>
          <a:lstStyle/>
          <a:p>
            <a:pPr algn="r">
              <a:lnSpc>
                <a:spcPts val="1283"/>
              </a:lnSpc>
            </a:pPr>
            <a:r>
              <a:rPr lang="en-US" sz="1125" b="true">
                <a:solidFill>
                  <a:srgbClr val="64748B"/>
                </a:solidFill>
                <a:latin typeface="Montserrat Bold"/>
                <a:ea typeface="Montserrat Bold"/>
                <a:cs typeface="Montserrat Bold"/>
                <a:sym typeface="Montserrat Bold"/>
              </a:rPr>
              <a:t>16</a:t>
            </a:r>
          </a:p>
        </p:txBody>
      </p:sp>
      <p:sp>
        <p:nvSpPr>
          <p:cNvPr name="TextBox 8" id="8"/>
          <p:cNvSpPr txBox="true"/>
          <p:nvPr/>
        </p:nvSpPr>
        <p:spPr>
          <a:xfrm rot="0">
            <a:off x="988324" y="1028671"/>
            <a:ext cx="10706843" cy="1002887"/>
          </a:xfrm>
          <a:prstGeom prst="rect">
            <a:avLst/>
          </a:prstGeom>
        </p:spPr>
        <p:txBody>
          <a:bodyPr anchor="t" rtlCol="false" tIns="0" lIns="0" bIns="0" rIns="0">
            <a:spAutoFit/>
          </a:bodyPr>
          <a:lstStyle/>
          <a:p>
            <a:pPr algn="l">
              <a:lnSpc>
                <a:spcPts val="3988"/>
              </a:lnSpc>
            </a:pPr>
            <a:r>
              <a:rPr lang="en-US" sz="4053" b="true">
                <a:solidFill>
                  <a:srgbClr val="1E293B"/>
                </a:solidFill>
                <a:latin typeface="Montserrat Bold"/>
                <a:ea typeface="Montserrat Bold"/>
                <a:cs typeface="Montserrat Bold"/>
                <a:sym typeface="Montserrat Bold"/>
              </a:rPr>
              <a:t>Conclusion</a:t>
            </a:r>
          </a:p>
        </p:txBody>
      </p:sp>
      <p:sp>
        <p:nvSpPr>
          <p:cNvPr name="TextBox 9" id="9"/>
          <p:cNvSpPr txBox="true"/>
          <p:nvPr/>
        </p:nvSpPr>
        <p:spPr>
          <a:xfrm rot="0">
            <a:off x="1043235" y="1948072"/>
            <a:ext cx="11530451" cy="259661"/>
          </a:xfrm>
          <a:prstGeom prst="rect">
            <a:avLst/>
          </a:prstGeom>
        </p:spPr>
        <p:txBody>
          <a:bodyPr anchor="t" rtlCol="false" tIns="0" lIns="0" bIns="0" rIns="0">
            <a:spAutoFit/>
          </a:bodyPr>
          <a:lstStyle/>
          <a:p>
            <a:pPr algn="l">
              <a:lnSpc>
                <a:spcPts val="1796"/>
              </a:lnSpc>
            </a:pPr>
            <a:r>
              <a:rPr lang="en-US" sz="1576">
                <a:solidFill>
                  <a:srgbClr val="64748B"/>
                </a:solidFill>
                <a:latin typeface="Calibri (MS)"/>
                <a:ea typeface="Calibri (MS)"/>
                <a:cs typeface="Calibri (MS)"/>
                <a:sym typeface="Calibri (MS)"/>
              </a:rPr>
              <a:t>A reproducible, explainable, and extensible Vietnamese NLP/ML system.</a:t>
            </a:r>
          </a:p>
        </p:txBody>
      </p:sp>
      <p:grpSp>
        <p:nvGrpSpPr>
          <p:cNvPr name="Group 10" id="10"/>
          <p:cNvGrpSpPr/>
          <p:nvPr/>
        </p:nvGrpSpPr>
        <p:grpSpPr>
          <a:xfrm rot="0">
            <a:off x="1365999" y="2807303"/>
            <a:ext cx="6945344" cy="1413472"/>
            <a:chOff x="0" y="0"/>
            <a:chExt cx="9260459" cy="1884629"/>
          </a:xfrm>
        </p:grpSpPr>
        <p:sp>
          <p:nvSpPr>
            <p:cNvPr name="Freeform 11" id="11"/>
            <p:cNvSpPr/>
            <p:nvPr/>
          </p:nvSpPr>
          <p:spPr>
            <a:xfrm flipH="false" flipV="false" rot="0">
              <a:off x="0" y="0"/>
              <a:ext cx="9260459" cy="1884680"/>
            </a:xfrm>
            <a:custGeom>
              <a:avLst/>
              <a:gdLst/>
              <a:ahLst/>
              <a:cxnLst/>
              <a:rect r="r" b="b" t="t" l="l"/>
              <a:pathLst>
                <a:path h="1884680" w="9260459">
                  <a:moveTo>
                    <a:pt x="0" y="110871"/>
                  </a:moveTo>
                  <a:cubicBezTo>
                    <a:pt x="0" y="49657"/>
                    <a:pt x="49657" y="0"/>
                    <a:pt x="110871" y="0"/>
                  </a:cubicBezTo>
                  <a:lnTo>
                    <a:pt x="9149588" y="0"/>
                  </a:lnTo>
                  <a:cubicBezTo>
                    <a:pt x="9210802" y="0"/>
                    <a:pt x="9260459" y="49657"/>
                    <a:pt x="9260459" y="110871"/>
                  </a:cubicBezTo>
                  <a:lnTo>
                    <a:pt x="9260459" y="1773809"/>
                  </a:lnTo>
                  <a:cubicBezTo>
                    <a:pt x="9260459" y="1835023"/>
                    <a:pt x="9210802" y="1884680"/>
                    <a:pt x="9149588" y="1884680"/>
                  </a:cubicBezTo>
                  <a:lnTo>
                    <a:pt x="110871" y="1884680"/>
                  </a:lnTo>
                  <a:cubicBezTo>
                    <a:pt x="49657" y="1884680"/>
                    <a:pt x="0" y="1835023"/>
                    <a:pt x="0" y="1773809"/>
                  </a:cubicBezTo>
                  <a:close/>
                </a:path>
              </a:pathLst>
            </a:custGeom>
            <a:solidFill>
              <a:srgbClr val="FFFFFF"/>
            </a:solidFill>
            <a:ln w="13345" cap="sq">
              <a:solidFill>
                <a:srgbClr val="D6D0C8"/>
              </a:solidFill>
              <a:prstDash val="solid"/>
              <a:miter/>
            </a:ln>
          </p:spPr>
        </p:sp>
      </p:grpSp>
      <p:sp>
        <p:nvSpPr>
          <p:cNvPr name="TextBox 12" id="12"/>
          <p:cNvSpPr txBox="true"/>
          <p:nvPr/>
        </p:nvSpPr>
        <p:spPr>
          <a:xfrm rot="0">
            <a:off x="1715843" y="3135020"/>
            <a:ext cx="2470814"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Working app</a:t>
            </a:r>
          </a:p>
        </p:txBody>
      </p:sp>
      <p:sp>
        <p:nvSpPr>
          <p:cNvPr name="TextBox 13" id="13"/>
          <p:cNvSpPr txBox="true"/>
          <p:nvPr/>
        </p:nvSpPr>
        <p:spPr>
          <a:xfrm rot="0">
            <a:off x="4118019" y="3133896"/>
            <a:ext cx="3637578" cy="840105"/>
          </a:xfrm>
          <a:prstGeom prst="rect">
            <a:avLst/>
          </a:prstGeom>
        </p:spPr>
        <p:txBody>
          <a:bodyPr anchor="t" rtlCol="false" tIns="0" lIns="0" bIns="0" rIns="0">
            <a:spAutoFit/>
          </a:bodyPr>
          <a:lstStyle/>
          <a:p>
            <a:pPr algn="l">
              <a:lnSpc>
                <a:spcPts val="2160"/>
              </a:lnSpc>
            </a:pPr>
            <a:r>
              <a:rPr lang="en-US" sz="2000">
                <a:solidFill>
                  <a:srgbClr val="64748B"/>
                </a:solidFill>
                <a:latin typeface="Calibri (MS)"/>
                <a:ea typeface="Calibri (MS)"/>
                <a:cs typeface="Calibri (MS)"/>
                <a:sym typeface="Calibri (MS)"/>
              </a:rPr>
              <a:t>Streamlit web application for Vietnamese news reliability screening.</a:t>
            </a:r>
          </a:p>
        </p:txBody>
      </p:sp>
      <p:grpSp>
        <p:nvGrpSpPr>
          <p:cNvPr name="Group 14" id="14"/>
          <p:cNvGrpSpPr/>
          <p:nvPr/>
        </p:nvGrpSpPr>
        <p:grpSpPr>
          <a:xfrm rot="0">
            <a:off x="9258862" y="2807303"/>
            <a:ext cx="6945344" cy="1413472"/>
            <a:chOff x="0" y="0"/>
            <a:chExt cx="9260459" cy="1884629"/>
          </a:xfrm>
        </p:grpSpPr>
        <p:sp>
          <p:nvSpPr>
            <p:cNvPr name="Freeform 15" id="15"/>
            <p:cNvSpPr/>
            <p:nvPr/>
          </p:nvSpPr>
          <p:spPr>
            <a:xfrm flipH="false" flipV="false" rot="0">
              <a:off x="0" y="0"/>
              <a:ext cx="9260459" cy="1884680"/>
            </a:xfrm>
            <a:custGeom>
              <a:avLst/>
              <a:gdLst/>
              <a:ahLst/>
              <a:cxnLst/>
              <a:rect r="r" b="b" t="t" l="l"/>
              <a:pathLst>
                <a:path h="1884680" w="9260459">
                  <a:moveTo>
                    <a:pt x="0" y="110871"/>
                  </a:moveTo>
                  <a:cubicBezTo>
                    <a:pt x="0" y="49657"/>
                    <a:pt x="49657" y="0"/>
                    <a:pt x="110871" y="0"/>
                  </a:cubicBezTo>
                  <a:lnTo>
                    <a:pt x="9149588" y="0"/>
                  </a:lnTo>
                  <a:cubicBezTo>
                    <a:pt x="9210802" y="0"/>
                    <a:pt x="9260459" y="49657"/>
                    <a:pt x="9260459" y="110871"/>
                  </a:cubicBezTo>
                  <a:lnTo>
                    <a:pt x="9260459" y="1773809"/>
                  </a:lnTo>
                  <a:cubicBezTo>
                    <a:pt x="9260459" y="1835023"/>
                    <a:pt x="9210802" y="1884680"/>
                    <a:pt x="9149588" y="1884680"/>
                  </a:cubicBezTo>
                  <a:lnTo>
                    <a:pt x="110871" y="1884680"/>
                  </a:lnTo>
                  <a:cubicBezTo>
                    <a:pt x="49657" y="1884680"/>
                    <a:pt x="0" y="1835023"/>
                    <a:pt x="0" y="1773809"/>
                  </a:cubicBezTo>
                  <a:close/>
                </a:path>
              </a:pathLst>
            </a:custGeom>
            <a:solidFill>
              <a:srgbClr val="FFFFFF"/>
            </a:solidFill>
            <a:ln w="13345" cap="sq">
              <a:solidFill>
                <a:srgbClr val="D6D0C8"/>
              </a:solidFill>
              <a:prstDash val="solid"/>
              <a:miter/>
            </a:ln>
          </p:spPr>
        </p:sp>
      </p:grpSp>
      <p:sp>
        <p:nvSpPr>
          <p:cNvPr name="TextBox 16" id="16"/>
          <p:cNvSpPr txBox="true"/>
          <p:nvPr/>
        </p:nvSpPr>
        <p:spPr>
          <a:xfrm rot="0">
            <a:off x="9608706" y="3135020"/>
            <a:ext cx="2470814"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ML pipeline</a:t>
            </a:r>
          </a:p>
        </p:txBody>
      </p:sp>
      <p:sp>
        <p:nvSpPr>
          <p:cNvPr name="TextBox 17" id="17"/>
          <p:cNvSpPr txBox="true"/>
          <p:nvPr/>
        </p:nvSpPr>
        <p:spPr>
          <a:xfrm rot="0">
            <a:off x="12010882" y="3133896"/>
            <a:ext cx="3637578" cy="840105"/>
          </a:xfrm>
          <a:prstGeom prst="rect">
            <a:avLst/>
          </a:prstGeom>
        </p:spPr>
        <p:txBody>
          <a:bodyPr anchor="t" rtlCol="false" tIns="0" lIns="0" bIns="0" rIns="0">
            <a:spAutoFit/>
          </a:bodyPr>
          <a:lstStyle/>
          <a:p>
            <a:pPr algn="l">
              <a:lnSpc>
                <a:spcPts val="2160"/>
              </a:lnSpc>
            </a:pPr>
            <a:r>
              <a:rPr lang="en-US" sz="2000">
                <a:solidFill>
                  <a:srgbClr val="64748B"/>
                </a:solidFill>
                <a:latin typeface="Calibri (MS)"/>
                <a:ea typeface="Calibri (MS)"/>
                <a:cs typeface="Calibri (MS)"/>
                <a:sym typeface="Calibri (MS)"/>
              </a:rPr>
              <a:t>Dataset cleaning, TF-IDF, four baselines, metrics, exported model.</a:t>
            </a:r>
          </a:p>
        </p:txBody>
      </p:sp>
      <p:grpSp>
        <p:nvGrpSpPr>
          <p:cNvPr name="Group 18" id="18"/>
          <p:cNvGrpSpPr/>
          <p:nvPr/>
        </p:nvGrpSpPr>
        <p:grpSpPr>
          <a:xfrm rot="0">
            <a:off x="1365999" y="4866313"/>
            <a:ext cx="6945344" cy="1413472"/>
            <a:chOff x="0" y="0"/>
            <a:chExt cx="9260459" cy="1884629"/>
          </a:xfrm>
        </p:grpSpPr>
        <p:sp>
          <p:nvSpPr>
            <p:cNvPr name="Freeform 19" id="19"/>
            <p:cNvSpPr/>
            <p:nvPr/>
          </p:nvSpPr>
          <p:spPr>
            <a:xfrm flipH="false" flipV="false" rot="0">
              <a:off x="0" y="0"/>
              <a:ext cx="9260459" cy="1884680"/>
            </a:xfrm>
            <a:custGeom>
              <a:avLst/>
              <a:gdLst/>
              <a:ahLst/>
              <a:cxnLst/>
              <a:rect r="r" b="b" t="t" l="l"/>
              <a:pathLst>
                <a:path h="1884680" w="9260459">
                  <a:moveTo>
                    <a:pt x="0" y="110871"/>
                  </a:moveTo>
                  <a:cubicBezTo>
                    <a:pt x="0" y="49657"/>
                    <a:pt x="49657" y="0"/>
                    <a:pt x="110871" y="0"/>
                  </a:cubicBezTo>
                  <a:lnTo>
                    <a:pt x="9149588" y="0"/>
                  </a:lnTo>
                  <a:cubicBezTo>
                    <a:pt x="9210802" y="0"/>
                    <a:pt x="9260459" y="49657"/>
                    <a:pt x="9260459" y="110871"/>
                  </a:cubicBezTo>
                  <a:lnTo>
                    <a:pt x="9260459" y="1773809"/>
                  </a:lnTo>
                  <a:cubicBezTo>
                    <a:pt x="9260459" y="1835023"/>
                    <a:pt x="9210802" y="1884680"/>
                    <a:pt x="9149588" y="1884680"/>
                  </a:cubicBezTo>
                  <a:lnTo>
                    <a:pt x="110871" y="1884680"/>
                  </a:lnTo>
                  <a:cubicBezTo>
                    <a:pt x="49657" y="1884680"/>
                    <a:pt x="0" y="1835023"/>
                    <a:pt x="0" y="1773809"/>
                  </a:cubicBezTo>
                  <a:close/>
                </a:path>
              </a:pathLst>
            </a:custGeom>
            <a:solidFill>
              <a:srgbClr val="FFFFFF"/>
            </a:solidFill>
            <a:ln w="13345" cap="sq">
              <a:solidFill>
                <a:srgbClr val="D6D0C8"/>
              </a:solidFill>
              <a:prstDash val="solid"/>
              <a:miter/>
            </a:ln>
          </p:spPr>
        </p:sp>
      </p:grpSp>
      <p:sp>
        <p:nvSpPr>
          <p:cNvPr name="TextBox 20" id="20"/>
          <p:cNvSpPr txBox="true"/>
          <p:nvPr/>
        </p:nvSpPr>
        <p:spPr>
          <a:xfrm rot="0">
            <a:off x="1715843" y="5194021"/>
            <a:ext cx="2470814"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Explainability</a:t>
            </a:r>
          </a:p>
        </p:txBody>
      </p:sp>
      <p:sp>
        <p:nvSpPr>
          <p:cNvPr name="TextBox 21" id="21"/>
          <p:cNvSpPr txBox="true"/>
          <p:nvPr/>
        </p:nvSpPr>
        <p:spPr>
          <a:xfrm rot="0">
            <a:off x="4118019" y="5192906"/>
            <a:ext cx="3637578" cy="840105"/>
          </a:xfrm>
          <a:prstGeom prst="rect">
            <a:avLst/>
          </a:prstGeom>
        </p:spPr>
        <p:txBody>
          <a:bodyPr anchor="t" rtlCol="false" tIns="0" lIns="0" bIns="0" rIns="0">
            <a:spAutoFit/>
          </a:bodyPr>
          <a:lstStyle/>
          <a:p>
            <a:pPr algn="l">
              <a:lnSpc>
                <a:spcPts val="2160"/>
              </a:lnSpc>
            </a:pPr>
            <a:r>
              <a:rPr lang="en-US" sz="2000">
                <a:solidFill>
                  <a:srgbClr val="64748B"/>
                </a:solidFill>
                <a:latin typeface="Calibri (MS)"/>
                <a:ea typeface="Calibri (MS)"/>
                <a:cs typeface="Calibri (MS)"/>
                <a:sym typeface="Calibri (MS)"/>
              </a:rPr>
              <a:t>Risk score, lexical signals, highlighted terms, token contribution.</a:t>
            </a:r>
          </a:p>
        </p:txBody>
      </p:sp>
      <p:grpSp>
        <p:nvGrpSpPr>
          <p:cNvPr name="Group 22" id="22"/>
          <p:cNvGrpSpPr/>
          <p:nvPr/>
        </p:nvGrpSpPr>
        <p:grpSpPr>
          <a:xfrm rot="0">
            <a:off x="9258862" y="4866313"/>
            <a:ext cx="6945344" cy="1413472"/>
            <a:chOff x="0" y="0"/>
            <a:chExt cx="9260459" cy="1884629"/>
          </a:xfrm>
        </p:grpSpPr>
        <p:sp>
          <p:nvSpPr>
            <p:cNvPr name="Freeform 23" id="23"/>
            <p:cNvSpPr/>
            <p:nvPr/>
          </p:nvSpPr>
          <p:spPr>
            <a:xfrm flipH="false" flipV="false" rot="0">
              <a:off x="0" y="0"/>
              <a:ext cx="9260459" cy="1884680"/>
            </a:xfrm>
            <a:custGeom>
              <a:avLst/>
              <a:gdLst/>
              <a:ahLst/>
              <a:cxnLst/>
              <a:rect r="r" b="b" t="t" l="l"/>
              <a:pathLst>
                <a:path h="1884680" w="9260459">
                  <a:moveTo>
                    <a:pt x="0" y="110871"/>
                  </a:moveTo>
                  <a:cubicBezTo>
                    <a:pt x="0" y="49657"/>
                    <a:pt x="49657" y="0"/>
                    <a:pt x="110871" y="0"/>
                  </a:cubicBezTo>
                  <a:lnTo>
                    <a:pt x="9149588" y="0"/>
                  </a:lnTo>
                  <a:cubicBezTo>
                    <a:pt x="9210802" y="0"/>
                    <a:pt x="9260459" y="49657"/>
                    <a:pt x="9260459" y="110871"/>
                  </a:cubicBezTo>
                  <a:lnTo>
                    <a:pt x="9260459" y="1773809"/>
                  </a:lnTo>
                  <a:cubicBezTo>
                    <a:pt x="9260459" y="1835023"/>
                    <a:pt x="9210802" y="1884680"/>
                    <a:pt x="9149588" y="1884680"/>
                  </a:cubicBezTo>
                  <a:lnTo>
                    <a:pt x="110871" y="1884680"/>
                  </a:lnTo>
                  <a:cubicBezTo>
                    <a:pt x="49657" y="1884680"/>
                    <a:pt x="0" y="1835023"/>
                    <a:pt x="0" y="1773809"/>
                  </a:cubicBezTo>
                  <a:close/>
                </a:path>
              </a:pathLst>
            </a:custGeom>
            <a:solidFill>
              <a:srgbClr val="FFFFFF"/>
            </a:solidFill>
            <a:ln w="13345" cap="sq">
              <a:solidFill>
                <a:srgbClr val="D6D0C8"/>
              </a:solidFill>
              <a:prstDash val="solid"/>
              <a:miter/>
            </a:ln>
          </p:spPr>
        </p:sp>
      </p:grpSp>
      <p:sp>
        <p:nvSpPr>
          <p:cNvPr name="TextBox 24" id="24"/>
          <p:cNvSpPr txBox="true"/>
          <p:nvPr/>
        </p:nvSpPr>
        <p:spPr>
          <a:xfrm rot="0">
            <a:off x="9608706" y="5194021"/>
            <a:ext cx="2470814" cy="310391"/>
          </a:xfrm>
          <a:prstGeom prst="rect">
            <a:avLst/>
          </a:prstGeom>
        </p:spPr>
        <p:txBody>
          <a:bodyPr anchor="t" rtlCol="false" tIns="0" lIns="0" bIns="0" rIns="0">
            <a:spAutoFit/>
          </a:bodyPr>
          <a:lstStyle/>
          <a:p>
            <a:pPr algn="l">
              <a:lnSpc>
                <a:spcPts val="2395"/>
              </a:lnSpc>
            </a:pPr>
            <a:r>
              <a:rPr lang="en-US" sz="2101" b="true">
                <a:solidFill>
                  <a:srgbClr val="1E293B"/>
                </a:solidFill>
                <a:latin typeface="Montserrat Bold"/>
                <a:ea typeface="Montserrat Bold"/>
                <a:cs typeface="Montserrat Bold"/>
                <a:sym typeface="Montserrat Bold"/>
              </a:rPr>
              <a:t>Storage loop</a:t>
            </a:r>
          </a:p>
        </p:txBody>
      </p:sp>
      <p:sp>
        <p:nvSpPr>
          <p:cNvPr name="TextBox 25" id="25"/>
          <p:cNvSpPr txBox="true"/>
          <p:nvPr/>
        </p:nvSpPr>
        <p:spPr>
          <a:xfrm rot="0">
            <a:off x="12010882" y="5192906"/>
            <a:ext cx="3637578" cy="573405"/>
          </a:xfrm>
          <a:prstGeom prst="rect">
            <a:avLst/>
          </a:prstGeom>
        </p:spPr>
        <p:txBody>
          <a:bodyPr anchor="t" rtlCol="false" tIns="0" lIns="0" bIns="0" rIns="0">
            <a:spAutoFit/>
          </a:bodyPr>
          <a:lstStyle/>
          <a:p>
            <a:pPr algn="l">
              <a:lnSpc>
                <a:spcPts val="2160"/>
              </a:lnSpc>
            </a:pPr>
            <a:r>
              <a:rPr lang="en-US" sz="2000">
                <a:solidFill>
                  <a:srgbClr val="64748B"/>
                </a:solidFill>
                <a:latin typeface="Calibri (MS)"/>
                <a:ea typeface="Calibri (MS)"/>
                <a:cs typeface="Calibri (MS)"/>
                <a:sym typeface="Calibri (MS)"/>
              </a:rPr>
              <a:t>Supabase/PostgreSQL history and feedback collection.</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7F4EF"/>
        </a:solidFill>
      </p:bgPr>
    </p:bg>
    <p:spTree>
      <p:nvGrpSpPr>
        <p:cNvPr id="1" name=""/>
        <p:cNvGrpSpPr/>
        <p:nvPr/>
      </p:nvGrpSpPr>
      <p:grpSpPr>
        <a:xfrm>
          <a:off x="0" y="0"/>
          <a:ext cx="0" cy="0"/>
          <a:chOff x="0" y="0"/>
          <a:chExt cx="0" cy="0"/>
        </a:xfrm>
      </p:grpSpPr>
      <p:sp>
        <p:nvSpPr>
          <p:cNvPr name="TextBox 2" id="2"/>
          <p:cNvSpPr txBox="true"/>
          <p:nvPr/>
        </p:nvSpPr>
        <p:spPr>
          <a:xfrm rot="0">
            <a:off x="1597842" y="4827011"/>
            <a:ext cx="15092317" cy="747278"/>
          </a:xfrm>
          <a:prstGeom prst="rect">
            <a:avLst/>
          </a:prstGeom>
        </p:spPr>
        <p:txBody>
          <a:bodyPr anchor="t" rtlCol="false" tIns="0" lIns="0" bIns="0" rIns="0">
            <a:spAutoFit/>
          </a:bodyPr>
          <a:lstStyle/>
          <a:p>
            <a:pPr algn="ctr">
              <a:lnSpc>
                <a:spcPts val="5621"/>
              </a:lnSpc>
            </a:pPr>
            <a:r>
              <a:rPr lang="en-US" sz="5713" b="true">
                <a:solidFill>
                  <a:srgbClr val="1E293B"/>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DAHLhIFR1g8</dc:identifier>
  <dcterms:modified xsi:type="dcterms:W3CDTF">2011-08-01T06:04:30Z</dcterms:modified>
  <cp:revision>1</cp:revision>
  <dc:title>major_project_1</dc:title>
</cp:coreProperties>
</file>